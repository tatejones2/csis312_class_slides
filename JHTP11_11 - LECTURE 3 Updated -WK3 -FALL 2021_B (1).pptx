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6"/>
  </p:notesMasterIdLst>
  <p:sldIdLst>
    <p:sldId id="317" r:id="rId2"/>
    <p:sldId id="258" r:id="rId3"/>
    <p:sldId id="259" r:id="rId4"/>
    <p:sldId id="260" r:id="rId5"/>
    <p:sldId id="261" r:id="rId6"/>
    <p:sldId id="318" r:id="rId7"/>
    <p:sldId id="262" r:id="rId8"/>
    <p:sldId id="263" r:id="rId9"/>
    <p:sldId id="264" r:id="rId10"/>
    <p:sldId id="319" r:id="rId11"/>
    <p:sldId id="320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321" r:id="rId21"/>
    <p:sldId id="322" r:id="rId22"/>
    <p:sldId id="323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324" r:id="rId31"/>
    <p:sldId id="325" r:id="rId32"/>
    <p:sldId id="326" r:id="rId33"/>
    <p:sldId id="280" r:id="rId34"/>
    <p:sldId id="281" r:id="rId35"/>
    <p:sldId id="282" r:id="rId36"/>
    <p:sldId id="283" r:id="rId37"/>
    <p:sldId id="284" r:id="rId38"/>
    <p:sldId id="285" r:id="rId39"/>
    <p:sldId id="327" r:id="rId40"/>
    <p:sldId id="286" r:id="rId41"/>
    <p:sldId id="287" r:id="rId42"/>
    <p:sldId id="328" r:id="rId43"/>
    <p:sldId id="289" r:id="rId44"/>
    <p:sldId id="291" r:id="rId45"/>
    <p:sldId id="290" r:id="rId46"/>
    <p:sldId id="330" r:id="rId47"/>
    <p:sldId id="332" r:id="rId48"/>
    <p:sldId id="331" r:id="rId49"/>
    <p:sldId id="292" r:id="rId50"/>
    <p:sldId id="293" r:id="rId51"/>
    <p:sldId id="294" r:id="rId52"/>
    <p:sldId id="295" r:id="rId53"/>
    <p:sldId id="455" r:id="rId54"/>
    <p:sldId id="296" r:id="rId55"/>
    <p:sldId id="342" r:id="rId56"/>
    <p:sldId id="343" r:id="rId57"/>
    <p:sldId id="344" r:id="rId58"/>
    <p:sldId id="345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456" r:id="rId70"/>
    <p:sldId id="307" r:id="rId71"/>
    <p:sldId id="308" r:id="rId72"/>
    <p:sldId id="309" r:id="rId73"/>
    <p:sldId id="310" r:id="rId74"/>
    <p:sldId id="460" r:id="rId75"/>
    <p:sldId id="311" r:id="rId76"/>
    <p:sldId id="312" r:id="rId77"/>
    <p:sldId id="313" r:id="rId78"/>
    <p:sldId id="458" r:id="rId79"/>
    <p:sldId id="459" r:id="rId80"/>
    <p:sldId id="314" r:id="rId81"/>
    <p:sldId id="315" r:id="rId82"/>
    <p:sldId id="457" r:id="rId83"/>
    <p:sldId id="316" r:id="rId84"/>
    <p:sldId id="454" r:id="rId85"/>
  </p:sldIdLst>
  <p:sldSz cx="12192000" cy="6858000"/>
  <p:notesSz cx="6858000" cy="9144000"/>
  <p:photoAlbum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F0A42-D20D-4AD5-8397-FEB976A8F476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A1247-E79F-4BDF-A5A5-86DB09A97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4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FF600DB2-E5B4-453B-831D-C314C89A5B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5B5AC497-C108-4009-ACA5-104FF8A2EE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01914EA2-3D0B-4D86-96EF-7D6A2F2F7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E82548-2887-4033-BC67-4C1FB9562023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67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A1247-E79F-4BDF-A5A5-86DB09A97DF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74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A1247-E79F-4BDF-A5A5-86DB09A97DFF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6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ct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CF26B93A-92FF-4D3B-814D-1CD9C6B8A6D8}" type="datetime1">
              <a:rPr lang="en-US" smtClean="0"/>
              <a:t>11/10/2021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4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69031A53-40D0-4559-A4F4-A164939DA043}" type="datetime1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0" y="6408739"/>
            <a:ext cx="3488267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5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71A963D9-ECC4-4BA8-A085-FA58695213BC}" type="datetime1">
              <a:rPr lang="en-US" smtClean="0"/>
              <a:t>11/10/2021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83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D659793B-5015-4E12-B2E8-129930BACBAC}" type="datetime1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47119F19-5757-4F1C-85F9-D20424B8A5CC}" type="datetime1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95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2D423BEC-4CAE-47CB-AAB7-CD747C27C847}" type="datetime1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4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30DB96-B354-467A-ACD7-DB547B27F5E0}" type="datetime1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8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85C5A0A8-3C6B-4E3A-835D-FDC9BF0B1AC0}" type="datetime1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33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182D34C5-1618-4A05-9AF7-6C4C2E5B455B}" type="datetime1">
              <a:rPr lang="en-US" smtClean="0"/>
              <a:t>11/10/2021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38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EB13CC-E484-41BA-BB77-3027A1D61778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8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247800-8ADD-4C3E-85D3-0B1189659BFD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39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488296" y="6408739"/>
            <a:ext cx="704426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6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2E7985A9-BE29-41C8-846E-6D217187812C}" type="datetime1">
              <a:rPr lang="en-US" smtClean="0"/>
              <a:t>11/10/2021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609600" y="6408739"/>
            <a:ext cx="8365067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/>
              <a:t>© Copyright 1992-2018 by Pearson Education, Inc. All Rights Reserved.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  <a:cs typeface="Calibri" panose="020F0502020204030204" pitchFamily="34" charset="0"/>
              </a:defRPr>
            </a:lvl1pPr>
          </a:lstStyle>
          <a:p>
            <a:fld id="{1B6A55F8-30D3-4C02-ABC5-36B7586D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9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docs.oracle.com/javase/8/docs/api/java/lang/Throwable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139D-4052-4217-ABA6-4ED4DC016B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Goudy Sans Medium"/>
              </a:rPr>
              <a:t>Chapter 11</a:t>
            </a:r>
            <a:br>
              <a:rPr lang="en-US" dirty="0">
                <a:solidFill>
                  <a:srgbClr val="3380E6"/>
                </a:solidFill>
                <a:latin typeface="Goudy Sans Medium"/>
              </a:rPr>
            </a:br>
            <a:r>
              <a:rPr lang="en-US" dirty="0">
                <a:solidFill>
                  <a:srgbClr val="3380E6"/>
                </a:solidFill>
                <a:latin typeface="Goudy Sans Medium"/>
              </a:rPr>
              <a:t>Exception Handling: A Deeper Look</a:t>
            </a:r>
          </a:p>
        </p:txBody>
      </p:sp>
      <p:sp>
        <p:nvSpPr>
          <p:cNvPr id="10243" name="Subtitle 3">
            <a:extLst>
              <a:ext uri="{FF2B5EF4-FFF2-40B4-BE49-F238E27FC236}">
                <a16:creationId xmlns:a16="http://schemas.microsoft.com/office/drawing/2014/main" id="{68D28E44-A175-4596-93C8-9ED3BCEA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3611563"/>
            <a:ext cx="7772400" cy="1200150"/>
          </a:xfrm>
        </p:spPr>
        <p:txBody>
          <a:bodyPr/>
          <a:lstStyle/>
          <a:p>
            <a:r>
              <a:rPr lang="en-US" altLang="en-US" dirty="0"/>
              <a:t>Java How to Program, 11/e</a:t>
            </a:r>
          </a:p>
        </p:txBody>
      </p:sp>
    </p:spTree>
    <p:extLst>
      <p:ext uri="{BB962C8B-B14F-4D97-AF65-F5344CB8AC3E}">
        <p14:creationId xmlns:p14="http://schemas.microsoft.com/office/powerpoint/2010/main" val="312634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2">
            <a:extLst>
              <a:ext uri="{FF2B5EF4-FFF2-40B4-BE49-F238E27FC236}">
                <a16:creationId xmlns:a16="http://schemas.microsoft.com/office/drawing/2014/main" id="{199620DA-0BCC-4A6A-8472-012E4F6FDF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0"/>
            <a:ext cx="10752137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F881E-A1A3-47AC-9A68-A5D68999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5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3">
            <a:extLst>
              <a:ext uri="{FF2B5EF4-FFF2-40B4-BE49-F238E27FC236}">
                <a16:creationId xmlns:a16="http://schemas.microsoft.com/office/drawing/2014/main" id="{6E9A2DA9-3D44-40A2-AF00-ADD59E7B86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538" y="0"/>
            <a:ext cx="9432925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E5F90-78DB-4F12-ABAF-69CFD14F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449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4">
            <a:extLst>
              <a:ext uri="{FF2B5EF4-FFF2-40B4-BE49-F238E27FC236}">
                <a16:creationId xmlns:a16="http://schemas.microsoft.com/office/drawing/2014/main" id="{51B5ABC9-EED4-4883-BA2D-A899A8CC42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0"/>
            <a:ext cx="963771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555A1-F662-4F19-AAA2-C5611AAA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947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5">
            <a:extLst>
              <a:ext uri="{FF2B5EF4-FFF2-40B4-BE49-F238E27FC236}">
                <a16:creationId xmlns:a16="http://schemas.microsoft.com/office/drawing/2014/main" id="{38CA4CA8-8E29-4095-836F-193C5D4294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63" y="0"/>
            <a:ext cx="9818687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88C57-22B9-4B11-B786-58F10A55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0851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36" y="1650207"/>
            <a:ext cx="10972800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>
                <a:solidFill>
                  <a:srgbClr val="070707"/>
                </a:solidFill>
                <a:latin typeface="Palatino ET W02"/>
              </a:rPr>
              <a:t>An exception indicates a problem during a program’s execution.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solidFill>
                  <a:srgbClr val="070707"/>
                </a:solidFill>
                <a:latin typeface="Palatino ET W02"/>
              </a:rPr>
              <a:t>Exception handling enables applications to resolve (or handle) exceptions. 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solidFill>
                  <a:srgbClr val="070707"/>
                </a:solidFill>
                <a:latin typeface="Palatino ET W02"/>
              </a:rPr>
              <a:t>In some cases, a program can continue executing as if no problem had been encountered. 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solidFill>
                  <a:srgbClr val="070707"/>
                </a:solidFill>
                <a:latin typeface="Palatino ET W02"/>
              </a:rPr>
              <a:t>The features presented in this week help you write robust </a:t>
            </a:r>
            <a:r>
              <a:rPr lang="en-US" sz="2800" b="1" i="1" dirty="0">
                <a:solidFill>
                  <a:srgbClr val="070707"/>
                </a:solidFill>
                <a:latin typeface="Palatino ET W02"/>
              </a:rPr>
              <a:t>faut-tolerant</a:t>
            </a:r>
            <a:r>
              <a:rPr lang="en-US" sz="2800" dirty="0">
                <a:solidFill>
                  <a:srgbClr val="070707"/>
                </a:solidFill>
                <a:latin typeface="Palatino ET W02"/>
              </a:rPr>
              <a:t> programs that can deal with problems and continue executing or </a:t>
            </a:r>
            <a:r>
              <a:rPr lang="en-US" sz="2800" i="1" dirty="0">
                <a:solidFill>
                  <a:srgbClr val="070707"/>
                </a:solidFill>
                <a:latin typeface="Palatino ET W02"/>
              </a:rPr>
              <a:t>terminate gracefully</a:t>
            </a:r>
            <a:r>
              <a:rPr lang="en-US" sz="2800" dirty="0">
                <a:solidFill>
                  <a:srgbClr val="070707"/>
                </a:solidFill>
                <a:latin typeface="Palatino ET W02"/>
              </a:rPr>
              <a:t>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Discussion on Exception Handling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F2C2CC-127D-4715-8BDA-AA0C7546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395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6">
            <a:extLst>
              <a:ext uri="{FF2B5EF4-FFF2-40B4-BE49-F238E27FC236}">
                <a16:creationId xmlns:a16="http://schemas.microsoft.com/office/drawing/2014/main" id="{398A0488-7920-4F5A-B40C-DFEDD56B7B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0"/>
            <a:ext cx="1162685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EBA6D-7E8E-4DD1-98A2-39AB6729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4974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7">
            <a:extLst>
              <a:ext uri="{FF2B5EF4-FFF2-40B4-BE49-F238E27FC236}">
                <a16:creationId xmlns:a16="http://schemas.microsoft.com/office/drawing/2014/main" id="{89E4BB34-B42E-4E34-96B3-0306D09524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613"/>
            <a:ext cx="12192000" cy="64531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1E81A-236A-4A3D-85E0-D5676230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1039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8">
            <a:extLst>
              <a:ext uri="{FF2B5EF4-FFF2-40B4-BE49-F238E27FC236}">
                <a16:creationId xmlns:a16="http://schemas.microsoft.com/office/drawing/2014/main" id="{96D9B3D8-DB21-4CAC-A0DF-E5361DC7E1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9100"/>
            <a:ext cx="12192000" cy="60182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6BB69-6AA7-4C46-9616-E6BDBBD5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1694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26746"/>
          </a:xfrm>
        </p:spPr>
        <p:txBody>
          <a:bodyPr>
            <a:normAutofit fontScale="90000"/>
          </a:bodyPr>
          <a:lstStyle/>
          <a:p>
            <a:r>
              <a:rPr lang="en-US" dirty="0"/>
              <a:t>Further Discussion on Exception Handling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0214F-295C-4367-BEBE-A117B4967E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063" y="1274564"/>
            <a:ext cx="11130337" cy="430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First, we handle an exception that occurs when a method attempts to divide an integer by zero. </a:t>
            </a:r>
          </a:p>
          <a:p>
            <a:pPr marL="342900" indent="-342900">
              <a:spcBef>
                <a:spcPts val="120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We discuss when to use exception handling and show a portion of the exception-handling class hierarchy. </a:t>
            </a:r>
          </a:p>
          <a:p>
            <a:pPr marL="342900" indent="-342900">
              <a:spcBef>
                <a:spcPts val="120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As you’ll see, only subclasses of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500"/>
                </a:solidFill>
                <a:effectLst/>
                <a:latin typeface="Courier"/>
              </a:rPr>
              <a:t>Throwable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 can be used with exception handling. </a:t>
            </a:r>
          </a:p>
          <a:p>
            <a:pPr marL="342900" indent="-342900">
              <a:spcBef>
                <a:spcPts val="120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We introduce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500"/>
                </a:solidFill>
                <a:effectLst/>
                <a:latin typeface="Courier"/>
              </a:rPr>
              <a:t>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 statement’s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5500"/>
                </a:solidFill>
                <a:effectLst/>
                <a:latin typeface="Courier"/>
              </a:rPr>
              <a:t>finally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 block, which executes whether or not an exception occurs. </a:t>
            </a:r>
          </a:p>
          <a:p>
            <a:pPr marL="342900" indent="-342900">
              <a:spcBef>
                <a:spcPts val="120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We then show how to use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chained exceptions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 to add application-specific information to an exception and how to create your own exception types.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4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26746"/>
          </a:xfrm>
        </p:spPr>
        <p:txBody>
          <a:bodyPr>
            <a:normAutofit fontScale="90000"/>
          </a:bodyPr>
          <a:lstStyle/>
          <a:p>
            <a:r>
              <a:rPr lang="en-US" dirty="0"/>
              <a:t>Further Discussion on Exception Handling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0214F-295C-4367-BEBE-A117B4967E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063" y="1059122"/>
            <a:ext cx="11130337" cy="4739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70707"/>
                </a:solidFill>
                <a:effectLst/>
                <a:latin typeface="Palatino ET W02"/>
              </a:rPr>
              <a:t>In the below </a:t>
            </a:r>
            <a:r>
              <a:rPr lang="en-US" altLang="en-US" sz="3200" dirty="0">
                <a:solidFill>
                  <a:srgbClr val="070707"/>
                </a:solidFill>
                <a:latin typeface="Palatino ET W02"/>
              </a:rPr>
              <a:t>examples, first we demonstrate what happens when errors arise in an application that does not use exception handling. </a:t>
            </a:r>
          </a:p>
          <a:p>
            <a:pPr marL="342900" indent="-342900">
              <a:spcBef>
                <a:spcPts val="1200"/>
              </a:spcBef>
              <a:buClrTx/>
              <a:buSzTx/>
            </a:pPr>
            <a:r>
              <a:rPr lang="en-US" altLang="en-US" sz="3200" dirty="0">
                <a:solidFill>
                  <a:srgbClr val="070707"/>
                </a:solidFill>
                <a:latin typeface="Palatino ET W02"/>
              </a:rPr>
              <a:t>Example 1 prompts the user for two integers and passes them to method quotient, which calculates the integer quotient and returns an int result. </a:t>
            </a:r>
          </a:p>
          <a:p>
            <a:pPr marL="342900" indent="-342900">
              <a:spcBef>
                <a:spcPts val="1200"/>
              </a:spcBef>
              <a:buClrTx/>
              <a:buSzTx/>
            </a:pPr>
            <a:r>
              <a:rPr lang="en-US" altLang="en-US" sz="3200" dirty="0">
                <a:solidFill>
                  <a:srgbClr val="070707"/>
                </a:solidFill>
                <a:latin typeface="Palatino ET W02"/>
              </a:rPr>
              <a:t>In this example, you’ll see that exceptions are thrown (i.e., the exception occurs) by a method when it detects a problem and is unable to handle it.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072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09">
            <a:extLst>
              <a:ext uri="{FF2B5EF4-FFF2-40B4-BE49-F238E27FC236}">
                <a16:creationId xmlns:a16="http://schemas.microsoft.com/office/drawing/2014/main" id="{142B21D7-9D87-4BB8-BC6F-D622CEABE9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27D64-D567-4420-A01A-DCBAA10A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3183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0">
            <a:extLst>
              <a:ext uri="{FF2B5EF4-FFF2-40B4-BE49-F238E27FC236}">
                <a16:creationId xmlns:a16="http://schemas.microsoft.com/office/drawing/2014/main" id="{1E05D5F5-2E42-44DD-99BE-E8DCAB0B91D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588"/>
            <a:ext cx="12192000" cy="58372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84925-9C3E-48C3-BC1C-378F9D77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335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1">
            <a:extLst>
              <a:ext uri="{FF2B5EF4-FFF2-40B4-BE49-F238E27FC236}">
                <a16:creationId xmlns:a16="http://schemas.microsoft.com/office/drawing/2014/main" id="{35E09B9A-2293-40A0-9CB0-28ADFDC0069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38" y="0"/>
            <a:ext cx="11464925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A5EC7-43CE-4250-90A4-580F4AB1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31155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2">
            <a:extLst>
              <a:ext uri="{FF2B5EF4-FFF2-40B4-BE49-F238E27FC236}">
                <a16:creationId xmlns:a16="http://schemas.microsoft.com/office/drawing/2014/main" id="{4B4EBDEE-7B55-49D6-B3C3-1D4138494C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05096-88C0-45A7-A528-9866DED6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34911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3">
            <a:extLst>
              <a:ext uri="{FF2B5EF4-FFF2-40B4-BE49-F238E27FC236}">
                <a16:creationId xmlns:a16="http://schemas.microsoft.com/office/drawing/2014/main" id="{52738103-DDEC-4017-A10E-3225D448EA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AA72C-31AF-4169-B29A-E5102F24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2423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4">
            <a:extLst>
              <a:ext uri="{FF2B5EF4-FFF2-40B4-BE49-F238E27FC236}">
                <a16:creationId xmlns:a16="http://schemas.microsoft.com/office/drawing/2014/main" id="{CF77FF40-CD7B-4A5C-B14B-1187F174E33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3DAD2-C21B-4764-831B-26CBB6A4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23268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5">
            <a:extLst>
              <a:ext uri="{FF2B5EF4-FFF2-40B4-BE49-F238E27FC236}">
                <a16:creationId xmlns:a16="http://schemas.microsoft.com/office/drawing/2014/main" id="{4FA45007-767A-496E-94F8-537CD11E510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63"/>
            <a:ext cx="12192000" cy="67452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89BAB-16EB-435F-A9B2-F018B077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0708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6">
            <a:extLst>
              <a:ext uri="{FF2B5EF4-FFF2-40B4-BE49-F238E27FC236}">
                <a16:creationId xmlns:a16="http://schemas.microsoft.com/office/drawing/2014/main" id="{C8F1988C-4710-499E-A4BF-12B080C844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525"/>
            <a:ext cx="12192000" cy="48053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C85FC-7403-4192-B1D1-F6034501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65766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94" y="838708"/>
            <a:ext cx="10972800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The first sample execution in above shows a successful division.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In the second execution, the user enters the value 0 as the denominator.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Several lines of information are displayed in response to this invalid input.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This information is known as a </a:t>
            </a:r>
            <a:r>
              <a:rPr lang="en-US" sz="2600" b="1" i="1" dirty="0"/>
              <a:t>stack trace</a:t>
            </a:r>
            <a:r>
              <a:rPr lang="en-US" sz="2600" dirty="0"/>
              <a:t>, which includes the name of the exception (</a:t>
            </a:r>
            <a:r>
              <a:rPr lang="en-US" sz="2600" b="1" dirty="0" err="1"/>
              <a:t>java.lang.ArithmeticException</a:t>
            </a:r>
            <a:r>
              <a:rPr lang="en-US" sz="2600" dirty="0"/>
              <a:t>) in a descriptive message that indicates the problem and the method-call stack (i.e., the call chain) at the time the problem occurred.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The </a:t>
            </a:r>
            <a:r>
              <a:rPr lang="en-US" sz="2600" b="1" i="1" dirty="0"/>
              <a:t>stack trace </a:t>
            </a:r>
            <a:r>
              <a:rPr lang="en-US" sz="2600" dirty="0"/>
              <a:t>includes the path of execution that led to the exception method by method.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This helps you debug the program.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Even if a problem has not occurred, you can see the stack trace any time by calling </a:t>
            </a:r>
            <a:r>
              <a:rPr lang="en-US" sz="2600" b="1" i="1" dirty="0" err="1"/>
              <a:t>Thread.dumpStack</a:t>
            </a:r>
            <a:r>
              <a:rPr lang="en-US" sz="2600" b="1" i="1" dirty="0"/>
              <a:t>().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7950"/>
            <a:ext cx="10972800" cy="407193"/>
          </a:xfrm>
        </p:spPr>
        <p:txBody>
          <a:bodyPr>
            <a:normAutofit fontScale="90000"/>
          </a:bodyPr>
          <a:lstStyle/>
          <a:p>
            <a:r>
              <a:rPr lang="en-US" dirty="0"/>
              <a:t>Exception Handling : </a:t>
            </a:r>
            <a:r>
              <a:rPr lang="en-US" i="1" dirty="0">
                <a:effectLst/>
                <a:highlight>
                  <a:srgbClr val="00FF00"/>
                </a:highlight>
              </a:rPr>
              <a:t>Stack Trace</a:t>
            </a:r>
            <a:endParaRPr lang="en-US" i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4868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98" y="1166019"/>
            <a:ext cx="11414589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An uncaught exception is one for which there are no matching catch blocks.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You saw uncaught exceptions in the second and third outputs of Fig. 11.2.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Recall that when exceptions occurred in that example, the application terminated early (after displaying the exception’s stack trace).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3708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>
                <a:effectLst/>
              </a:rPr>
              <a:t>Uncaught Exceptions</a:t>
            </a:r>
          </a:p>
        </p:txBody>
      </p:sp>
    </p:spTree>
    <p:extLst>
      <p:ext uri="{BB962C8B-B14F-4D97-AF65-F5344CB8AC3E}">
        <p14:creationId xmlns:p14="http://schemas.microsoft.com/office/powerpoint/2010/main" val="4206866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71" y="567248"/>
            <a:ext cx="11659455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If an exception occurs in a try block (such as an </a:t>
            </a:r>
            <a:r>
              <a:rPr lang="en-US" sz="2600" b="1" dirty="0" err="1"/>
              <a:t>InputMismatchException</a:t>
            </a:r>
            <a:r>
              <a:rPr lang="en-US" sz="2600" b="1" dirty="0"/>
              <a:t> </a:t>
            </a:r>
            <a:r>
              <a:rPr lang="en-US" sz="2600" dirty="0"/>
              <a:t>being thrown as a result of the code at line 23 of Fig. 11.3),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The try block terminates immediately and program control transfers to the first of the following catch blocks in which the exception parameter’s type matches the thrown exception’s type.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In Fig. 11.3, the first catch block catches </a:t>
            </a:r>
            <a:r>
              <a:rPr lang="en-US" sz="2600" b="1" dirty="0" err="1"/>
              <a:t>InputMismatchExceptions</a:t>
            </a:r>
            <a:r>
              <a:rPr lang="en-US" sz="2600" dirty="0"/>
              <a:t> (which occur if invalid input is entered)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and the second catch block catches </a:t>
            </a:r>
            <a:r>
              <a:rPr lang="en-US" sz="2600" b="1" dirty="0" err="1"/>
              <a:t>ArithmeticExceptions</a:t>
            </a:r>
            <a:r>
              <a:rPr lang="en-US" sz="2600" dirty="0"/>
              <a:t> (which occur if an attempt is made to divide by zero).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After exception is handled, program control does not return to the throw point, because the </a:t>
            </a:r>
            <a:r>
              <a:rPr lang="en-US" sz="2600" b="1" i="1" dirty="0"/>
              <a:t>try</a:t>
            </a:r>
            <a:r>
              <a:rPr lang="en-US" sz="2600" dirty="0"/>
              <a:t> block has expired (and its local variables have been lost)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Rather, control resumes after the last catch block. This is known as the termination model of exception handling.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0055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Termination Model of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3610359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7">
            <a:extLst>
              <a:ext uri="{FF2B5EF4-FFF2-40B4-BE49-F238E27FC236}">
                <a16:creationId xmlns:a16="http://schemas.microsoft.com/office/drawing/2014/main" id="{32174605-23E9-472E-B1C0-527BAC7810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608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0E283-9AC1-47E8-AD20-443DB2DE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7639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8">
            <a:extLst>
              <a:ext uri="{FF2B5EF4-FFF2-40B4-BE49-F238E27FC236}">
                <a16:creationId xmlns:a16="http://schemas.microsoft.com/office/drawing/2014/main" id="{84A09CD5-D48B-446C-B33C-2BEC070239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6288"/>
            <a:ext cx="12192000" cy="276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26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19">
            <a:extLst>
              <a:ext uri="{FF2B5EF4-FFF2-40B4-BE49-F238E27FC236}">
                <a16:creationId xmlns:a16="http://schemas.microsoft.com/office/drawing/2014/main" id="{F8776B2F-3429-4B7D-ACC5-CF42563CAD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5"/>
            <a:ext cx="12192000" cy="66976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84D1A-F933-4C3A-B3E6-863B1EB7A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62280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0">
            <a:extLst>
              <a:ext uri="{FF2B5EF4-FFF2-40B4-BE49-F238E27FC236}">
                <a16:creationId xmlns:a16="http://schemas.microsoft.com/office/drawing/2014/main" id="{39DB8301-01D6-4E09-A67C-1BE949C0B3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013"/>
            <a:ext cx="12192000" cy="38639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7C364-A7D1-4538-878D-EED49CCB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7870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1">
            <a:extLst>
              <a:ext uri="{FF2B5EF4-FFF2-40B4-BE49-F238E27FC236}">
                <a16:creationId xmlns:a16="http://schemas.microsoft.com/office/drawing/2014/main" id="{BD3C4A2D-8F59-442F-A264-F75493C5FA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0788"/>
            <a:ext cx="12192000" cy="44164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97625-CC8E-42D6-B7AB-368D5D0D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3709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2">
            <a:extLst>
              <a:ext uri="{FF2B5EF4-FFF2-40B4-BE49-F238E27FC236}">
                <a16:creationId xmlns:a16="http://schemas.microsoft.com/office/drawing/2014/main" id="{D3900C1D-C498-4212-863A-880CE16F9D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2125"/>
            <a:ext cx="12192000" cy="33337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E722E-3577-4FC4-8B6C-DE9C5F87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18535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3">
            <a:extLst>
              <a:ext uri="{FF2B5EF4-FFF2-40B4-BE49-F238E27FC236}">
                <a16:creationId xmlns:a16="http://schemas.microsoft.com/office/drawing/2014/main" id="{6D0E6CDD-2D00-4ECB-A650-4E02A91CB8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7738"/>
            <a:ext cx="12192000" cy="49609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065E9-D115-46A5-9822-FF63D7EF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61371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5018"/>
            <a:ext cx="6248401" cy="619298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3200" dirty="0"/>
              <a:t>All Java exception classes inherit directly or indirectly from class </a:t>
            </a:r>
            <a:r>
              <a:rPr lang="en-US" sz="3200" b="1" i="1" dirty="0"/>
              <a:t>Exception</a:t>
            </a:r>
            <a:r>
              <a:rPr lang="en-US" sz="3200" dirty="0"/>
              <a:t>, forming an inheritance hierarchy. 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You can extend this hierarchy with your own exception classes.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Figure in next slide shows a small portion of the inheritance hierarchy for class </a:t>
            </a:r>
            <a:r>
              <a:rPr lang="en-US" sz="3200" b="1" i="1" dirty="0"/>
              <a:t>Throwable</a:t>
            </a:r>
            <a:r>
              <a:rPr lang="en-US" sz="3200" dirty="0"/>
              <a:t> (a subclass of </a:t>
            </a:r>
            <a:r>
              <a:rPr lang="en-US" sz="3200" b="1" i="1" dirty="0"/>
              <a:t>Object</a:t>
            </a:r>
            <a:r>
              <a:rPr lang="en-US" sz="3200" dirty="0"/>
              <a:t>), which is the superclass of class </a:t>
            </a:r>
            <a:r>
              <a:rPr lang="en-US" sz="3200" b="1" i="1" dirty="0"/>
              <a:t>Exception</a:t>
            </a:r>
            <a:r>
              <a:rPr lang="en-US" sz="3200" dirty="0"/>
              <a:t>.</a:t>
            </a:r>
          </a:p>
          <a:p>
            <a:pPr>
              <a:spcBef>
                <a:spcPts val="1200"/>
              </a:spcBef>
            </a:pPr>
            <a:endParaRPr lang="en-US" sz="2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>
                <a:effectLst/>
              </a:rPr>
              <a:t>Java Exception Hierarchy</a:t>
            </a:r>
          </a:p>
        </p:txBody>
      </p:sp>
      <p:pic>
        <p:nvPicPr>
          <p:cNvPr id="6" name="Picture 5" descr="jhtp_11_Exceptions_Page_24">
            <a:extLst>
              <a:ext uri="{FF2B5EF4-FFF2-40B4-BE49-F238E27FC236}">
                <a16:creationId xmlns:a16="http://schemas.microsoft.com/office/drawing/2014/main" id="{EB045388-C739-4001-B662-03E5223D8A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2" y="665018"/>
            <a:ext cx="5637088" cy="63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18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5018"/>
            <a:ext cx="7469312" cy="619298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Only </a:t>
            </a:r>
            <a:r>
              <a:rPr lang="en-US" sz="2600" b="1" i="1" dirty="0"/>
              <a:t>Throwable</a:t>
            </a:r>
            <a:r>
              <a:rPr lang="en-US" sz="2600" dirty="0"/>
              <a:t> objects can be used with the exception-handling mechanism.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Class </a:t>
            </a:r>
            <a:r>
              <a:rPr lang="en-US" sz="2600" b="1" i="1" dirty="0"/>
              <a:t>Throwable</a:t>
            </a:r>
            <a:r>
              <a:rPr lang="en-US" sz="2600" dirty="0"/>
              <a:t> has two direct subclasses:</a:t>
            </a:r>
          </a:p>
          <a:p>
            <a:pPr lvl="1">
              <a:spcBef>
                <a:spcPts val="1200"/>
              </a:spcBef>
            </a:pPr>
            <a:r>
              <a:rPr lang="en-US" sz="2200" b="1" i="1" dirty="0"/>
              <a:t>Exception</a:t>
            </a:r>
            <a:r>
              <a:rPr lang="en-US" sz="2200" dirty="0"/>
              <a:t> and </a:t>
            </a:r>
            <a:r>
              <a:rPr lang="en-US" sz="2200" b="1" i="1" dirty="0"/>
              <a:t>Error</a:t>
            </a:r>
            <a:r>
              <a:rPr lang="en-US" sz="2200" dirty="0"/>
              <a:t>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Class </a:t>
            </a:r>
            <a:r>
              <a:rPr lang="en-US" sz="2600" b="1" i="1" dirty="0"/>
              <a:t>Exception </a:t>
            </a:r>
            <a:r>
              <a:rPr lang="en-US" sz="2600" dirty="0"/>
              <a:t>and its subclasses—for example, </a:t>
            </a:r>
            <a:r>
              <a:rPr lang="en-US" sz="2600" b="1" i="1" dirty="0"/>
              <a:t>Runtime-Exception</a:t>
            </a:r>
            <a:r>
              <a:rPr lang="en-US" sz="2600" dirty="0"/>
              <a:t> (package </a:t>
            </a:r>
            <a:r>
              <a:rPr lang="en-US" sz="2600" dirty="0" err="1"/>
              <a:t>java.lang</a:t>
            </a:r>
            <a:r>
              <a:rPr lang="en-US" sz="2600" dirty="0"/>
              <a:t>) and </a:t>
            </a:r>
            <a:r>
              <a:rPr lang="en-US" sz="2600" b="1" i="1" dirty="0" err="1"/>
              <a:t>IOException</a:t>
            </a:r>
            <a:r>
              <a:rPr lang="en-US" sz="2600" dirty="0"/>
              <a:t> (package java.io)—represent exceptional situations that can occur in a Java program and that can be caught by the application.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Class Error and its subclasses represent abnormal situations that happen in the JVM.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>
                <a:effectLst/>
              </a:rPr>
              <a:t>Java Exception Hierarchy</a:t>
            </a:r>
          </a:p>
        </p:txBody>
      </p:sp>
      <p:pic>
        <p:nvPicPr>
          <p:cNvPr id="6" name="Picture 5" descr="jhtp_11_Exceptions_Page_24">
            <a:extLst>
              <a:ext uri="{FF2B5EF4-FFF2-40B4-BE49-F238E27FC236}">
                <a16:creationId xmlns:a16="http://schemas.microsoft.com/office/drawing/2014/main" id="{EB045388-C739-4001-B662-03E5223D8A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554" y="665018"/>
            <a:ext cx="4744951" cy="63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17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38" y="665018"/>
            <a:ext cx="6637106" cy="619298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The Java exception hierarchy contains hundreds of classes.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Information about Java’s exception classes can be found throughout the Java API.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You can view Throwable’s documentation at:</a:t>
            </a:r>
          </a:p>
          <a:p>
            <a:pPr>
              <a:spcBef>
                <a:spcPts val="1200"/>
              </a:spcBef>
            </a:pPr>
            <a:r>
              <a:rPr lang="en-US" sz="2600" dirty="0">
                <a:hlinkClick r:id="rId2"/>
              </a:rPr>
              <a:t>http://docs.oracle.com/javase/8/docs/api/java/lang/Throwable.html</a:t>
            </a:r>
            <a:r>
              <a:rPr lang="en-US" sz="2600" dirty="0"/>
              <a:t>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From there, you can look at this class’s subclasses to get more information about Java’s Exceptions and Errors.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>
                <a:effectLst/>
              </a:rPr>
              <a:t>Java Exception Hierarchy</a:t>
            </a:r>
          </a:p>
        </p:txBody>
      </p:sp>
      <p:pic>
        <p:nvPicPr>
          <p:cNvPr id="6" name="Picture 5" descr="jhtp_11_Exceptions_Page_24">
            <a:extLst>
              <a:ext uri="{FF2B5EF4-FFF2-40B4-BE49-F238E27FC236}">
                <a16:creationId xmlns:a16="http://schemas.microsoft.com/office/drawing/2014/main" id="{EB045388-C739-4001-B662-03E5223D8A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944" y="665018"/>
            <a:ext cx="5506948" cy="63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36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4">
            <a:extLst>
              <a:ext uri="{FF2B5EF4-FFF2-40B4-BE49-F238E27FC236}">
                <a16:creationId xmlns:a16="http://schemas.microsoft.com/office/drawing/2014/main" id="{3AEB2888-619C-4953-B1E7-892F217E44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63" y="0"/>
            <a:ext cx="9439275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954D7-116F-48BF-8DDE-9D169E52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15717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5">
            <a:extLst>
              <a:ext uri="{FF2B5EF4-FFF2-40B4-BE49-F238E27FC236}">
                <a16:creationId xmlns:a16="http://schemas.microsoft.com/office/drawing/2014/main" id="{124651FA-35FD-46A6-A355-EEFE1BC98B7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3713"/>
            <a:ext cx="12192000" cy="33289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C9590-CB7B-46F0-B83F-50C159AB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50424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6">
            <a:extLst>
              <a:ext uri="{FF2B5EF4-FFF2-40B4-BE49-F238E27FC236}">
                <a16:creationId xmlns:a16="http://schemas.microsoft.com/office/drawing/2014/main" id="{579299CB-9560-4C2D-B571-AA8851E7EB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563"/>
            <a:ext cx="12192000" cy="44608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4F32C-B908-4F79-83A4-9351B2518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27275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7">
            <a:extLst>
              <a:ext uri="{FF2B5EF4-FFF2-40B4-BE49-F238E27FC236}">
                <a16:creationId xmlns:a16="http://schemas.microsoft.com/office/drawing/2014/main" id="{7BE3FFD2-3FA8-4BC6-B95C-74BFF4DD147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7613"/>
            <a:ext cx="12192000" cy="44211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3E5DF-4464-44AD-94E1-D76F31AA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1338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8">
            <a:extLst>
              <a:ext uri="{FF2B5EF4-FFF2-40B4-BE49-F238E27FC236}">
                <a16:creationId xmlns:a16="http://schemas.microsoft.com/office/drawing/2014/main" id="{D241D8AA-0EC4-47F6-A4F6-29566B2CD6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3713"/>
            <a:ext cx="12192000" cy="33305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E4A63-D3DB-4BED-910A-4E347237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74049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29">
            <a:extLst>
              <a:ext uri="{FF2B5EF4-FFF2-40B4-BE49-F238E27FC236}">
                <a16:creationId xmlns:a16="http://schemas.microsoft.com/office/drawing/2014/main" id="{4F1C0716-020E-402E-8A38-3BB77122A81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0"/>
            <a:ext cx="1155541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2DF9D-79E3-4FE5-A4BB-C47ACEAF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5478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901324"/>
            <a:ext cx="11215955" cy="548920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/>
              <a:t>If multiple catch blocks match a particular exception type, only the first matching catch block executes when an exception of that type occurs.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It’s a compilation error to catch the exact same type in two different catch blocks associated with a particular try block.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However, there can be several catch blocks that match an exception—i.e., several catch blocks whose types are the same as the exception type or a superclass of that type. 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For example, we could follow a catch block for type </a:t>
            </a:r>
            <a:r>
              <a:rPr lang="en-US" sz="2600" b="1" i="1" dirty="0" err="1"/>
              <a:t>ArithmeticException</a:t>
            </a:r>
            <a:r>
              <a:rPr lang="en-US" sz="2600" dirty="0"/>
              <a:t> with a catch block for type </a:t>
            </a:r>
            <a:r>
              <a:rPr lang="en-US" sz="2600" b="1" i="1" dirty="0"/>
              <a:t>Exception</a:t>
            </a:r>
            <a:r>
              <a:rPr lang="en-US" sz="2600" dirty="0"/>
              <a:t>—both would match </a:t>
            </a:r>
            <a:r>
              <a:rPr lang="en-US" sz="2600" b="1" i="1" dirty="0" err="1"/>
              <a:t>ArithmeticExceptions</a:t>
            </a:r>
            <a:r>
              <a:rPr lang="en-US" sz="2600" dirty="0"/>
              <a:t>, but only the first matching catch block would execute.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151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>
                <a:effectLst/>
              </a:rPr>
              <a:t>Only the First Matching catch Executes</a:t>
            </a:r>
          </a:p>
        </p:txBody>
      </p:sp>
    </p:spTree>
    <p:extLst>
      <p:ext uri="{BB962C8B-B14F-4D97-AF65-F5344CB8AC3E}">
        <p14:creationId xmlns:p14="http://schemas.microsoft.com/office/powerpoint/2010/main" val="923151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0">
            <a:extLst>
              <a:ext uri="{FF2B5EF4-FFF2-40B4-BE49-F238E27FC236}">
                <a16:creationId xmlns:a16="http://schemas.microsoft.com/office/drawing/2014/main" id="{79F9F23B-D46A-4193-B1B2-D7AEB0210B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538"/>
            <a:ext cx="12192000" cy="38449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C2931-7273-43FE-8C11-F147844A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30640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1">
            <a:extLst>
              <a:ext uri="{FF2B5EF4-FFF2-40B4-BE49-F238E27FC236}">
                <a16:creationId xmlns:a16="http://schemas.microsoft.com/office/drawing/2014/main" id="{BB35A1A0-2430-46FC-99F5-431862D56C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163"/>
            <a:ext cx="12192000" cy="55260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2586D-1B64-452B-9F20-E69E23B3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08504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88308"/>
            <a:ext cx="11215955" cy="548920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/>
              <a:t>Programs that obtain certain resources must return them to the system to avoid so-called resource leaks.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In programming languages such as C and C++, the most common resource leak is a memory leak.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Java performs automatic garbage collection of memory no longer used by programs, thus avoiding most memory leaks.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However, other types of resource leaks can occur. 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For example, files, database connections and network connections that are not closed properly after they’re no longer needed might not be available for use in other programs.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281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The </a:t>
            </a:r>
            <a:r>
              <a:rPr lang="en-US" b="0" i="1" dirty="0">
                <a:effectLst/>
                <a:highlight>
                  <a:srgbClr val="00FF00"/>
                </a:highlight>
              </a:rPr>
              <a:t>finally</a:t>
            </a:r>
            <a:r>
              <a:rPr lang="en-US" dirty="0">
                <a:effectLst/>
              </a:rPr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3457292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3">
            <a:extLst>
              <a:ext uri="{FF2B5EF4-FFF2-40B4-BE49-F238E27FC236}">
                <a16:creationId xmlns:a16="http://schemas.microsoft.com/office/drawing/2014/main" id="{E66F2D5C-0E94-4CE7-B74A-2D85829A87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7613"/>
            <a:ext cx="12192000" cy="44211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CAA7F-F8F7-4F98-BFF5-300C7153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95152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5">
            <a:extLst>
              <a:ext uri="{FF2B5EF4-FFF2-40B4-BE49-F238E27FC236}">
                <a16:creationId xmlns:a16="http://schemas.microsoft.com/office/drawing/2014/main" id="{C36102C3-F9CC-4685-83F2-1E969F9743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5875"/>
            <a:ext cx="12192000" cy="42862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39AE1-B6E1-40CA-B94C-A96370F2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7421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4">
            <a:extLst>
              <a:ext uri="{FF2B5EF4-FFF2-40B4-BE49-F238E27FC236}">
                <a16:creationId xmlns:a16="http://schemas.microsoft.com/office/drawing/2014/main" id="{8E320E9D-A4BD-42F4-BD7A-8E34701465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5300"/>
            <a:ext cx="12192000" cy="332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B7744-9F68-4EEA-831E-54E702B26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38410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06807"/>
            <a:ext cx="10650876" cy="5489202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The optional </a:t>
            </a:r>
            <a:r>
              <a:rPr lang="en-US" sz="2800" b="1" i="1" dirty="0"/>
              <a:t>finally</a:t>
            </a:r>
            <a:r>
              <a:rPr lang="en-US" sz="2800" dirty="0"/>
              <a:t> block (sometimes referred to as the </a:t>
            </a:r>
            <a:r>
              <a:rPr lang="en-US" sz="2800" b="1" i="1" dirty="0"/>
              <a:t>finally</a:t>
            </a:r>
            <a:r>
              <a:rPr lang="en-US" sz="2800" dirty="0"/>
              <a:t> clause) consists of the </a:t>
            </a:r>
            <a:r>
              <a:rPr lang="en-US" sz="2800" b="1" i="1" dirty="0"/>
              <a:t>finally</a:t>
            </a:r>
            <a:r>
              <a:rPr lang="en-US" sz="2800" dirty="0"/>
              <a:t> keyword, followed by code enclosed in curly braces.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If it’s present, it’s placed after the last </a:t>
            </a:r>
            <a:r>
              <a:rPr lang="en-US" sz="2800" b="1" i="1" dirty="0"/>
              <a:t>catch</a:t>
            </a:r>
            <a:r>
              <a:rPr lang="en-US" sz="2800" dirty="0"/>
              <a:t> block.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/>
              <a:t>If there are no </a:t>
            </a:r>
            <a:r>
              <a:rPr lang="en-US" sz="2800" b="1" i="1" dirty="0"/>
              <a:t>catch</a:t>
            </a:r>
            <a:r>
              <a:rPr lang="en-US" sz="2800" dirty="0"/>
              <a:t> blocks, the </a:t>
            </a:r>
            <a:r>
              <a:rPr lang="en-US" sz="2800" b="1" i="1" dirty="0"/>
              <a:t>finally</a:t>
            </a:r>
            <a:r>
              <a:rPr lang="en-US" sz="2800" dirty="0"/>
              <a:t> block is required and immediately follows the </a:t>
            </a:r>
            <a:r>
              <a:rPr lang="en-US" sz="2800" b="1" i="1" dirty="0"/>
              <a:t>try </a:t>
            </a:r>
            <a:r>
              <a:rPr lang="en-US" sz="2800" dirty="0"/>
              <a:t>block.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281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The </a:t>
            </a:r>
            <a:r>
              <a:rPr lang="en-US" b="0" i="1" dirty="0">
                <a:effectLst/>
                <a:highlight>
                  <a:srgbClr val="00FF00"/>
                </a:highlight>
              </a:rPr>
              <a:t>finally</a:t>
            </a:r>
            <a:r>
              <a:rPr lang="en-US" dirty="0">
                <a:effectLst/>
              </a:rPr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8673724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4399"/>
            <a:ext cx="12483101" cy="5489202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Because a </a:t>
            </a:r>
            <a:r>
              <a:rPr lang="en-US" sz="2600" b="1" i="1" dirty="0"/>
              <a:t>finally</a:t>
            </a:r>
            <a:r>
              <a:rPr lang="en-US" sz="2600" dirty="0"/>
              <a:t> block always executes, it typically contains resource-release code.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Suppose a resource is allocated in a </a:t>
            </a:r>
            <a:r>
              <a:rPr lang="en-US" sz="2600" b="1" i="1" dirty="0"/>
              <a:t>try</a:t>
            </a:r>
            <a:r>
              <a:rPr lang="en-US" sz="2600" dirty="0"/>
              <a:t> block.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If no exception occurs, the </a:t>
            </a:r>
            <a:r>
              <a:rPr lang="en-US" sz="2600" b="1" i="1" dirty="0"/>
              <a:t>catch</a:t>
            </a:r>
            <a:r>
              <a:rPr lang="en-US" sz="2600" dirty="0"/>
              <a:t> blocks are skipped and control proceeds to the </a:t>
            </a:r>
            <a:r>
              <a:rPr lang="en-US" sz="2600" b="1" i="1" dirty="0"/>
              <a:t>finally</a:t>
            </a:r>
            <a:r>
              <a:rPr lang="en-US" sz="2600" dirty="0"/>
              <a:t> block, which frees the resource.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Control then proceeds to the first statement after the </a:t>
            </a:r>
            <a:r>
              <a:rPr lang="en-US" sz="2600" b="1" i="1" dirty="0"/>
              <a:t>finally</a:t>
            </a:r>
            <a:r>
              <a:rPr lang="en-US" sz="2600" dirty="0"/>
              <a:t> block.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If an exception occurs in the </a:t>
            </a:r>
            <a:r>
              <a:rPr lang="en-US" sz="2600" b="1" i="1" dirty="0"/>
              <a:t>try</a:t>
            </a:r>
            <a:r>
              <a:rPr lang="en-US" sz="2600" dirty="0"/>
              <a:t> block, the </a:t>
            </a:r>
            <a:r>
              <a:rPr lang="en-US" sz="2600" b="1" i="1" dirty="0"/>
              <a:t>try</a:t>
            </a:r>
            <a:r>
              <a:rPr lang="en-US" sz="2600" dirty="0"/>
              <a:t> block terminates.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If the program catches the exception in one of the corresponding </a:t>
            </a:r>
            <a:r>
              <a:rPr lang="en-US" sz="2600" b="1" i="1" dirty="0"/>
              <a:t>catch</a:t>
            </a:r>
            <a:r>
              <a:rPr lang="en-US" sz="2600" dirty="0"/>
              <a:t> blocks, it processes the exception,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then the </a:t>
            </a:r>
            <a:r>
              <a:rPr lang="en-US" sz="2600" b="1" i="1" dirty="0"/>
              <a:t>finally</a:t>
            </a:r>
            <a:r>
              <a:rPr lang="en-US" sz="2600" dirty="0"/>
              <a:t> block releases the resource and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control proceeds to the first statement after the </a:t>
            </a:r>
            <a:r>
              <a:rPr lang="en-US" sz="2600" b="1" i="1" dirty="0"/>
              <a:t>finally</a:t>
            </a:r>
            <a:r>
              <a:rPr lang="en-US" sz="2600" dirty="0"/>
              <a:t> block.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If program doesn’t catch the exception, the </a:t>
            </a:r>
            <a:r>
              <a:rPr lang="en-US" sz="2600" b="1" i="1" dirty="0"/>
              <a:t>finally </a:t>
            </a:r>
            <a:r>
              <a:rPr lang="en-US" sz="2600" dirty="0"/>
              <a:t>block still releases the resource.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281"/>
            <a:ext cx="10972800" cy="62411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Demonstrating the finally Block</a:t>
            </a:r>
          </a:p>
        </p:txBody>
      </p:sp>
    </p:spTree>
    <p:extLst>
      <p:ext uri="{BB962C8B-B14F-4D97-AF65-F5344CB8AC3E}">
        <p14:creationId xmlns:p14="http://schemas.microsoft.com/office/powerpoint/2010/main" val="268095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3D1D0D-A106-4BCA-9CF0-6DC66489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87" y="869334"/>
            <a:ext cx="12027613" cy="5489202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dirty="0"/>
              <a:t>Example below demonstrates that the finally block executes even if an exception is not thrown in the corresponding try block.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dirty="0"/>
              <a:t>The program contains static methods main (lines 5–14), </a:t>
            </a:r>
            <a:r>
              <a:rPr lang="en-US" sz="2500" b="1" i="1" dirty="0" err="1"/>
              <a:t>throwException</a:t>
            </a:r>
            <a:r>
              <a:rPr lang="en-US" sz="2500" dirty="0"/>
              <a:t> (lines 17–35) and </a:t>
            </a:r>
            <a:r>
              <a:rPr lang="en-US" sz="2500" b="1" i="1" dirty="0" err="1"/>
              <a:t>doesNotThrowException</a:t>
            </a:r>
            <a:r>
              <a:rPr lang="en-US" sz="2500" dirty="0"/>
              <a:t> (lines 38–50).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dirty="0"/>
              <a:t>Methods </a:t>
            </a:r>
            <a:r>
              <a:rPr lang="en-US" sz="2500" b="1" i="1" dirty="0" err="1"/>
              <a:t>throwException</a:t>
            </a:r>
            <a:r>
              <a:rPr lang="en-US" sz="2500" dirty="0"/>
              <a:t> and </a:t>
            </a:r>
            <a:r>
              <a:rPr lang="en-US" sz="2500" b="1" i="1" dirty="0" err="1"/>
              <a:t>doesNotThrowException</a:t>
            </a:r>
            <a:r>
              <a:rPr lang="en-US" sz="2500" dirty="0"/>
              <a:t> are declared static, so main can call them directly without instantiating a </a:t>
            </a:r>
            <a:r>
              <a:rPr lang="en-US" sz="2500" b="1" i="1" dirty="0" err="1"/>
              <a:t>UsingExceptions</a:t>
            </a:r>
            <a:r>
              <a:rPr lang="en-US" sz="2500" dirty="0"/>
              <a:t> object.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b="1" dirty="0" err="1"/>
              <a:t>System.out</a:t>
            </a:r>
            <a:r>
              <a:rPr lang="en-US" sz="2500" dirty="0"/>
              <a:t> and </a:t>
            </a:r>
            <a:r>
              <a:rPr lang="en-US" sz="2500" b="1" dirty="0" err="1"/>
              <a:t>System.err</a:t>
            </a:r>
            <a:r>
              <a:rPr lang="en-US" sz="2500" dirty="0"/>
              <a:t> are streams—sequences of bytes.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dirty="0"/>
              <a:t>While </a:t>
            </a:r>
            <a:r>
              <a:rPr lang="en-US" sz="2500" b="1" i="1" dirty="0" err="1"/>
              <a:t>System.out</a:t>
            </a:r>
            <a:r>
              <a:rPr lang="en-US" sz="2500" dirty="0"/>
              <a:t> (</a:t>
            </a:r>
            <a:r>
              <a:rPr lang="en-US" sz="2500" dirty="0" err="1"/>
              <a:t>i.e</a:t>
            </a:r>
            <a:r>
              <a:rPr lang="en-US" sz="2500" dirty="0"/>
              <a:t> standard output stream) displays a program’s output, </a:t>
            </a:r>
            <a:r>
              <a:rPr lang="en-US" sz="2500" b="1" i="1" dirty="0" err="1"/>
              <a:t>System.err</a:t>
            </a:r>
            <a:r>
              <a:rPr lang="en-US" sz="2500" b="1" i="1" dirty="0"/>
              <a:t> </a:t>
            </a:r>
            <a:r>
              <a:rPr lang="en-US" sz="2500" dirty="0"/>
              <a:t>(i.e. standard error stream) displays a program’s errors.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dirty="0"/>
              <a:t>Using two different streams enables easy separation of error messages from output.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500" dirty="0"/>
              <a:t>For example, data output from </a:t>
            </a:r>
            <a:r>
              <a:rPr lang="en-US" sz="2500" b="1" i="1" dirty="0" err="1"/>
              <a:t>System.err</a:t>
            </a:r>
            <a:r>
              <a:rPr lang="en-US" sz="2500" b="1" i="1" dirty="0"/>
              <a:t> </a:t>
            </a:r>
            <a:r>
              <a:rPr lang="en-US" sz="2500" dirty="0"/>
              <a:t>could be sent to a log file, while data output from </a:t>
            </a:r>
            <a:r>
              <a:rPr lang="en-US" sz="2500" b="1" i="1" dirty="0" err="1"/>
              <a:t>System.out</a:t>
            </a:r>
            <a:r>
              <a:rPr lang="en-US" sz="2500" b="1" i="1" dirty="0"/>
              <a:t> </a:t>
            </a:r>
            <a:r>
              <a:rPr lang="en-US" sz="2500" dirty="0"/>
              <a:t>can be displayed on the screen.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F930BC-2F94-4606-941E-BEB21FCE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281"/>
            <a:ext cx="10972800" cy="4071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Releasing Resources in a </a:t>
            </a:r>
            <a:r>
              <a:rPr lang="en-US" i="1" dirty="0">
                <a:effectLst/>
                <a:highlight>
                  <a:srgbClr val="00FF00"/>
                </a:highlight>
              </a:rPr>
              <a:t>finally</a:t>
            </a:r>
            <a:r>
              <a:rPr lang="en-US" dirty="0">
                <a:effectLst/>
              </a:rPr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3198176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6">
            <a:extLst>
              <a:ext uri="{FF2B5EF4-FFF2-40B4-BE49-F238E27FC236}">
                <a16:creationId xmlns:a16="http://schemas.microsoft.com/office/drawing/2014/main" id="{00D36B6C-122D-400D-BE60-6F4E24EB96D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D04DE-2224-4FB0-B704-30D232F2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124359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7">
            <a:extLst>
              <a:ext uri="{FF2B5EF4-FFF2-40B4-BE49-F238E27FC236}">
                <a16:creationId xmlns:a16="http://schemas.microsoft.com/office/drawing/2014/main" id="{87CD8549-CCE7-4900-9032-7158B8F52C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38CFE-7802-45F5-AB23-943A6C2FA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56842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8">
            <a:extLst>
              <a:ext uri="{FF2B5EF4-FFF2-40B4-BE49-F238E27FC236}">
                <a16:creationId xmlns:a16="http://schemas.microsoft.com/office/drawing/2014/main" id="{8931F157-5104-4825-A3F8-97C91B2BE2A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4A0A5-D73F-4719-825A-DE947221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083454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39">
            <a:extLst>
              <a:ext uri="{FF2B5EF4-FFF2-40B4-BE49-F238E27FC236}">
                <a16:creationId xmlns:a16="http://schemas.microsoft.com/office/drawing/2014/main" id="{F09EE6C9-724C-40E6-89FE-0A5A7D2B12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5100"/>
            <a:ext cx="12192000" cy="39862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42F73-5DCB-4D61-A26D-739EFEBB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018247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75BF40-B5DC-436F-AB66-BFDBC58A5E47}"/>
              </a:ext>
            </a:extLst>
          </p:cNvPr>
          <p:cNvSpPr/>
          <p:nvPr/>
        </p:nvSpPr>
        <p:spPr>
          <a:xfrm>
            <a:off x="3541160" y="212735"/>
            <a:ext cx="6096000" cy="64325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// Fig. 11.5: UsingExceptions.java</a:t>
            </a:r>
          </a:p>
          <a:p>
            <a:r>
              <a:rPr lang="en-US" sz="800" dirty="0"/>
              <a:t>// try...catch...finally exception handling mechanism.</a:t>
            </a:r>
          </a:p>
          <a:p>
            <a:endParaRPr lang="en-US" sz="800" dirty="0"/>
          </a:p>
          <a:p>
            <a:r>
              <a:rPr lang="en-US" sz="800" dirty="0"/>
              <a:t>public class </a:t>
            </a:r>
            <a:r>
              <a:rPr lang="en-US" sz="800" dirty="0" err="1"/>
              <a:t>UsingExceptions</a:t>
            </a:r>
            <a:r>
              <a:rPr lang="en-US" sz="800" dirty="0"/>
              <a:t> {</a:t>
            </a:r>
          </a:p>
          <a:p>
            <a:r>
              <a:rPr lang="en-US" sz="800" dirty="0"/>
              <a:t>   public static void main(String[] </a:t>
            </a:r>
            <a:r>
              <a:rPr lang="en-US" sz="800" dirty="0" err="1"/>
              <a:t>args</a:t>
            </a:r>
            <a:r>
              <a:rPr lang="en-US" sz="800" dirty="0"/>
              <a:t>) {</a:t>
            </a:r>
          </a:p>
          <a:p>
            <a:r>
              <a:rPr lang="en-US" sz="800" dirty="0"/>
              <a:t>      try {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throwException</a:t>
            </a:r>
            <a:r>
              <a:rPr lang="en-US" sz="800" dirty="0"/>
              <a:t>(); </a:t>
            </a:r>
          </a:p>
          <a:p>
            <a:r>
              <a:rPr lang="en-US" sz="800" dirty="0"/>
              <a:t>      } </a:t>
            </a:r>
          </a:p>
          <a:p>
            <a:r>
              <a:rPr lang="en-US" sz="800" dirty="0"/>
              <a:t>      catch (Exception exception) { // exception thrown by </a:t>
            </a:r>
            <a:r>
              <a:rPr lang="en-US" sz="800" dirty="0" err="1"/>
              <a:t>throwException</a:t>
            </a:r>
            <a:endParaRPr lang="en-US" sz="800" dirty="0"/>
          </a:p>
          <a:p>
            <a:r>
              <a:rPr lang="en-US" sz="800" dirty="0"/>
              <a:t>         </a:t>
            </a:r>
            <a:r>
              <a:rPr lang="en-US" sz="800" dirty="0" err="1"/>
              <a:t>System.err.println</a:t>
            </a:r>
            <a:r>
              <a:rPr lang="en-US" sz="800" dirty="0"/>
              <a:t>("Exception handled in main");</a:t>
            </a:r>
          </a:p>
          <a:p>
            <a:r>
              <a:rPr lang="en-US" sz="800" dirty="0"/>
              <a:t>      } </a:t>
            </a:r>
          </a:p>
          <a:p>
            <a:endParaRPr lang="en-US" sz="800" dirty="0"/>
          </a:p>
          <a:p>
            <a:r>
              <a:rPr lang="en-US" sz="800" dirty="0"/>
              <a:t>      </a:t>
            </a:r>
            <a:r>
              <a:rPr lang="en-US" sz="800" dirty="0" err="1"/>
              <a:t>doesNotThrowException</a:t>
            </a:r>
            <a:r>
              <a:rPr lang="en-US" sz="800" dirty="0"/>
              <a:t>();</a:t>
            </a:r>
          </a:p>
          <a:p>
            <a:r>
              <a:rPr lang="en-US" sz="800" dirty="0"/>
              <a:t>   }</a:t>
            </a:r>
          </a:p>
          <a:p>
            <a:endParaRPr lang="en-US" sz="800" dirty="0"/>
          </a:p>
          <a:p>
            <a:r>
              <a:rPr lang="en-US" sz="800" dirty="0"/>
              <a:t>   // demonstrate try...catch...finally</a:t>
            </a:r>
          </a:p>
          <a:p>
            <a:r>
              <a:rPr lang="en-US" sz="800" dirty="0"/>
              <a:t>   public static void </a:t>
            </a:r>
            <a:r>
              <a:rPr lang="en-US" sz="800" dirty="0" err="1"/>
              <a:t>throwException</a:t>
            </a:r>
            <a:r>
              <a:rPr lang="en-US" sz="800" dirty="0"/>
              <a:t>() throws Exception {</a:t>
            </a:r>
          </a:p>
          <a:p>
            <a:r>
              <a:rPr lang="en-US" sz="800" dirty="0"/>
              <a:t>      try { // throw an exception and immediately catch it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System.out.println</a:t>
            </a:r>
            <a:r>
              <a:rPr lang="en-US" sz="800" dirty="0"/>
              <a:t>("Method </a:t>
            </a:r>
            <a:r>
              <a:rPr lang="en-US" sz="800" dirty="0" err="1"/>
              <a:t>throwException</a:t>
            </a:r>
            <a:r>
              <a:rPr lang="en-US" sz="800" dirty="0"/>
              <a:t>");</a:t>
            </a:r>
          </a:p>
          <a:p>
            <a:r>
              <a:rPr lang="en-US" sz="800" dirty="0"/>
              <a:t>         throw new Exception(); // generate exception</a:t>
            </a:r>
          </a:p>
          <a:p>
            <a:r>
              <a:rPr lang="en-US" sz="800" dirty="0"/>
              <a:t>      } </a:t>
            </a:r>
          </a:p>
          <a:p>
            <a:r>
              <a:rPr lang="en-US" sz="800" dirty="0"/>
              <a:t>      catch (Exception exception) { // catch exception thrown in try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System.err.println</a:t>
            </a:r>
            <a:r>
              <a:rPr lang="en-US" sz="800" dirty="0"/>
              <a:t>(</a:t>
            </a:r>
          </a:p>
          <a:p>
            <a:r>
              <a:rPr lang="en-US" sz="800" dirty="0"/>
              <a:t>            "Exception handled in method </a:t>
            </a:r>
            <a:r>
              <a:rPr lang="en-US" sz="800" dirty="0" err="1"/>
              <a:t>throwException</a:t>
            </a:r>
            <a:r>
              <a:rPr lang="en-US" sz="800" dirty="0"/>
              <a:t>");</a:t>
            </a:r>
          </a:p>
          <a:p>
            <a:r>
              <a:rPr lang="en-US" sz="800" dirty="0"/>
              <a:t>         throw exception; // rethrow for further processing</a:t>
            </a:r>
          </a:p>
          <a:p>
            <a:endParaRPr lang="en-US" sz="800" dirty="0"/>
          </a:p>
          <a:p>
            <a:r>
              <a:rPr lang="en-US" sz="800" dirty="0"/>
              <a:t>         // code here would not be reached; would cause compilation errors</a:t>
            </a:r>
          </a:p>
          <a:p>
            <a:endParaRPr lang="en-US" sz="800" dirty="0"/>
          </a:p>
          <a:p>
            <a:r>
              <a:rPr lang="en-US" sz="800" dirty="0"/>
              <a:t>      } </a:t>
            </a:r>
          </a:p>
          <a:p>
            <a:r>
              <a:rPr lang="en-US" sz="800" dirty="0"/>
              <a:t>      finally { // executes regardless of what occurs in try...catch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System.err.println</a:t>
            </a:r>
            <a:r>
              <a:rPr lang="en-US" sz="800" dirty="0"/>
              <a:t>("Finally executed in </a:t>
            </a:r>
            <a:r>
              <a:rPr lang="en-US" sz="800" dirty="0" err="1"/>
              <a:t>throwException</a:t>
            </a:r>
            <a:r>
              <a:rPr lang="en-US" sz="800" dirty="0"/>
              <a:t>");  </a:t>
            </a:r>
          </a:p>
          <a:p>
            <a:r>
              <a:rPr lang="en-US" sz="800" dirty="0"/>
              <a:t>      }                                                             </a:t>
            </a:r>
          </a:p>
          <a:p>
            <a:endParaRPr lang="en-US" sz="800" dirty="0"/>
          </a:p>
          <a:p>
            <a:r>
              <a:rPr lang="en-US" sz="800" dirty="0"/>
              <a:t>      // code here would not be reached; would cause compilation errors</a:t>
            </a:r>
          </a:p>
          <a:p>
            <a:r>
              <a:rPr lang="en-US" sz="800" dirty="0"/>
              <a:t>   } </a:t>
            </a:r>
          </a:p>
          <a:p>
            <a:endParaRPr lang="en-US" sz="800" dirty="0"/>
          </a:p>
          <a:p>
            <a:r>
              <a:rPr lang="en-US" sz="800" dirty="0"/>
              <a:t>   // demonstrate finally when no exception occurs</a:t>
            </a:r>
          </a:p>
          <a:p>
            <a:r>
              <a:rPr lang="en-US" sz="800" dirty="0"/>
              <a:t>   public static void </a:t>
            </a:r>
            <a:r>
              <a:rPr lang="en-US" sz="800" dirty="0" err="1"/>
              <a:t>doesNotThrowException</a:t>
            </a:r>
            <a:r>
              <a:rPr lang="en-US" sz="800" dirty="0"/>
              <a:t>() {</a:t>
            </a:r>
          </a:p>
          <a:p>
            <a:r>
              <a:rPr lang="en-US" sz="800" dirty="0"/>
              <a:t>      try { // try block does not throw an exception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System.out.println</a:t>
            </a:r>
            <a:r>
              <a:rPr lang="en-US" sz="800" dirty="0"/>
              <a:t>("Method </a:t>
            </a:r>
            <a:r>
              <a:rPr lang="en-US" sz="800" dirty="0" err="1"/>
              <a:t>doesNotThrowException</a:t>
            </a:r>
            <a:r>
              <a:rPr lang="en-US" sz="800" dirty="0"/>
              <a:t>");</a:t>
            </a:r>
          </a:p>
          <a:p>
            <a:r>
              <a:rPr lang="en-US" sz="800" dirty="0"/>
              <a:t>      } </a:t>
            </a:r>
          </a:p>
          <a:p>
            <a:r>
              <a:rPr lang="en-US" sz="800" dirty="0"/>
              <a:t>      catch (Exception exception) { // does not execute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System.err.println</a:t>
            </a:r>
            <a:r>
              <a:rPr lang="en-US" sz="800" dirty="0"/>
              <a:t>(exception);</a:t>
            </a:r>
          </a:p>
          <a:p>
            <a:r>
              <a:rPr lang="en-US" sz="800" dirty="0"/>
              <a:t>      }</a:t>
            </a:r>
          </a:p>
          <a:p>
            <a:r>
              <a:rPr lang="en-US" sz="800" dirty="0"/>
              <a:t>      finally { // executes regardless of what occurs in try...catch     </a:t>
            </a:r>
          </a:p>
          <a:p>
            <a:r>
              <a:rPr lang="en-US" sz="800" dirty="0"/>
              <a:t>         </a:t>
            </a:r>
            <a:r>
              <a:rPr lang="en-US" sz="800" dirty="0" err="1"/>
              <a:t>System.err.println</a:t>
            </a:r>
            <a:r>
              <a:rPr lang="en-US" sz="800" dirty="0"/>
              <a:t>("Finally executed in </a:t>
            </a:r>
            <a:r>
              <a:rPr lang="en-US" sz="800" dirty="0" err="1"/>
              <a:t>doesNotThrowException</a:t>
            </a:r>
            <a:r>
              <a:rPr lang="en-US" sz="800" dirty="0"/>
              <a:t>");</a:t>
            </a:r>
          </a:p>
          <a:p>
            <a:r>
              <a:rPr lang="en-US" sz="800" dirty="0"/>
              <a:t>      }                                                                  </a:t>
            </a:r>
          </a:p>
          <a:p>
            <a:r>
              <a:rPr lang="en-US" sz="800" dirty="0"/>
              <a:t> 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System.out.println</a:t>
            </a:r>
            <a:r>
              <a:rPr lang="en-US" sz="800" dirty="0"/>
              <a:t>("End of method </a:t>
            </a:r>
            <a:r>
              <a:rPr lang="en-US" sz="800" dirty="0" err="1"/>
              <a:t>doesNotThrowException</a:t>
            </a:r>
            <a:r>
              <a:rPr lang="en-US" sz="800" dirty="0"/>
              <a:t>");</a:t>
            </a:r>
          </a:p>
          <a:p>
            <a:r>
              <a:rPr lang="en-US" sz="800" dirty="0"/>
              <a:t>   } </a:t>
            </a:r>
          </a:p>
          <a:p>
            <a:r>
              <a:rPr lang="en-US" sz="800" dirty="0"/>
              <a:t>} </a:t>
            </a:r>
          </a:p>
          <a:p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887762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0">
            <a:extLst>
              <a:ext uri="{FF2B5EF4-FFF2-40B4-BE49-F238E27FC236}">
                <a16:creationId xmlns:a16="http://schemas.microsoft.com/office/drawing/2014/main" id="{785AE854-8B9A-4442-9B13-7C1019B610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4948"/>
            <a:ext cx="12192000" cy="44546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4E890-2AAC-4DC9-8EB6-91328F6B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94763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9FA8-AC3E-42C6-8067-3F1A4A95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  Encapsulation and Information Hiding</a:t>
            </a:r>
          </a:p>
        </p:txBody>
      </p:sp>
      <p:sp>
        <p:nvSpPr>
          <p:cNvPr id="56323" name="Text Placeholder 2">
            <a:extLst>
              <a:ext uri="{FF2B5EF4-FFF2-40B4-BE49-F238E27FC236}">
                <a16:creationId xmlns:a16="http://schemas.microsoft.com/office/drawing/2014/main" id="{9C1648B4-59D0-4903-ABEA-3CF4CBAFB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Classes (and their objects) </a:t>
            </a:r>
            <a:r>
              <a:rPr lang="en-US" altLang="en-US" dirty="0">
                <a:solidFill>
                  <a:srgbClr val="0000FF"/>
                </a:solidFill>
              </a:rPr>
              <a:t>encapsulate</a:t>
            </a:r>
            <a:r>
              <a:rPr lang="en-US" altLang="en-US" dirty="0">
                <a:solidFill>
                  <a:srgbClr val="000000"/>
                </a:solidFill>
              </a:rPr>
              <a:t>, i.e., encase, their attributes and methods.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Objects may communicate with one another, but they’re normally not allowed to know how other objects are implemented—implementation details can be</a:t>
            </a:r>
            <a:r>
              <a:rPr lang="en-US" altLang="en-US" i="1" dirty="0">
                <a:solidFill>
                  <a:srgbClr val="000000"/>
                </a:solidFill>
              </a:rPr>
              <a:t> hidden </a:t>
            </a:r>
            <a:r>
              <a:rPr lang="en-US" altLang="en-US" dirty="0">
                <a:solidFill>
                  <a:srgbClr val="000000"/>
                </a:solidFill>
              </a:rPr>
              <a:t>within the objects themselves</a:t>
            </a:r>
            <a:r>
              <a:rPr lang="en-US" altLang="en-US" i="1" dirty="0">
                <a:solidFill>
                  <a:srgbClr val="000000"/>
                </a:solidFill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FF"/>
                </a:solidFill>
              </a:rPr>
              <a:t>Information hiding</a:t>
            </a:r>
            <a:r>
              <a:rPr lang="en-US" altLang="en-US" dirty="0">
                <a:solidFill>
                  <a:srgbClr val="000000"/>
                </a:solidFill>
              </a:rPr>
              <a:t>, as we’ll see, is crucial to good software engineering.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0B405-E44A-407E-916A-344CA8E8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193382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4E51-8A4E-4D86-B3F4-D7C7C498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 Inheritance</a:t>
            </a:r>
          </a:p>
        </p:txBody>
      </p:sp>
      <p:sp>
        <p:nvSpPr>
          <p:cNvPr id="57347" name="Text Placeholder 2">
            <a:extLst>
              <a:ext uri="{FF2B5EF4-FFF2-40B4-BE49-F238E27FC236}">
                <a16:creationId xmlns:a16="http://schemas.microsoft.com/office/drawing/2014/main" id="{EBD40AE8-6D22-41AC-ABFB-F4AE0AA51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A new class of objects can be created conveniently by </a:t>
            </a:r>
            <a:r>
              <a:rPr lang="en-US" altLang="en-US" dirty="0">
                <a:solidFill>
                  <a:srgbClr val="0000FF"/>
                </a:solidFill>
              </a:rPr>
              <a:t>inheritance</a:t>
            </a:r>
            <a:r>
              <a:rPr lang="en-US" altLang="en-US" dirty="0">
                <a:solidFill>
                  <a:srgbClr val="000000"/>
                </a:solidFill>
              </a:rPr>
              <a:t>—the new class (called the </a:t>
            </a:r>
            <a:r>
              <a:rPr lang="en-US" altLang="en-US" dirty="0">
                <a:solidFill>
                  <a:srgbClr val="0000FF"/>
                </a:solidFill>
              </a:rPr>
              <a:t>subclass</a:t>
            </a:r>
            <a:r>
              <a:rPr lang="en-US" altLang="en-US" dirty="0">
                <a:solidFill>
                  <a:srgbClr val="000000"/>
                </a:solidFill>
              </a:rPr>
              <a:t>) starts with the characteristics of an existing class (called the </a:t>
            </a:r>
            <a:r>
              <a:rPr lang="en-US" altLang="en-US" dirty="0">
                <a:solidFill>
                  <a:srgbClr val="0000FF"/>
                </a:solidFill>
              </a:rPr>
              <a:t>superclass</a:t>
            </a:r>
            <a:r>
              <a:rPr lang="en-US" altLang="en-US" dirty="0">
                <a:solidFill>
                  <a:srgbClr val="000000"/>
                </a:solidFill>
              </a:rPr>
              <a:t>), possibly customizing them and adding unique characteristics of its own.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In our car analogy, an object of class “convertible” certainly </a:t>
            </a:r>
            <a:r>
              <a:rPr lang="en-US" altLang="en-US" i="1" dirty="0">
                <a:solidFill>
                  <a:srgbClr val="000000"/>
                </a:solidFill>
              </a:rPr>
              <a:t>is an </a:t>
            </a:r>
            <a:r>
              <a:rPr lang="en-US" altLang="en-US" dirty="0">
                <a:solidFill>
                  <a:srgbClr val="000000"/>
                </a:solidFill>
              </a:rPr>
              <a:t>object of the more </a:t>
            </a:r>
            <a:r>
              <a:rPr lang="en-US" altLang="en-US" i="1" dirty="0">
                <a:solidFill>
                  <a:srgbClr val="000000"/>
                </a:solidFill>
              </a:rPr>
              <a:t>general</a:t>
            </a:r>
            <a:r>
              <a:rPr lang="en-US" altLang="en-US" dirty="0">
                <a:solidFill>
                  <a:srgbClr val="000000"/>
                </a:solidFill>
              </a:rPr>
              <a:t> class “automobile,” but more </a:t>
            </a:r>
            <a:r>
              <a:rPr lang="en-US" altLang="en-US" i="1" dirty="0">
                <a:solidFill>
                  <a:srgbClr val="000000"/>
                </a:solidFill>
              </a:rPr>
              <a:t>specifically</a:t>
            </a:r>
            <a:r>
              <a:rPr lang="en-US" altLang="en-US" dirty="0">
                <a:solidFill>
                  <a:srgbClr val="000000"/>
                </a:solidFill>
              </a:rPr>
              <a:t>, the roof can be raised or lowered.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54597-ABB3-474A-B679-2628AC266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1166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60E6-9EDB-4B00-81A4-8F396226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  Interfaces</a:t>
            </a:r>
          </a:p>
        </p:txBody>
      </p:sp>
      <p:sp>
        <p:nvSpPr>
          <p:cNvPr id="58371" name="Text Placeholder 2">
            <a:extLst>
              <a:ext uri="{FF2B5EF4-FFF2-40B4-BE49-F238E27FC236}">
                <a16:creationId xmlns:a16="http://schemas.microsoft.com/office/drawing/2014/main" id="{F38389A1-0682-4FC4-8224-B00BF1EC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2800" dirty="0">
                <a:solidFill>
                  <a:srgbClr val="0000FF"/>
                </a:solidFill>
              </a:rPr>
              <a:t>Interfaces</a:t>
            </a:r>
            <a:r>
              <a:rPr lang="en-US" altLang="en-US" sz="2800" dirty="0">
                <a:solidFill>
                  <a:srgbClr val="000000"/>
                </a:solidFill>
              </a:rPr>
              <a:t> are collections of related methods that typically enable you to tell objects </a:t>
            </a:r>
            <a:r>
              <a:rPr lang="en-US" altLang="en-US" sz="2800" i="1" dirty="0">
                <a:solidFill>
                  <a:srgbClr val="000000"/>
                </a:solidFill>
              </a:rPr>
              <a:t>what</a:t>
            </a:r>
            <a:r>
              <a:rPr lang="en-US" altLang="en-US" sz="2800" dirty="0">
                <a:solidFill>
                  <a:srgbClr val="000000"/>
                </a:solidFill>
              </a:rPr>
              <a:t> to do, but not </a:t>
            </a:r>
            <a:r>
              <a:rPr lang="en-US" altLang="en-US" sz="2800" i="1" dirty="0">
                <a:solidFill>
                  <a:srgbClr val="000000"/>
                </a:solidFill>
              </a:rPr>
              <a:t>how</a:t>
            </a:r>
            <a:r>
              <a:rPr lang="en-US" altLang="en-US" sz="2800" dirty="0">
                <a:solidFill>
                  <a:srgbClr val="000000"/>
                </a:solidFill>
              </a:rPr>
              <a:t> to do it. 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2800" dirty="0">
                <a:solidFill>
                  <a:srgbClr val="000000"/>
                </a:solidFill>
              </a:rPr>
              <a:t>In the car analogy, a “basic-driving-capabilities” interface consisting of a steering wheel, an accelerator pedal and a brake pedal would enable a driver to tell the car what to do. 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2800" dirty="0">
                <a:solidFill>
                  <a:srgbClr val="000000"/>
                </a:solidFill>
              </a:rPr>
              <a:t>Once you know how to use this interface for turning, accelerating and braking, you can drive many types of cars, even though manufacturers may implement these systems differently.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C7E2F-B304-4E96-B34A-C5EBD776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350465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B77E-9660-408F-B8A6-D47F878E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5400" dirty="0">
                <a:solidFill>
                  <a:srgbClr val="3380E6"/>
                </a:solidFill>
                <a:latin typeface="Calibri" panose="020F0502020204030204" pitchFamily="34" charset="0"/>
              </a:rPr>
              <a:t>  Interfaces (Cont.)</a:t>
            </a:r>
          </a:p>
        </p:txBody>
      </p:sp>
      <p:sp>
        <p:nvSpPr>
          <p:cNvPr id="59395" name="Text Placeholder 2">
            <a:extLst>
              <a:ext uri="{FF2B5EF4-FFF2-40B4-BE49-F238E27FC236}">
                <a16:creationId xmlns:a16="http://schemas.microsoft.com/office/drawing/2014/main" id="{F6F4A565-3CD8-4B47-9F5F-83943D359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200" dirty="0">
                <a:solidFill>
                  <a:srgbClr val="000000"/>
                </a:solidFill>
              </a:rPr>
              <a:t>A class </a:t>
            </a:r>
            <a:r>
              <a:rPr lang="en-US" altLang="en-US" sz="3200" dirty="0">
                <a:solidFill>
                  <a:srgbClr val="0000FF"/>
                </a:solidFill>
              </a:rPr>
              <a:t>implements</a:t>
            </a:r>
            <a:r>
              <a:rPr lang="en-US" altLang="en-US" sz="3200" dirty="0">
                <a:solidFill>
                  <a:srgbClr val="000000"/>
                </a:solidFill>
              </a:rPr>
              <a:t> zero or more interfaces, each of which can have one or more methods, just as a car implements separate interfaces for basic driving functions, controlling the radio, controlling the heating and air conditioning systems, and the like. 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3200" dirty="0">
                <a:solidFill>
                  <a:srgbClr val="000000"/>
                </a:solidFill>
              </a:rPr>
              <a:t>Just as car manufacturers implement capabilities </a:t>
            </a:r>
            <a:r>
              <a:rPr lang="en-US" altLang="en-US" sz="3200" i="1" dirty="0">
                <a:solidFill>
                  <a:srgbClr val="000000"/>
                </a:solidFill>
              </a:rPr>
              <a:t>differently</a:t>
            </a:r>
            <a:r>
              <a:rPr lang="en-US" altLang="en-US" sz="3200" dirty="0">
                <a:solidFill>
                  <a:srgbClr val="000000"/>
                </a:solidFill>
              </a:rPr>
              <a:t>, classes may implement an interface’s methods </a:t>
            </a:r>
            <a:r>
              <a:rPr lang="en-US" altLang="en-US" sz="3200" i="1" dirty="0">
                <a:solidFill>
                  <a:srgbClr val="000000"/>
                </a:solidFill>
              </a:rPr>
              <a:t>differently</a:t>
            </a:r>
            <a:r>
              <a:rPr lang="en-US" altLang="en-US" sz="3200" dirty="0">
                <a:solidFill>
                  <a:srgbClr val="00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43499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1">
            <a:extLst>
              <a:ext uri="{FF2B5EF4-FFF2-40B4-BE49-F238E27FC236}">
                <a16:creationId xmlns:a16="http://schemas.microsoft.com/office/drawing/2014/main" id="{4DB5C060-8D50-49F0-83E4-0E710CE179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2375"/>
            <a:ext cx="12192000" cy="44116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EEAB0-6C3E-4882-8D90-8B2FD3F1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867727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2">
            <a:extLst>
              <a:ext uri="{FF2B5EF4-FFF2-40B4-BE49-F238E27FC236}">
                <a16:creationId xmlns:a16="http://schemas.microsoft.com/office/drawing/2014/main" id="{19041E96-C941-4B6A-8860-F3D55D9B91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0988"/>
            <a:ext cx="12192000" cy="37544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F2004-BB4A-4FD6-8B29-97CBA5D8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207072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3">
            <a:extLst>
              <a:ext uri="{FF2B5EF4-FFF2-40B4-BE49-F238E27FC236}">
                <a16:creationId xmlns:a16="http://schemas.microsoft.com/office/drawing/2014/main" id="{948F18D7-C8C6-4A33-A8B2-58D4BDA65B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4413"/>
            <a:ext cx="12192000" cy="48291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73ABE-3804-4C09-B413-DCD2F05B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487520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4">
            <a:extLst>
              <a:ext uri="{FF2B5EF4-FFF2-40B4-BE49-F238E27FC236}">
                <a16:creationId xmlns:a16="http://schemas.microsoft.com/office/drawing/2014/main" id="{BCF7633C-010A-4992-AEBA-00FFCD1D63B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2502"/>
            <a:ext cx="12192000" cy="37703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3428F-B4E1-4724-A80A-0B86ECE1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355725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5">
            <a:extLst>
              <a:ext uri="{FF2B5EF4-FFF2-40B4-BE49-F238E27FC236}">
                <a16:creationId xmlns:a16="http://schemas.microsoft.com/office/drawing/2014/main" id="{4293BF54-0AF6-472D-A3E2-861A364CE0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9388"/>
            <a:ext cx="12192000" cy="39592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AADF9-80A1-40CC-B33F-F2C15BD8A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399680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6">
            <a:extLst>
              <a:ext uri="{FF2B5EF4-FFF2-40B4-BE49-F238E27FC236}">
                <a16:creationId xmlns:a16="http://schemas.microsoft.com/office/drawing/2014/main" id="{662966CC-8221-4B8F-93D4-995DE67814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12192000" cy="64500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CC02C-8053-4C92-B1CC-49A6DAD2B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58247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7">
            <a:extLst>
              <a:ext uri="{FF2B5EF4-FFF2-40B4-BE49-F238E27FC236}">
                <a16:creationId xmlns:a16="http://schemas.microsoft.com/office/drawing/2014/main" id="{C69154C3-B0C7-4A93-9EEB-6BCA33F814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424A8-ECC1-48FA-8248-6B238805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400169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8">
            <a:extLst>
              <a:ext uri="{FF2B5EF4-FFF2-40B4-BE49-F238E27FC236}">
                <a16:creationId xmlns:a16="http://schemas.microsoft.com/office/drawing/2014/main" id="{091B1EDC-7E19-45F7-AFD4-26A7B25E298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D381E-86E1-41A5-9B58-7CE9738E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84600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49">
            <a:extLst>
              <a:ext uri="{FF2B5EF4-FFF2-40B4-BE49-F238E27FC236}">
                <a16:creationId xmlns:a16="http://schemas.microsoft.com/office/drawing/2014/main" id="{C80E6887-C5D4-43B2-BD24-3232B8539E4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56B65-7F8B-476B-94EA-C8FCC08B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725339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0">
            <a:extLst>
              <a:ext uri="{FF2B5EF4-FFF2-40B4-BE49-F238E27FC236}">
                <a16:creationId xmlns:a16="http://schemas.microsoft.com/office/drawing/2014/main" id="{ADFBDEF8-8AE1-42B4-B3B6-1AB8F019C1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C460A-879F-4145-A1DD-A32F28FD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501210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72ECC-92FE-4881-9F4A-35C7E8A297A8}"/>
              </a:ext>
            </a:extLst>
          </p:cNvPr>
          <p:cNvSpPr/>
          <p:nvPr/>
        </p:nvSpPr>
        <p:spPr>
          <a:xfrm>
            <a:off x="3048000" y="193123"/>
            <a:ext cx="6096000" cy="68634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// Fig. 11.6: UsingExceptions.java</a:t>
            </a:r>
          </a:p>
          <a:p>
            <a:r>
              <a:rPr lang="en-US" sz="1000" dirty="0"/>
              <a:t>// Stack unwinding and obtaining data from an exception object.</a:t>
            </a:r>
          </a:p>
          <a:p>
            <a:endParaRPr lang="en-US" sz="1000" dirty="0"/>
          </a:p>
          <a:p>
            <a:r>
              <a:rPr lang="en-US" sz="1000" dirty="0"/>
              <a:t>public class </a:t>
            </a:r>
            <a:r>
              <a:rPr lang="en-US" sz="1000" dirty="0" err="1"/>
              <a:t>UsingExceptions</a:t>
            </a:r>
            <a:r>
              <a:rPr lang="en-US" sz="1000" dirty="0"/>
              <a:t> {</a:t>
            </a:r>
          </a:p>
          <a:p>
            <a:r>
              <a:rPr lang="en-US" sz="1000" dirty="0"/>
              <a:t>   public static void main(String[] </a:t>
            </a:r>
            <a:r>
              <a:rPr lang="en-US" sz="1000" dirty="0" err="1"/>
              <a:t>args</a:t>
            </a:r>
            <a:r>
              <a:rPr lang="en-US" sz="1000" dirty="0"/>
              <a:t>) {</a:t>
            </a:r>
          </a:p>
          <a:p>
            <a:r>
              <a:rPr lang="en-US" sz="1000" dirty="0"/>
              <a:t>      try {</a:t>
            </a:r>
          </a:p>
          <a:p>
            <a:r>
              <a:rPr lang="en-US" sz="1000" dirty="0"/>
              <a:t>         method1();</a:t>
            </a:r>
          </a:p>
          <a:p>
            <a:r>
              <a:rPr lang="en-US" sz="1000" dirty="0"/>
              <a:t>      } </a:t>
            </a:r>
          </a:p>
          <a:p>
            <a:r>
              <a:rPr lang="en-US" sz="1000" dirty="0"/>
              <a:t>      catch (Exception exception) { // catch exception thrown in method1</a:t>
            </a:r>
          </a:p>
          <a:p>
            <a:r>
              <a:rPr lang="en-US" sz="1000" dirty="0"/>
              <a:t>         </a:t>
            </a:r>
            <a:r>
              <a:rPr lang="en-US" sz="1000" dirty="0" err="1"/>
              <a:t>System.err.printf</a:t>
            </a:r>
            <a:r>
              <a:rPr lang="en-US" sz="1000" dirty="0"/>
              <a:t>("%</a:t>
            </a:r>
            <a:r>
              <a:rPr lang="en-US" sz="1000" dirty="0" err="1"/>
              <a:t>s%n%n</a:t>
            </a:r>
            <a:r>
              <a:rPr lang="en-US" sz="1000" dirty="0"/>
              <a:t>", </a:t>
            </a:r>
            <a:r>
              <a:rPr lang="en-US" sz="1000" dirty="0" err="1"/>
              <a:t>exception.getMessage</a:t>
            </a:r>
            <a:r>
              <a:rPr lang="en-US" sz="1000" dirty="0"/>
              <a:t>());</a:t>
            </a:r>
          </a:p>
          <a:p>
            <a:r>
              <a:rPr lang="en-US" sz="1000" dirty="0"/>
              <a:t>         </a:t>
            </a:r>
            <a:r>
              <a:rPr lang="en-US" sz="1000" dirty="0" err="1"/>
              <a:t>exception.printStackTrace</a:t>
            </a:r>
            <a:r>
              <a:rPr lang="en-US" sz="1000" dirty="0"/>
              <a:t>(); </a:t>
            </a:r>
          </a:p>
          <a:p>
            <a:endParaRPr lang="en-US" sz="1000" dirty="0"/>
          </a:p>
          <a:p>
            <a:r>
              <a:rPr lang="en-US" sz="1000" dirty="0"/>
              <a:t>         // obtain the stack-trace information</a:t>
            </a:r>
          </a:p>
          <a:p>
            <a:r>
              <a:rPr lang="en-US" sz="1000" dirty="0"/>
              <a:t>         </a:t>
            </a:r>
            <a:r>
              <a:rPr lang="en-US" sz="1000" dirty="0" err="1"/>
              <a:t>StackTraceElement</a:t>
            </a:r>
            <a:r>
              <a:rPr lang="en-US" sz="1000" dirty="0"/>
              <a:t>[] </a:t>
            </a:r>
            <a:r>
              <a:rPr lang="en-US" sz="1000" dirty="0" err="1"/>
              <a:t>traceElements</a:t>
            </a:r>
            <a:r>
              <a:rPr lang="en-US" sz="1000" dirty="0"/>
              <a:t> = </a:t>
            </a:r>
            <a:r>
              <a:rPr lang="en-US" sz="1000" dirty="0" err="1"/>
              <a:t>exception.getStackTrace</a:t>
            </a:r>
            <a:r>
              <a:rPr lang="en-US" sz="1000" dirty="0"/>
              <a:t>();</a:t>
            </a:r>
          </a:p>
          <a:p>
            <a:r>
              <a:rPr lang="en-US" sz="1000" dirty="0"/>
              <a:t>         </a:t>
            </a:r>
          </a:p>
          <a:p>
            <a:r>
              <a:rPr lang="en-US" sz="1000" dirty="0"/>
              <a:t>         </a:t>
            </a:r>
            <a:r>
              <a:rPr lang="en-US" sz="1000" dirty="0" err="1"/>
              <a:t>System.out.printf</a:t>
            </a:r>
            <a:r>
              <a:rPr lang="en-US" sz="1000" dirty="0"/>
              <a:t>("%</a:t>
            </a:r>
            <a:r>
              <a:rPr lang="en-US" sz="1000" dirty="0" err="1"/>
              <a:t>nStack</a:t>
            </a:r>
            <a:r>
              <a:rPr lang="en-US" sz="1000" dirty="0"/>
              <a:t> trace from </a:t>
            </a:r>
            <a:r>
              <a:rPr lang="en-US" sz="1000" dirty="0" err="1"/>
              <a:t>getStackTrace</a:t>
            </a:r>
            <a:r>
              <a:rPr lang="en-US" sz="1000" dirty="0"/>
              <a:t>:%n");</a:t>
            </a:r>
          </a:p>
          <a:p>
            <a:r>
              <a:rPr lang="en-US" sz="1000" dirty="0"/>
              <a:t>         </a:t>
            </a:r>
            <a:r>
              <a:rPr lang="en-US" sz="1000" dirty="0" err="1"/>
              <a:t>System.out.println</a:t>
            </a:r>
            <a:r>
              <a:rPr lang="en-US" sz="1000" dirty="0"/>
              <a:t>("Class\t\</a:t>
            </a:r>
            <a:r>
              <a:rPr lang="en-US" sz="1000" dirty="0" err="1"/>
              <a:t>tFile</a:t>
            </a:r>
            <a:r>
              <a:rPr lang="en-US" sz="1000" dirty="0"/>
              <a:t>\t\t\</a:t>
            </a:r>
            <a:r>
              <a:rPr lang="en-US" sz="1000" dirty="0" err="1"/>
              <a:t>tLine</a:t>
            </a:r>
            <a:r>
              <a:rPr lang="en-US" sz="1000" dirty="0"/>
              <a:t>\</a:t>
            </a:r>
            <a:r>
              <a:rPr lang="en-US" sz="1000" dirty="0" err="1"/>
              <a:t>tMethod</a:t>
            </a:r>
            <a:r>
              <a:rPr lang="en-US" sz="1000" dirty="0"/>
              <a:t>");</a:t>
            </a:r>
          </a:p>
          <a:p>
            <a:endParaRPr lang="en-US" sz="1000" dirty="0"/>
          </a:p>
          <a:p>
            <a:r>
              <a:rPr lang="en-US" sz="1000" dirty="0"/>
              <a:t>         // loop through </a:t>
            </a:r>
            <a:r>
              <a:rPr lang="en-US" sz="1000" dirty="0" err="1"/>
              <a:t>traceElements</a:t>
            </a:r>
            <a:r>
              <a:rPr lang="en-US" sz="1000" dirty="0"/>
              <a:t> to get exception description</a:t>
            </a:r>
          </a:p>
          <a:p>
            <a:r>
              <a:rPr lang="en-US" sz="1000" dirty="0"/>
              <a:t>         for (</a:t>
            </a:r>
            <a:r>
              <a:rPr lang="en-US" sz="1000" dirty="0" err="1"/>
              <a:t>StackTraceElement</a:t>
            </a:r>
            <a:r>
              <a:rPr lang="en-US" sz="1000" dirty="0"/>
              <a:t> element : </a:t>
            </a:r>
            <a:r>
              <a:rPr lang="en-US" sz="1000" dirty="0" err="1"/>
              <a:t>traceElements</a:t>
            </a:r>
            <a:r>
              <a:rPr lang="en-US" sz="1000" dirty="0"/>
              <a:t>) {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System.out.printf</a:t>
            </a:r>
            <a:r>
              <a:rPr lang="en-US" sz="1000" dirty="0"/>
              <a:t>("%s\t", </a:t>
            </a:r>
            <a:r>
              <a:rPr lang="en-US" sz="1000" dirty="0" err="1"/>
              <a:t>element.getClassName</a:t>
            </a:r>
            <a:r>
              <a:rPr lang="en-US" sz="1000" dirty="0"/>
              <a:t>());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System.out.printf</a:t>
            </a:r>
            <a:r>
              <a:rPr lang="en-US" sz="1000" dirty="0"/>
              <a:t>("%s\t", </a:t>
            </a:r>
            <a:r>
              <a:rPr lang="en-US" sz="1000" dirty="0" err="1"/>
              <a:t>element.getFileName</a:t>
            </a:r>
            <a:r>
              <a:rPr lang="en-US" sz="1000" dirty="0"/>
              <a:t>());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System.out.printf</a:t>
            </a:r>
            <a:r>
              <a:rPr lang="en-US" sz="1000" dirty="0"/>
              <a:t>("%s\t", </a:t>
            </a:r>
            <a:r>
              <a:rPr lang="en-US" sz="1000" dirty="0" err="1"/>
              <a:t>element.getLineNumber</a:t>
            </a:r>
            <a:r>
              <a:rPr lang="en-US" sz="1000" dirty="0"/>
              <a:t>());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System.out.printf</a:t>
            </a:r>
            <a:r>
              <a:rPr lang="en-US" sz="1000" dirty="0"/>
              <a:t>("%</a:t>
            </a:r>
            <a:r>
              <a:rPr lang="en-US" sz="1000" dirty="0" err="1"/>
              <a:t>s%n</a:t>
            </a:r>
            <a:r>
              <a:rPr lang="en-US" sz="1000" dirty="0"/>
              <a:t>", </a:t>
            </a:r>
            <a:r>
              <a:rPr lang="en-US" sz="1000" dirty="0" err="1"/>
              <a:t>element.getMethodName</a:t>
            </a:r>
            <a:r>
              <a:rPr lang="en-US" sz="1000" dirty="0"/>
              <a:t>());</a:t>
            </a:r>
          </a:p>
          <a:p>
            <a:r>
              <a:rPr lang="en-US" sz="1000" dirty="0"/>
              <a:t>         } </a:t>
            </a:r>
          </a:p>
          <a:p>
            <a:r>
              <a:rPr lang="en-US" sz="1000" dirty="0"/>
              <a:t>      }</a:t>
            </a:r>
          </a:p>
          <a:p>
            <a:r>
              <a:rPr lang="en-US" sz="1000" dirty="0"/>
              <a:t>   } </a:t>
            </a:r>
          </a:p>
          <a:p>
            <a:endParaRPr lang="en-US" sz="1000" dirty="0"/>
          </a:p>
          <a:p>
            <a:r>
              <a:rPr lang="en-US" sz="1000" dirty="0"/>
              <a:t>   // call method2; throw exceptions back to main</a:t>
            </a:r>
          </a:p>
          <a:p>
            <a:r>
              <a:rPr lang="en-US" sz="1000" dirty="0"/>
              <a:t>   public static void method1() throws Exception {</a:t>
            </a:r>
          </a:p>
          <a:p>
            <a:r>
              <a:rPr lang="en-US" sz="1000" dirty="0"/>
              <a:t>      method2();</a:t>
            </a:r>
          </a:p>
          <a:p>
            <a:r>
              <a:rPr lang="en-US" sz="1000" dirty="0"/>
              <a:t>   }</a:t>
            </a:r>
          </a:p>
          <a:p>
            <a:endParaRPr lang="en-US" sz="1000" dirty="0"/>
          </a:p>
          <a:p>
            <a:r>
              <a:rPr lang="en-US" sz="1000" dirty="0"/>
              <a:t>   // call method3; throw exceptions back to method1</a:t>
            </a:r>
          </a:p>
          <a:p>
            <a:r>
              <a:rPr lang="en-US" sz="1000" dirty="0"/>
              <a:t>   public static void method2() throws Exception {</a:t>
            </a:r>
          </a:p>
          <a:p>
            <a:r>
              <a:rPr lang="en-US" sz="1000" dirty="0"/>
              <a:t>      method3();</a:t>
            </a:r>
          </a:p>
          <a:p>
            <a:r>
              <a:rPr lang="en-US" sz="1000" dirty="0"/>
              <a:t>   } </a:t>
            </a:r>
          </a:p>
          <a:p>
            <a:endParaRPr lang="en-US" sz="1000" dirty="0"/>
          </a:p>
          <a:p>
            <a:r>
              <a:rPr lang="en-US" sz="1000" dirty="0"/>
              <a:t>   // throw Exception back to method2</a:t>
            </a:r>
          </a:p>
          <a:p>
            <a:r>
              <a:rPr lang="en-US" sz="1000" dirty="0"/>
              <a:t>   public static void method3() throws Exception {</a:t>
            </a:r>
          </a:p>
          <a:p>
            <a:r>
              <a:rPr lang="en-US" sz="1000" dirty="0"/>
              <a:t>      throw new Exception("Exception thrown in method3");</a:t>
            </a:r>
          </a:p>
          <a:p>
            <a:r>
              <a:rPr lang="en-US" sz="1000" dirty="0"/>
              <a:t>   } </a:t>
            </a:r>
          </a:p>
          <a:p>
            <a:r>
              <a:rPr lang="en-US" sz="1000" dirty="0"/>
              <a:t>} 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073113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1">
            <a:extLst>
              <a:ext uri="{FF2B5EF4-FFF2-40B4-BE49-F238E27FC236}">
                <a16:creationId xmlns:a16="http://schemas.microsoft.com/office/drawing/2014/main" id="{F92C60CC-1BF9-43A6-8DB7-2D9DD2491A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025"/>
            <a:ext cx="12192000" cy="44243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AA7DE-7827-4395-98E9-59EC3635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34598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2">
            <a:extLst>
              <a:ext uri="{FF2B5EF4-FFF2-40B4-BE49-F238E27FC236}">
                <a16:creationId xmlns:a16="http://schemas.microsoft.com/office/drawing/2014/main" id="{5CB4547A-D7B0-4498-98C4-3196EC3FF5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1FA84-F1D8-46E0-AC18-2A131AB5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50693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3">
            <a:extLst>
              <a:ext uri="{FF2B5EF4-FFF2-40B4-BE49-F238E27FC236}">
                <a16:creationId xmlns:a16="http://schemas.microsoft.com/office/drawing/2014/main" id="{E52E89E5-9426-4AE9-9F53-8817642D23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3FEC9-C828-4054-B5E7-1D637720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485115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4">
            <a:extLst>
              <a:ext uri="{FF2B5EF4-FFF2-40B4-BE49-F238E27FC236}">
                <a16:creationId xmlns:a16="http://schemas.microsoft.com/office/drawing/2014/main" id="{7BC690E4-AE3F-4F6E-82F6-D5E2EF71AE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63" y="0"/>
            <a:ext cx="11672887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62A74-3E25-49F2-AE5B-C5C45B9F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42772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EAC1B8-8A17-40AA-BC55-2F7F78169094}"/>
              </a:ext>
            </a:extLst>
          </p:cNvPr>
          <p:cNvSpPr/>
          <p:nvPr/>
        </p:nvSpPr>
        <p:spPr>
          <a:xfrm>
            <a:off x="3387047" y="381393"/>
            <a:ext cx="6096000" cy="63421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Fig. 11.7: UsingChainedExceptions.java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Chained exceptions.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UsingChainedExceptions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static void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main(String[] </a:t>
            </a:r>
            <a:r>
              <a:rPr lang="en-US" sz="1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) 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try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   method1()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 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catch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(Exception exception) { </a:t>
            </a: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exceptions thrown from method1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en-US" sz="1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exception.printStackTrace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call method2; throw exceptions back to main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static void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method1()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throws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 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try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   method2()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 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catch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(Exception exception) { </a:t>
            </a: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exception thrown from method2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throw new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Exception(</a:t>
            </a:r>
            <a:r>
              <a:rPr lang="en-US" sz="1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"Exception thrown in method1"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}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call method3; throw exceptions back to method1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static void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method2()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throws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 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try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   method3()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catch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(Exception exception) { </a:t>
            </a: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exception thrown from method3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throw new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Exception(</a:t>
            </a:r>
            <a:r>
              <a:rPr lang="en-US" sz="1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"Exception thrown in method2"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throw Exception back to method2</a:t>
            </a:r>
            <a:b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static void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method3()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throws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 {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throw new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Exception(</a:t>
            </a:r>
            <a:r>
              <a:rPr lang="en-US" sz="1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"Exception thrown in method3"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b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1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144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5">
            <a:extLst>
              <a:ext uri="{FF2B5EF4-FFF2-40B4-BE49-F238E27FC236}">
                <a16:creationId xmlns:a16="http://schemas.microsoft.com/office/drawing/2014/main" id="{CC09386F-AA13-4992-99CA-4643CB45DE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2125"/>
            <a:ext cx="12192000" cy="33337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81A78-F836-472A-86B5-1A6DA758C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56184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6">
            <a:extLst>
              <a:ext uri="{FF2B5EF4-FFF2-40B4-BE49-F238E27FC236}">
                <a16:creationId xmlns:a16="http://schemas.microsoft.com/office/drawing/2014/main" id="{5BD591B3-25B0-43CA-B551-C38149E6C03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1FE2A-91DA-4523-BA0B-60231A3E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51182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7">
            <a:extLst>
              <a:ext uri="{FF2B5EF4-FFF2-40B4-BE49-F238E27FC236}">
                <a16:creationId xmlns:a16="http://schemas.microsoft.com/office/drawing/2014/main" id="{853800E0-D856-4A98-8847-321BD51D467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6925"/>
            <a:ext cx="12192000" cy="27225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8BBE4-59A8-4F79-B4C2-1C238ADE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299706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B77E-9660-408F-B8A6-D47F878E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5400" dirty="0">
                <a:solidFill>
                  <a:srgbClr val="3380E6"/>
                </a:solidFill>
                <a:latin typeface="Calibri" panose="020F0502020204030204" pitchFamily="34" charset="0"/>
              </a:rPr>
              <a:t>  Assertion Statement</a:t>
            </a:r>
          </a:p>
        </p:txBody>
      </p:sp>
      <p:sp>
        <p:nvSpPr>
          <p:cNvPr id="59395" name="Text Placeholder 2">
            <a:extLst>
              <a:ext uri="{FF2B5EF4-FFF2-40B4-BE49-F238E27FC236}">
                <a16:creationId xmlns:a16="http://schemas.microsoft.com/office/drawing/2014/main" id="{F6F4A565-3CD8-4B47-9F5F-83943D359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An assertion is a statement in Java which ensures the correctness of any assumptions which have been done in the program. </a:t>
            </a:r>
          </a:p>
          <a:p>
            <a:pPr>
              <a:spcBef>
                <a:spcPts val="1200"/>
              </a:spcBef>
            </a:pPr>
            <a:r>
              <a:rPr lang="en-US" dirty="0"/>
              <a:t>When an assertion is executed, it is assumed to be true. </a:t>
            </a:r>
          </a:p>
          <a:p>
            <a:pPr>
              <a:spcBef>
                <a:spcPts val="1200"/>
              </a:spcBef>
            </a:pPr>
            <a:r>
              <a:rPr lang="en-US" dirty="0"/>
              <a:t>If the assertion is false, the JVM will throw an Assertion error. </a:t>
            </a:r>
          </a:p>
          <a:p>
            <a:pPr>
              <a:spcBef>
                <a:spcPts val="1200"/>
              </a:spcBef>
            </a:pPr>
            <a:r>
              <a:rPr lang="en-US" dirty="0"/>
              <a:t>It finds it application primarily in the testing purposes. </a:t>
            </a:r>
          </a:p>
          <a:p>
            <a:pPr>
              <a:spcBef>
                <a:spcPts val="1200"/>
              </a:spcBef>
            </a:pPr>
            <a:r>
              <a:rPr lang="en-US" dirty="0"/>
              <a:t>Assertion statements are used along with </a:t>
            </a:r>
            <a:r>
              <a:rPr lang="en-US" dirty="0" err="1"/>
              <a:t>boolean</a:t>
            </a:r>
            <a:r>
              <a:rPr lang="en-US" dirty="0"/>
              <a:t> expressions.</a:t>
            </a:r>
          </a:p>
          <a:p>
            <a:pPr>
              <a:spcBef>
                <a:spcPts val="1200"/>
              </a:spcBef>
            </a:pPr>
            <a:r>
              <a:rPr lang="en-US" dirty="0"/>
              <a:t>Assertions in Java can be done with the help of the </a:t>
            </a:r>
            <a:r>
              <a:rPr lang="en-US" b="1" dirty="0">
                <a:highlight>
                  <a:srgbClr val="00FF00"/>
                </a:highlight>
              </a:rPr>
              <a:t>assert </a:t>
            </a:r>
            <a:r>
              <a:rPr lang="en-US" dirty="0"/>
              <a:t>keyword. 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920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B77E-9660-408F-B8A6-D47F878EE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05506"/>
            <a:ext cx="109728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5400" dirty="0">
                <a:solidFill>
                  <a:srgbClr val="3380E6"/>
                </a:solidFill>
                <a:latin typeface="Calibri" panose="020F0502020204030204" pitchFamily="34" charset="0"/>
              </a:rPr>
              <a:t>  Assertion Statement</a:t>
            </a:r>
          </a:p>
        </p:txBody>
      </p:sp>
      <p:sp>
        <p:nvSpPr>
          <p:cNvPr id="59395" name="Text Placeholder 2">
            <a:extLst>
              <a:ext uri="{FF2B5EF4-FFF2-40B4-BE49-F238E27FC236}">
                <a16:creationId xmlns:a16="http://schemas.microsoft.com/office/drawing/2014/main" id="{F6F4A565-3CD8-4B47-9F5F-83943D359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627393"/>
            <a:ext cx="10972800" cy="452596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There are two ways in which an assert statement can be used.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First Way −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solidFill>
                  <a:srgbClr val="000000"/>
                </a:solidFill>
              </a:rPr>
              <a:t>Second Way −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DC3E77-87E7-40F3-A855-180AF590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0519" y="1697789"/>
            <a:ext cx="3361498" cy="52958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assert expression;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A47738-2257-4926-8597-76A56C813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356" y="2915748"/>
            <a:ext cx="3985065" cy="40647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assert expression1 : expression2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5B3AF-7E8A-4F9E-81DF-5BDAD842FA40}"/>
              </a:ext>
            </a:extLst>
          </p:cNvPr>
          <p:cNvSpPr/>
          <p:nvPr/>
        </p:nvSpPr>
        <p:spPr>
          <a:xfrm>
            <a:off x="2655066" y="3546799"/>
            <a:ext cx="876942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class Test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static void main( String </a:t>
            </a:r>
            <a:r>
              <a:rPr lang="en-US" dirty="0" err="1"/>
              <a:t>args</a:t>
            </a:r>
            <a:r>
              <a:rPr lang="en-US" dirty="0"/>
              <a:t>[] 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int value = 15;</a:t>
            </a:r>
          </a:p>
          <a:p>
            <a:r>
              <a:rPr lang="en-US" dirty="0"/>
              <a:t>        assert value &gt;= 20 : " Underweight";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("value is "+value);</a:t>
            </a:r>
          </a:p>
          <a:p>
            <a:r>
              <a:rPr lang="en-US" dirty="0"/>
              <a:t>    } }</a:t>
            </a:r>
          </a:p>
        </p:txBody>
      </p:sp>
    </p:spTree>
    <p:extLst>
      <p:ext uri="{BB962C8B-B14F-4D97-AF65-F5344CB8AC3E}">
        <p14:creationId xmlns:p14="http://schemas.microsoft.com/office/powerpoint/2010/main" val="618944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8">
            <a:extLst>
              <a:ext uri="{FF2B5EF4-FFF2-40B4-BE49-F238E27FC236}">
                <a16:creationId xmlns:a16="http://schemas.microsoft.com/office/drawing/2014/main" id="{08340F33-CD15-4417-B34C-1CB0BD260CC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34C4C-11B3-47B2-90DC-1B71B082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854675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59">
            <a:extLst>
              <a:ext uri="{FF2B5EF4-FFF2-40B4-BE49-F238E27FC236}">
                <a16:creationId xmlns:a16="http://schemas.microsoft.com/office/drawing/2014/main" id="{AE6F2FC5-F34D-4F2E-B682-4175387859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1113"/>
            <a:ext cx="12192000" cy="42941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661E1-C12F-4070-87F1-25CB5893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602424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CE80CB-89CB-4F8D-BF1F-E9E81044E609}"/>
              </a:ext>
            </a:extLst>
          </p:cNvPr>
          <p:cNvSpPr/>
          <p:nvPr/>
        </p:nvSpPr>
        <p:spPr>
          <a:xfrm>
            <a:off x="3048000" y="390418"/>
            <a:ext cx="6096000" cy="586506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Fig. 11.8: AssertTest.java</a:t>
            </a:r>
            <a:b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Checking with assert that a value is within range</a:t>
            </a:r>
            <a:b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java.util.Scanner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class </a:t>
            </a:r>
            <a:r>
              <a:rPr lang="en-US" sz="2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AssertTest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  <a:b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public static void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main(String[] </a:t>
            </a:r>
            <a:r>
              <a:rPr lang="en-US" sz="2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) {</a:t>
            </a:r>
            <a:b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Scanner input = 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new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Scanner(System.in)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System.out.print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"Enter a number between 0 and 10: "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int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number = </a:t>
            </a:r>
            <a:r>
              <a:rPr lang="en-US" sz="2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input.nextInt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// assert that the value is &gt;= 0 and &lt;= 10</a:t>
            </a:r>
            <a:b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808080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assert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(number &gt;= </a:t>
            </a:r>
            <a:r>
              <a:rPr lang="en-US" sz="2000" dirty="0">
                <a:solidFill>
                  <a:srgbClr val="6897BB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0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&amp;&amp; number &lt;= </a:t>
            </a:r>
            <a:r>
              <a:rPr lang="en-US" sz="2000" dirty="0">
                <a:solidFill>
                  <a:srgbClr val="6897BB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) : </a:t>
            </a:r>
            <a:r>
              <a:rPr lang="en-US" sz="2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"bad number: "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+ number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System.out.printf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"You entered %</a:t>
            </a:r>
            <a:r>
              <a:rPr lang="en-US" sz="2000" dirty="0" err="1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d%n</a:t>
            </a:r>
            <a:r>
              <a:rPr lang="en-US" sz="2000" dirty="0">
                <a:solidFill>
                  <a:srgbClr val="6A8759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number)</a:t>
            </a: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srgbClr val="CC7832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000" dirty="0">
                <a:solidFill>
                  <a:srgbClr val="A9B7C6"/>
                </a:solidFill>
                <a:latin typeface="JetBrains Mono"/>
                <a:ea typeface="Times New Roman" panose="02020603050405020304" pitchFamily="18" charset="0"/>
                <a:cs typeface="Courier New" panose="02070309020205020404" pitchFamily="49" charset="0"/>
              </a:rPr>
              <a:t>} } 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694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htp_11_Exceptions_Page_60">
            <a:extLst>
              <a:ext uri="{FF2B5EF4-FFF2-40B4-BE49-F238E27FC236}">
                <a16:creationId xmlns:a16="http://schemas.microsoft.com/office/drawing/2014/main" id="{B8045C47-E570-48EA-80DE-FCD80BCC881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25"/>
            <a:ext cx="12192000" cy="65325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6F818-811A-45E6-972B-92B52C64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1992-2018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21966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0BE4-D36A-4B97-8F9C-49C66AE5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EXTRAL SLIDES FOR HARD WORKING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CA28B-4263-4FE3-973D-8D548C6D5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600" dirty="0">
                <a:highlight>
                  <a:srgbClr val="FFFF00"/>
                </a:highlight>
              </a:rPr>
              <a:t>EXTRAL SLIDES FOR HARD WORKING STUDENTS</a:t>
            </a:r>
          </a:p>
        </p:txBody>
      </p:sp>
    </p:spTree>
    <p:extLst>
      <p:ext uri="{BB962C8B-B14F-4D97-AF65-F5344CB8AC3E}">
        <p14:creationId xmlns:p14="http://schemas.microsoft.com/office/powerpoint/2010/main" val="53237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JHTP11_08</Template>
  <TotalTime>9679</TotalTime>
  <Words>3678</Words>
  <Application>Microsoft Office PowerPoint</Application>
  <PresentationFormat>Widescreen</PresentationFormat>
  <Paragraphs>285</Paragraphs>
  <Slides>84</Slides>
  <Notes>3</Notes>
  <HiddenSlides>8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8" baseType="lpstr">
      <vt:lpstr>Arial</vt:lpstr>
      <vt:lpstr>Calibri</vt:lpstr>
      <vt:lpstr>Cambria</vt:lpstr>
      <vt:lpstr>Courier</vt:lpstr>
      <vt:lpstr>Courier New</vt:lpstr>
      <vt:lpstr>Goudy Sans Medium</vt:lpstr>
      <vt:lpstr>JetBrains Mono</vt:lpstr>
      <vt:lpstr>Lucida Sans Unicode</vt:lpstr>
      <vt:lpstr>Palatino ET W02</vt:lpstr>
      <vt:lpstr>Verdana</vt:lpstr>
      <vt:lpstr>Wingdings</vt:lpstr>
      <vt:lpstr>Wingdings 2</vt:lpstr>
      <vt:lpstr>Wingdings 3</vt:lpstr>
      <vt:lpstr>Concourse</vt:lpstr>
      <vt:lpstr>Chapter 11 Exception Handling: A Deeper Look</vt:lpstr>
      <vt:lpstr>PowerPoint Presentation</vt:lpstr>
      <vt:lpstr>PowerPoint Presentation</vt:lpstr>
      <vt:lpstr>PowerPoint Presentation</vt:lpstr>
      <vt:lpstr>PowerPoint Presentation</vt:lpstr>
      <vt:lpstr>Further Discussion on Exception Handling </vt:lpstr>
      <vt:lpstr>PowerPoint Presentation</vt:lpstr>
      <vt:lpstr>PowerPoint Presentation</vt:lpstr>
      <vt:lpstr>PowerPoint Presentation</vt:lpstr>
      <vt:lpstr>Further Discussion on Exception Handling Cont.</vt:lpstr>
      <vt:lpstr>Further Discussion on Exception Handling Cont.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Exception Handling : Stack Trace</vt:lpstr>
      <vt:lpstr>Uncaught Exceptions</vt:lpstr>
      <vt:lpstr>Termination Model of Exception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 Exception Hierarchy</vt:lpstr>
      <vt:lpstr>Java Exception Hierarchy</vt:lpstr>
      <vt:lpstr>Java Exception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Only the First Matching catch Executes</vt:lpstr>
      <vt:lpstr>PowerPoint Presentation</vt:lpstr>
      <vt:lpstr>PowerPoint Presentation</vt:lpstr>
      <vt:lpstr>The finally Block</vt:lpstr>
      <vt:lpstr>PowerPoint Presentation</vt:lpstr>
      <vt:lpstr>PowerPoint Presentation</vt:lpstr>
      <vt:lpstr>PowerPoint Presentation</vt:lpstr>
      <vt:lpstr>The finally Block</vt:lpstr>
      <vt:lpstr>Demonstrating the finally Block</vt:lpstr>
      <vt:lpstr>Releasing Resources in a finally Block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 Encapsulation and Information Hiding</vt:lpstr>
      <vt:lpstr> Inheritance</vt:lpstr>
      <vt:lpstr>  Interfaces</vt:lpstr>
      <vt:lpstr>  Interfaces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 Assertion Statement</vt:lpstr>
      <vt:lpstr>  Assertion Statement</vt:lpstr>
      <vt:lpstr>PowerPoint Presentation</vt:lpstr>
      <vt:lpstr>PowerPoint Presentation</vt:lpstr>
      <vt:lpstr>PowerPoint Presentation</vt:lpstr>
      <vt:lpstr>PowerPoint Presentation</vt:lpstr>
      <vt:lpstr>EXTRAL SLIDES FOR HARD WORKING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Exception Handling: A Deeper Look</dc:title>
  <dc:creator>Paul Deitel</dc:creator>
  <cp:lastModifiedBy>Oderanti, Festus Oluseyi (Computational Sciences)</cp:lastModifiedBy>
  <cp:revision>59</cp:revision>
  <dcterms:created xsi:type="dcterms:W3CDTF">2017-07-15T15:42:51Z</dcterms:created>
  <dcterms:modified xsi:type="dcterms:W3CDTF">2021-11-12T20:55:42Z</dcterms:modified>
</cp:coreProperties>
</file>