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Lst>
  <p:notesMasterIdLst>
    <p:notesMasterId r:id="rId104"/>
  </p:notesMasterIdLst>
  <p:sldIdLst>
    <p:sldId id="325" r:id="rId3"/>
    <p:sldId id="258" r:id="rId4"/>
    <p:sldId id="259" r:id="rId5"/>
    <p:sldId id="326" r:id="rId6"/>
    <p:sldId id="327" r:id="rId7"/>
    <p:sldId id="328" r:id="rId8"/>
    <p:sldId id="368" r:id="rId9"/>
    <p:sldId id="329" r:id="rId10"/>
    <p:sldId id="330" r:id="rId11"/>
    <p:sldId id="264" r:id="rId12"/>
    <p:sldId id="372" r:id="rId13"/>
    <p:sldId id="374" r:id="rId14"/>
    <p:sldId id="331" r:id="rId15"/>
    <p:sldId id="266" r:id="rId16"/>
    <p:sldId id="332" r:id="rId17"/>
    <p:sldId id="268" r:id="rId18"/>
    <p:sldId id="333" r:id="rId19"/>
    <p:sldId id="334" r:id="rId20"/>
    <p:sldId id="335" r:id="rId21"/>
    <p:sldId id="336" r:id="rId22"/>
    <p:sldId id="377" r:id="rId23"/>
    <p:sldId id="378" r:id="rId24"/>
    <p:sldId id="369" r:id="rId25"/>
    <p:sldId id="642" r:id="rId26"/>
    <p:sldId id="376" r:id="rId27"/>
    <p:sldId id="269" r:id="rId28"/>
    <p:sldId id="270" r:id="rId29"/>
    <p:sldId id="337" r:id="rId30"/>
    <p:sldId id="338" r:id="rId31"/>
    <p:sldId id="375" r:id="rId32"/>
    <p:sldId id="271" r:id="rId33"/>
    <p:sldId id="272" r:id="rId34"/>
    <p:sldId id="273" r:id="rId35"/>
    <p:sldId id="274" r:id="rId36"/>
    <p:sldId id="275" r:id="rId37"/>
    <p:sldId id="339" r:id="rId38"/>
    <p:sldId id="340" r:id="rId39"/>
    <p:sldId id="634" r:id="rId40"/>
    <p:sldId id="635" r:id="rId41"/>
    <p:sldId id="341" r:id="rId42"/>
    <p:sldId id="370" r:id="rId43"/>
    <p:sldId id="371" r:id="rId44"/>
    <p:sldId id="633" r:id="rId45"/>
    <p:sldId id="277" r:id="rId46"/>
    <p:sldId id="278" r:id="rId47"/>
    <p:sldId id="279" r:id="rId48"/>
    <p:sldId id="563" r:id="rId49"/>
    <p:sldId id="631" r:id="rId50"/>
    <p:sldId id="342" r:id="rId51"/>
    <p:sldId id="280" r:id="rId52"/>
    <p:sldId id="281" r:id="rId53"/>
    <p:sldId id="282" r:id="rId54"/>
    <p:sldId id="283" r:id="rId55"/>
    <p:sldId id="284" r:id="rId56"/>
    <p:sldId id="285" r:id="rId57"/>
    <p:sldId id="286" r:id="rId58"/>
    <p:sldId id="343" r:id="rId59"/>
    <p:sldId id="287" r:id="rId60"/>
    <p:sldId id="288" r:id="rId61"/>
    <p:sldId id="289" r:id="rId62"/>
    <p:sldId id="344" r:id="rId63"/>
    <p:sldId id="345" r:id="rId64"/>
    <p:sldId id="290" r:id="rId65"/>
    <p:sldId id="346" r:id="rId66"/>
    <p:sldId id="291" r:id="rId67"/>
    <p:sldId id="292" r:id="rId68"/>
    <p:sldId id="293" r:id="rId69"/>
    <p:sldId id="294" r:id="rId70"/>
    <p:sldId id="295" r:id="rId71"/>
    <p:sldId id="296" r:id="rId72"/>
    <p:sldId id="297" r:id="rId73"/>
    <p:sldId id="347" r:id="rId74"/>
    <p:sldId id="348" r:id="rId75"/>
    <p:sldId id="349" r:id="rId76"/>
    <p:sldId id="350" r:id="rId77"/>
    <p:sldId id="299" r:id="rId78"/>
    <p:sldId id="300" r:id="rId79"/>
    <p:sldId id="301" r:id="rId80"/>
    <p:sldId id="351" r:id="rId81"/>
    <p:sldId id="352" r:id="rId82"/>
    <p:sldId id="359" r:id="rId83"/>
    <p:sldId id="315" r:id="rId84"/>
    <p:sldId id="360" r:id="rId85"/>
    <p:sldId id="316" r:id="rId86"/>
    <p:sldId id="317" r:id="rId87"/>
    <p:sldId id="318" r:id="rId88"/>
    <p:sldId id="319" r:id="rId89"/>
    <p:sldId id="632" r:id="rId90"/>
    <p:sldId id="361" r:id="rId91"/>
    <p:sldId id="320" r:id="rId92"/>
    <p:sldId id="454" r:id="rId93"/>
    <p:sldId id="362" r:id="rId94"/>
    <p:sldId id="363" r:id="rId95"/>
    <p:sldId id="321" r:id="rId96"/>
    <p:sldId id="364" r:id="rId97"/>
    <p:sldId id="366" r:id="rId98"/>
    <p:sldId id="365" r:id="rId99"/>
    <p:sldId id="322" r:id="rId100"/>
    <p:sldId id="323" r:id="rId101"/>
    <p:sldId id="324" r:id="rId102"/>
    <p:sldId id="367" r:id="rId103"/>
  </p:sldIdLst>
  <p:sldSz cx="12192000" cy="6858000"/>
  <p:notesSz cx="6858000" cy="9144000"/>
  <p:photoAlbum/>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5AA578-5FBE-4715-A5F2-E09232492CC0}" v="5" dt="2025-01-27T03:34:21.7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310" autoAdjust="0"/>
    <p:restoredTop sz="73295" autoAdjust="0"/>
  </p:normalViewPr>
  <p:slideViewPr>
    <p:cSldViewPr snapToGrid="0">
      <p:cViewPr varScale="1">
        <p:scale>
          <a:sx n="46" d="100"/>
          <a:sy n="46" d="100"/>
        </p:scale>
        <p:origin x="89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07" Type="http://schemas.openxmlformats.org/officeDocument/2006/relationships/theme" Target="theme/theme1.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tableStyles" Target="tableStyle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microsoft.com/office/2016/11/relationships/changesInfo" Target="changesInfos/changesInfo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microsoft.com/office/2015/10/relationships/revisionInfo" Target="revisionInfo.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deranti, Festus Oluseyi (Computational Sciences)" userId="559a3653-a41f-4a5e-b0aa-dafa2ac45b97" providerId="ADAL" clId="{9E5AA578-5FBE-4715-A5F2-E09232492CC0}"/>
    <pc:docChg chg="custSel modSld">
      <pc:chgData name="Oderanti, Festus Oluseyi (Computational Sciences)" userId="559a3653-a41f-4a5e-b0aa-dafa2ac45b97" providerId="ADAL" clId="{9E5AA578-5FBE-4715-A5F2-E09232492CC0}" dt="2025-01-29T07:34:41.029" v="23" actId="1076"/>
      <pc:docMkLst>
        <pc:docMk/>
      </pc:docMkLst>
      <pc:sldChg chg="modSp mod">
        <pc:chgData name="Oderanti, Festus Oluseyi (Computational Sciences)" userId="559a3653-a41f-4a5e-b0aa-dafa2ac45b97" providerId="ADAL" clId="{9E5AA578-5FBE-4715-A5F2-E09232492CC0}" dt="2025-01-29T07:34:41.029" v="23" actId="1076"/>
        <pc:sldMkLst>
          <pc:docMk/>
          <pc:sldMk cId="3309879217" sldId="275"/>
        </pc:sldMkLst>
        <pc:picChg chg="mod">
          <ac:chgData name="Oderanti, Festus Oluseyi (Computational Sciences)" userId="559a3653-a41f-4a5e-b0aa-dafa2ac45b97" providerId="ADAL" clId="{9E5AA578-5FBE-4715-A5F2-E09232492CC0}" dt="2025-01-29T07:34:41.029" v="23" actId="1076"/>
          <ac:picMkLst>
            <pc:docMk/>
            <pc:sldMk cId="3309879217" sldId="275"/>
            <ac:picMk id="3" creationId="{E02B939E-A65F-4CB3-B8F9-B4DB104DC54E}"/>
          </ac:picMkLst>
        </pc:picChg>
      </pc:sldChg>
      <pc:sldChg chg="mod modShow">
        <pc:chgData name="Oderanti, Festus Oluseyi (Computational Sciences)" userId="559a3653-a41f-4a5e-b0aa-dafa2ac45b97" providerId="ADAL" clId="{9E5AA578-5FBE-4715-A5F2-E09232492CC0}" dt="2025-01-27T03:15:40.424" v="0" actId="729"/>
        <pc:sldMkLst>
          <pc:docMk/>
          <pc:sldMk cId="1930295435" sldId="333"/>
        </pc:sldMkLst>
      </pc:sldChg>
      <pc:sldChg chg="modSp mod">
        <pc:chgData name="Oderanti, Festus Oluseyi (Computational Sciences)" userId="559a3653-a41f-4a5e-b0aa-dafa2ac45b97" providerId="ADAL" clId="{9E5AA578-5FBE-4715-A5F2-E09232492CC0}" dt="2025-01-27T03:33:12.057" v="6" actId="13926"/>
        <pc:sldMkLst>
          <pc:docMk/>
          <pc:sldMk cId="431181205" sldId="335"/>
        </pc:sldMkLst>
        <pc:spChg chg="mod">
          <ac:chgData name="Oderanti, Festus Oluseyi (Computational Sciences)" userId="559a3653-a41f-4a5e-b0aa-dafa2ac45b97" providerId="ADAL" clId="{9E5AA578-5FBE-4715-A5F2-E09232492CC0}" dt="2025-01-27T03:33:12.057" v="6" actId="13926"/>
          <ac:spMkLst>
            <pc:docMk/>
            <pc:sldMk cId="431181205" sldId="335"/>
            <ac:spMk id="25603" creationId="{20AC9849-1F25-4CB7-AC0A-5199C3109DAE}"/>
          </ac:spMkLst>
        </pc:spChg>
      </pc:sldChg>
      <pc:sldChg chg="delSp modSp mod">
        <pc:chgData name="Oderanti, Festus Oluseyi (Computational Sciences)" userId="559a3653-a41f-4a5e-b0aa-dafa2ac45b97" providerId="ADAL" clId="{9E5AA578-5FBE-4715-A5F2-E09232492CC0}" dt="2025-01-27T03:35:32.027" v="22" actId="13926"/>
        <pc:sldMkLst>
          <pc:docMk/>
          <pc:sldMk cId="938701740" sldId="336"/>
        </pc:sldMkLst>
        <pc:spChg chg="del">
          <ac:chgData name="Oderanti, Festus Oluseyi (Computational Sciences)" userId="559a3653-a41f-4a5e-b0aa-dafa2ac45b97" providerId="ADAL" clId="{9E5AA578-5FBE-4715-A5F2-E09232492CC0}" dt="2025-01-27T03:33:47.333" v="7" actId="478"/>
          <ac:spMkLst>
            <pc:docMk/>
            <pc:sldMk cId="938701740" sldId="336"/>
            <ac:spMk id="4" creationId="{3E32FD1E-CC89-4129-8A1B-468C71280483}"/>
          </ac:spMkLst>
        </pc:spChg>
        <pc:spChg chg="mod">
          <ac:chgData name="Oderanti, Festus Oluseyi (Computational Sciences)" userId="559a3653-a41f-4a5e-b0aa-dafa2ac45b97" providerId="ADAL" clId="{9E5AA578-5FBE-4715-A5F2-E09232492CC0}" dt="2025-01-27T03:35:32.027" v="22" actId="13926"/>
          <ac:spMkLst>
            <pc:docMk/>
            <pc:sldMk cId="938701740" sldId="336"/>
            <ac:spMk id="26627" creationId="{34152C8B-2E10-41A0-A322-1AA968F32545}"/>
          </ac:spMkLst>
        </pc:spChg>
      </pc:sldChg>
    </pc:docChg>
  </pc:docChgLst>
  <pc:docChgLst>
    <pc:chgData name="Oderanti, Festus Oluseyi (Computational Sciences)" userId="559a3653-a41f-4a5e-b0aa-dafa2ac45b97" providerId="ADAL" clId="{DABCC5E1-54AF-45B7-9805-B25764C65D4E}"/>
    <pc:docChg chg="custSel modSld">
      <pc:chgData name="Oderanti, Festus Oluseyi (Computational Sciences)" userId="559a3653-a41f-4a5e-b0aa-dafa2ac45b97" providerId="ADAL" clId="{DABCC5E1-54AF-45B7-9805-B25764C65D4E}" dt="2024-11-04T20:13:35.115" v="23" actId="1076"/>
      <pc:docMkLst>
        <pc:docMk/>
      </pc:docMkLst>
      <pc:sldChg chg="addSp modSp mod">
        <pc:chgData name="Oderanti, Festus Oluseyi (Computational Sciences)" userId="559a3653-a41f-4a5e-b0aa-dafa2ac45b97" providerId="ADAL" clId="{DABCC5E1-54AF-45B7-9805-B25764C65D4E}" dt="2024-11-04T20:11:42.120" v="6" actId="167"/>
        <pc:sldMkLst>
          <pc:docMk/>
          <pc:sldMk cId="1164462572" sldId="327"/>
        </pc:sldMkLst>
        <pc:spChg chg="mod">
          <ac:chgData name="Oderanti, Festus Oluseyi (Computational Sciences)" userId="559a3653-a41f-4a5e-b0aa-dafa2ac45b97" providerId="ADAL" clId="{DABCC5E1-54AF-45B7-9805-B25764C65D4E}" dt="2024-11-04T20:11:28.906" v="4" actId="14100"/>
          <ac:spMkLst>
            <pc:docMk/>
            <pc:sldMk cId="1164462572" sldId="327"/>
            <ac:spMk id="14339" creationId="{25E5B571-0FD1-4191-89B2-318D5C49EEB5}"/>
          </ac:spMkLst>
        </pc:spChg>
        <pc:picChg chg="add mod ord">
          <ac:chgData name="Oderanti, Festus Oluseyi (Computational Sciences)" userId="559a3653-a41f-4a5e-b0aa-dafa2ac45b97" providerId="ADAL" clId="{DABCC5E1-54AF-45B7-9805-B25764C65D4E}" dt="2024-11-04T20:11:42.120" v="6" actId="167"/>
          <ac:picMkLst>
            <pc:docMk/>
            <pc:sldMk cId="1164462572" sldId="327"/>
            <ac:picMk id="3" creationId="{86215C0C-1FE5-4445-8A24-8D049DBB5EED}"/>
          </ac:picMkLst>
        </pc:picChg>
      </pc:sldChg>
      <pc:sldChg chg="addSp modSp mod">
        <pc:chgData name="Oderanti, Festus Oluseyi (Computational Sciences)" userId="559a3653-a41f-4a5e-b0aa-dafa2ac45b97" providerId="ADAL" clId="{DABCC5E1-54AF-45B7-9805-B25764C65D4E}" dt="2024-11-04T20:12:29.544" v="11" actId="14100"/>
        <pc:sldMkLst>
          <pc:docMk/>
          <pc:sldMk cId="3842039170" sldId="329"/>
        </pc:sldMkLst>
        <pc:spChg chg="mod">
          <ac:chgData name="Oderanti, Festus Oluseyi (Computational Sciences)" userId="559a3653-a41f-4a5e-b0aa-dafa2ac45b97" providerId="ADAL" clId="{DABCC5E1-54AF-45B7-9805-B25764C65D4E}" dt="2024-11-04T20:12:08.884" v="8" actId="14100"/>
          <ac:spMkLst>
            <pc:docMk/>
            <pc:sldMk cId="3842039170" sldId="329"/>
            <ac:spMk id="16387" creationId="{D56E1F7A-6B59-44D7-9AEF-54FE3D5D9F18}"/>
          </ac:spMkLst>
        </pc:spChg>
        <pc:picChg chg="add mod ord">
          <ac:chgData name="Oderanti, Festus Oluseyi (Computational Sciences)" userId="559a3653-a41f-4a5e-b0aa-dafa2ac45b97" providerId="ADAL" clId="{DABCC5E1-54AF-45B7-9805-B25764C65D4E}" dt="2024-11-04T20:12:29.544" v="11" actId="14100"/>
          <ac:picMkLst>
            <pc:docMk/>
            <pc:sldMk cId="3842039170" sldId="329"/>
            <ac:picMk id="3" creationId="{8EF31EFC-8BBB-2E36-1421-B27CBA31DB03}"/>
          </ac:picMkLst>
        </pc:picChg>
      </pc:sldChg>
      <pc:sldChg chg="addSp modSp mod">
        <pc:chgData name="Oderanti, Festus Oluseyi (Computational Sciences)" userId="559a3653-a41f-4a5e-b0aa-dafa2ac45b97" providerId="ADAL" clId="{DABCC5E1-54AF-45B7-9805-B25764C65D4E}" dt="2024-11-04T20:13:35.115" v="23" actId="1076"/>
        <pc:sldMkLst>
          <pc:docMk/>
          <pc:sldMk cId="1364016115" sldId="330"/>
        </pc:sldMkLst>
        <pc:spChg chg="mod">
          <ac:chgData name="Oderanti, Festus Oluseyi (Computational Sciences)" userId="559a3653-a41f-4a5e-b0aa-dafa2ac45b97" providerId="ADAL" clId="{DABCC5E1-54AF-45B7-9805-B25764C65D4E}" dt="2024-11-04T20:12:48.376" v="15" actId="27636"/>
          <ac:spMkLst>
            <pc:docMk/>
            <pc:sldMk cId="1364016115" sldId="330"/>
            <ac:spMk id="2" creationId="{EBE0A233-1117-4FD5-8371-C9AB7E54B1BD}"/>
          </ac:spMkLst>
        </pc:spChg>
        <pc:spChg chg="mod">
          <ac:chgData name="Oderanti, Festus Oluseyi (Computational Sciences)" userId="559a3653-a41f-4a5e-b0aa-dafa2ac45b97" providerId="ADAL" clId="{DABCC5E1-54AF-45B7-9805-B25764C65D4E}" dt="2024-11-04T20:13:35.115" v="23" actId="1076"/>
          <ac:spMkLst>
            <pc:docMk/>
            <pc:sldMk cId="1364016115" sldId="330"/>
            <ac:spMk id="17411" creationId="{9D06F187-8B55-4755-96C0-161CEC677682}"/>
          </ac:spMkLst>
        </pc:spChg>
        <pc:picChg chg="add mod ord">
          <ac:chgData name="Oderanti, Festus Oluseyi (Computational Sciences)" userId="559a3653-a41f-4a5e-b0aa-dafa2ac45b97" providerId="ADAL" clId="{DABCC5E1-54AF-45B7-9805-B25764C65D4E}" dt="2024-11-04T20:13:28.832" v="22" actId="14100"/>
          <ac:picMkLst>
            <pc:docMk/>
            <pc:sldMk cId="1364016115" sldId="330"/>
            <ac:picMk id="3" creationId="{999FDCAF-53E5-1ED0-2F5F-41945795F499}"/>
          </ac:picMkLst>
        </pc:picChg>
      </pc:sldChg>
    </pc:docChg>
  </pc:docChgLst>
  <pc:docChgLst>
    <pc:chgData name="Oderanti, Festus Oluseyi (Computational Sciences)" userId="559a3653-a41f-4a5e-b0aa-dafa2ac45b97" providerId="ADAL" clId="{BAFF43A9-9CBE-45D7-8775-4AEFD807671F}"/>
    <pc:docChg chg="modSld">
      <pc:chgData name="Oderanti, Festus Oluseyi (Computational Sciences)" userId="559a3653-a41f-4a5e-b0aa-dafa2ac45b97" providerId="ADAL" clId="{BAFF43A9-9CBE-45D7-8775-4AEFD807671F}" dt="2024-04-15T16:30:12.287" v="1" actId="1036"/>
      <pc:docMkLst>
        <pc:docMk/>
      </pc:docMkLst>
      <pc:sldChg chg="mod modShow">
        <pc:chgData name="Oderanti, Festus Oluseyi (Computational Sciences)" userId="559a3653-a41f-4a5e-b0aa-dafa2ac45b97" providerId="ADAL" clId="{BAFF43A9-9CBE-45D7-8775-4AEFD807671F}" dt="2024-04-12T04:11:22.117" v="0" actId="729"/>
        <pc:sldMkLst>
          <pc:docMk/>
          <pc:sldMk cId="2046577054" sldId="374"/>
        </pc:sldMkLst>
      </pc:sldChg>
      <pc:sldChg chg="modSp mod">
        <pc:chgData name="Oderanti, Festus Oluseyi (Computational Sciences)" userId="559a3653-a41f-4a5e-b0aa-dafa2ac45b97" providerId="ADAL" clId="{BAFF43A9-9CBE-45D7-8775-4AEFD807671F}" dt="2024-04-15T16:30:12.287" v="1" actId="1036"/>
        <pc:sldMkLst>
          <pc:docMk/>
          <pc:sldMk cId="222249317" sldId="635"/>
        </pc:sldMkLst>
        <pc:picChg chg="mod">
          <ac:chgData name="Oderanti, Festus Oluseyi (Computational Sciences)" userId="559a3653-a41f-4a5e-b0aa-dafa2ac45b97" providerId="ADAL" clId="{BAFF43A9-9CBE-45D7-8775-4AEFD807671F}" dt="2024-04-15T16:30:12.287" v="1" actId="1036"/>
          <ac:picMkLst>
            <pc:docMk/>
            <pc:sldMk cId="222249317" sldId="635"/>
            <ac:picMk id="3" creationId="{1DFA551D-72DE-464F-8CEE-29C88726691F}"/>
          </ac:picMkLst>
        </pc:picChg>
      </pc:sldChg>
    </pc:docChg>
  </pc:docChgLst>
  <pc:docChgLst>
    <pc:chgData name="Oderanti, Festus Oluseyi (Computational Sciences)" userId="559a3653-a41f-4a5e-b0aa-dafa2ac45b97" providerId="ADAL" clId="{33468068-C6EB-495C-B108-209BCB653126}"/>
    <pc:docChg chg="undo custSel addSld modSld">
      <pc:chgData name="Oderanti, Festus Oluseyi (Computational Sciences)" userId="559a3653-a41f-4a5e-b0aa-dafa2ac45b97" providerId="ADAL" clId="{33468068-C6EB-495C-B108-209BCB653126}" dt="2024-09-02T04:31:58.606" v="34" actId="1076"/>
      <pc:docMkLst>
        <pc:docMk/>
      </pc:docMkLst>
      <pc:sldChg chg="modSp mod">
        <pc:chgData name="Oderanti, Festus Oluseyi (Computational Sciences)" userId="559a3653-a41f-4a5e-b0aa-dafa2ac45b97" providerId="ADAL" clId="{33468068-C6EB-495C-B108-209BCB653126}" dt="2024-09-02T04:31:58.606" v="34" actId="1076"/>
        <pc:sldMkLst>
          <pc:docMk/>
          <pc:sldMk cId="3820151479" sldId="346"/>
        </pc:sldMkLst>
        <pc:spChg chg="mod">
          <ac:chgData name="Oderanti, Festus Oluseyi (Computational Sciences)" userId="559a3653-a41f-4a5e-b0aa-dafa2ac45b97" providerId="ADAL" clId="{33468068-C6EB-495C-B108-209BCB653126}" dt="2024-09-02T04:31:58.606" v="34" actId="1076"/>
          <ac:spMkLst>
            <pc:docMk/>
            <pc:sldMk cId="3820151479" sldId="346"/>
            <ac:spMk id="58371" creationId="{766FF202-9E3A-472E-B5AE-1EDFC1A8DAF2}"/>
          </ac:spMkLst>
        </pc:spChg>
      </pc:sldChg>
      <pc:sldChg chg="modSp mod">
        <pc:chgData name="Oderanti, Festus Oluseyi (Computational Sciences)" userId="559a3653-a41f-4a5e-b0aa-dafa2ac45b97" providerId="ADAL" clId="{33468068-C6EB-495C-B108-209BCB653126}" dt="2024-08-30T15:58:52.895" v="9" actId="13926"/>
        <pc:sldMkLst>
          <pc:docMk/>
          <pc:sldMk cId="1682887413" sldId="369"/>
        </pc:sldMkLst>
        <pc:spChg chg="mod">
          <ac:chgData name="Oderanti, Festus Oluseyi (Computational Sciences)" userId="559a3653-a41f-4a5e-b0aa-dafa2ac45b97" providerId="ADAL" clId="{33468068-C6EB-495C-B108-209BCB653126}" dt="2024-08-30T15:58:52.895" v="9" actId="13926"/>
          <ac:spMkLst>
            <pc:docMk/>
            <pc:sldMk cId="1682887413" sldId="369"/>
            <ac:spMk id="3" creationId="{2E1CB69E-BAC8-4CCD-8E02-8F2EFBE62E22}"/>
          </ac:spMkLst>
        </pc:spChg>
      </pc:sldChg>
      <pc:sldChg chg="add mod modShow">
        <pc:chgData name="Oderanti, Festus Oluseyi (Computational Sciences)" userId="559a3653-a41f-4a5e-b0aa-dafa2ac45b97" providerId="ADAL" clId="{33468068-C6EB-495C-B108-209BCB653126}" dt="2024-08-30T15:59:01.319" v="10" actId="729"/>
        <pc:sldMkLst>
          <pc:docMk/>
          <pc:sldMk cId="2990778938" sldId="6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Calibri" panose="020F0502020204030204" pitchFamily="34" charset="0"/>
                <a:cs typeface="Calibri" panose="020F050202020403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Calibri" panose="020F0502020204030204" pitchFamily="34" charset="0"/>
                <a:cs typeface="Calibri" panose="020F0502020204030204" pitchFamily="34" charset="0"/>
              </a:defRPr>
            </a:lvl1pPr>
          </a:lstStyle>
          <a:p>
            <a:fld id="{E69CE86C-40F2-499E-BC80-3AC6587B29E1}" type="datetimeFigureOut">
              <a:rPr lang="en-US" smtClean="0"/>
              <a:pPr/>
              <a:t>1/24/2025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Calibri" panose="020F0502020204030204" pitchFamily="34" charset="0"/>
                <a:cs typeface="Calibri" panose="020F050202020403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Calibri" panose="020F0502020204030204" pitchFamily="34" charset="0"/>
                <a:cs typeface="Calibri" panose="020F0502020204030204" pitchFamily="34" charset="0"/>
              </a:defRPr>
            </a:lvl1pPr>
          </a:lstStyle>
          <a:p>
            <a:fld id="{7E5162DB-F548-4311-83A8-33C054C2303C}" type="slidenum">
              <a:rPr lang="en-US" smtClean="0"/>
              <a:pPr/>
              <a:t>‹#›</a:t>
            </a:fld>
            <a:endParaRPr lang="en-US" dirty="0"/>
          </a:p>
        </p:txBody>
      </p:sp>
    </p:spTree>
    <p:extLst>
      <p:ext uri="{BB962C8B-B14F-4D97-AF65-F5344CB8AC3E}">
        <p14:creationId xmlns:p14="http://schemas.microsoft.com/office/powerpoint/2010/main" val="774726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6629B0CC-33C9-40B1-A656-81F0B2CE6A6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a:extLst>
              <a:ext uri="{FF2B5EF4-FFF2-40B4-BE49-F238E27FC236}">
                <a16:creationId xmlns:a16="http://schemas.microsoft.com/office/drawing/2014/main" id="{81DABF2F-D497-4E48-BE42-C8747DBCF84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00AA9B4B-D1D1-4FED-9C25-0E3D318C4BD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6380E4-8F74-4C78-9377-F0FA191DFD68}" type="slidenum">
              <a:rPr lang="en-US" altLang="en-US">
                <a:latin typeface="Calibri" panose="020F0502020204030204" pitchFamily="34" charset="0"/>
                <a:cs typeface="Calibri" panose="020F0502020204030204" pitchFamily="34" charset="0"/>
              </a:rPr>
              <a:pPr eaLnBrk="1" hangingPunct="1"/>
              <a:t>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58228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5162DB-F548-4311-83A8-33C054C2303C}" type="slidenum">
              <a:rPr lang="en-US" smtClean="0"/>
              <a:pPr/>
              <a:t>2</a:t>
            </a:fld>
            <a:endParaRPr lang="en-US" dirty="0"/>
          </a:p>
        </p:txBody>
      </p:sp>
    </p:spTree>
    <p:extLst>
      <p:ext uri="{BB962C8B-B14F-4D97-AF65-F5344CB8AC3E}">
        <p14:creationId xmlns:p14="http://schemas.microsoft.com/office/powerpoint/2010/main" val="2859679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a:extLst>
              <a:ext uri="{FF2B5EF4-FFF2-40B4-BE49-F238E27FC236}">
                <a16:creationId xmlns:a16="http://schemas.microsoft.com/office/drawing/2014/main" id="{6FB896FF-7914-427A-91A1-E9E9E7DA59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a:extLst>
              <a:ext uri="{FF2B5EF4-FFF2-40B4-BE49-F238E27FC236}">
                <a16:creationId xmlns:a16="http://schemas.microsoft.com/office/drawing/2014/main" id="{A0C18B4A-2D17-427D-8A98-C0A4AA70FBA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15716" name="Slide Number Placeholder 3">
            <a:extLst>
              <a:ext uri="{FF2B5EF4-FFF2-40B4-BE49-F238E27FC236}">
                <a16:creationId xmlns:a16="http://schemas.microsoft.com/office/drawing/2014/main" id="{96234D32-BE13-4FBC-BB0B-787E5FB7144B}"/>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5BBDE72-216E-42E5-A581-CA40D44AB2C0}" type="slidenum">
              <a:rPr lang="en-US" altLang="en-US">
                <a:latin typeface="Calibri" panose="020F0502020204030204" pitchFamily="34" charset="0"/>
                <a:cs typeface="Calibri" panose="020F0502020204030204" pitchFamily="34" charset="0"/>
              </a:rPr>
              <a:pPr eaLnBrk="1" hangingPunct="1"/>
              <a:t>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458228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10DC363B-4B8E-414D-91BC-4B1321ED1B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Notes Placeholder 2">
            <a:extLst>
              <a:ext uri="{FF2B5EF4-FFF2-40B4-BE49-F238E27FC236}">
                <a16:creationId xmlns:a16="http://schemas.microsoft.com/office/drawing/2014/main" id="{39DB0540-7930-44A5-9505-FC724CA6E8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16740" name="Slide Number Placeholder 3">
            <a:extLst>
              <a:ext uri="{FF2B5EF4-FFF2-40B4-BE49-F238E27FC236}">
                <a16:creationId xmlns:a16="http://schemas.microsoft.com/office/drawing/2014/main" id="{732E2B4E-55E1-4119-A818-E6548FEE48A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2724713-A1ED-46ED-A757-49B0C03F08EE}" type="slidenum">
              <a:rPr lang="en-US" altLang="en-US">
                <a:latin typeface="Calibri" panose="020F0502020204030204" pitchFamily="34" charset="0"/>
                <a:cs typeface="Calibri" panose="020F0502020204030204" pitchFamily="34" charset="0"/>
              </a:rPr>
              <a:pPr eaLnBrk="1" hangingPunct="1"/>
              <a:t>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9021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a16="http://schemas.microsoft.com/office/drawing/2014/main" id="{9D930146-E33B-4755-A3C0-72BD80ED87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a:extLst>
              <a:ext uri="{FF2B5EF4-FFF2-40B4-BE49-F238E27FC236}">
                <a16:creationId xmlns:a16="http://schemas.microsoft.com/office/drawing/2014/main" id="{5664A3A8-0025-4941-A196-1C967B65BB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17764" name="Slide Number Placeholder 3">
            <a:extLst>
              <a:ext uri="{FF2B5EF4-FFF2-40B4-BE49-F238E27FC236}">
                <a16:creationId xmlns:a16="http://schemas.microsoft.com/office/drawing/2014/main" id="{E6DE1683-E199-4FB3-9C8E-FC882E11208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4EE9B06-B8B2-43DF-B8AD-8D7B6897E512}" type="slidenum">
              <a:rPr lang="en-US" altLang="en-US">
                <a:latin typeface="Calibri" panose="020F0502020204030204" pitchFamily="34" charset="0"/>
                <a:cs typeface="Calibri" panose="020F0502020204030204" pitchFamily="34" charset="0"/>
              </a:rPr>
              <a:pPr eaLnBrk="1" hangingPunct="1"/>
              <a:t>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72256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a:extLst>
              <a:ext uri="{FF2B5EF4-FFF2-40B4-BE49-F238E27FC236}">
                <a16:creationId xmlns:a16="http://schemas.microsoft.com/office/drawing/2014/main" id="{9D930146-E33B-4755-A3C0-72BD80ED87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a:extLst>
              <a:ext uri="{FF2B5EF4-FFF2-40B4-BE49-F238E27FC236}">
                <a16:creationId xmlns:a16="http://schemas.microsoft.com/office/drawing/2014/main" id="{5664A3A8-0025-4941-A196-1C967B65BB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17764" name="Slide Number Placeholder 3">
            <a:extLst>
              <a:ext uri="{FF2B5EF4-FFF2-40B4-BE49-F238E27FC236}">
                <a16:creationId xmlns:a16="http://schemas.microsoft.com/office/drawing/2014/main" id="{E6DE1683-E199-4FB3-9C8E-FC882E11208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4EE9B06-B8B2-43DF-B8AD-8D7B6897E512}" type="slidenum">
              <a:rPr lang="en-US" altLang="en-US">
                <a:latin typeface="Calibri" panose="020F0502020204030204" pitchFamily="34" charset="0"/>
                <a:cs typeface="Calibri" panose="020F0502020204030204" pitchFamily="34" charset="0"/>
              </a:rPr>
              <a:pPr eaLnBrk="1" hangingPunct="1"/>
              <a:t>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0525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3181A865-4191-460F-A451-0B3098242FA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Notes Placeholder 2">
            <a:extLst>
              <a:ext uri="{FF2B5EF4-FFF2-40B4-BE49-F238E27FC236}">
                <a16:creationId xmlns:a16="http://schemas.microsoft.com/office/drawing/2014/main" id="{9C75AB52-B14D-4B4A-8792-D09090854D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18788" name="Slide Number Placeholder 3">
            <a:extLst>
              <a:ext uri="{FF2B5EF4-FFF2-40B4-BE49-F238E27FC236}">
                <a16:creationId xmlns:a16="http://schemas.microsoft.com/office/drawing/2014/main" id="{F9B9E14E-E39C-4BA1-9312-0D1B5CA0896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E8053A0-108F-4C49-B9DE-3DC0C7398E9B}" type="slidenum">
              <a:rPr lang="en-US" altLang="en-US">
                <a:latin typeface="Calibri" panose="020F0502020204030204" pitchFamily="34" charset="0"/>
                <a:cs typeface="Calibri" panose="020F0502020204030204" pitchFamily="34" charset="0"/>
              </a:rPr>
              <a:pPr eaLnBrk="1" hangingPunct="1"/>
              <a:t>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7941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a:extLst>
              <a:ext uri="{FF2B5EF4-FFF2-40B4-BE49-F238E27FC236}">
                <a16:creationId xmlns:a16="http://schemas.microsoft.com/office/drawing/2014/main" id="{2BF84970-D3B5-4D14-A12A-98FAEA9F0B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a:extLst>
              <a:ext uri="{FF2B5EF4-FFF2-40B4-BE49-F238E27FC236}">
                <a16:creationId xmlns:a16="http://schemas.microsoft.com/office/drawing/2014/main" id="{E7737B38-C567-4418-93BE-DD21C84DC71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19812" name="Slide Number Placeholder 3">
            <a:extLst>
              <a:ext uri="{FF2B5EF4-FFF2-40B4-BE49-F238E27FC236}">
                <a16:creationId xmlns:a16="http://schemas.microsoft.com/office/drawing/2014/main" id="{C9D33A8E-27A7-46D3-8D61-0419977CFBD8}"/>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4F78A8A-0819-4D15-AA4E-4FF9E18FA237}" type="slidenum">
              <a:rPr lang="en-US" altLang="en-US">
                <a:latin typeface="Calibri" panose="020F0502020204030204" pitchFamily="34" charset="0"/>
                <a:cs typeface="Calibri" panose="020F0502020204030204" pitchFamily="34" charset="0"/>
              </a:rPr>
              <a:pPr eaLnBrk="1" hangingPunct="1"/>
              <a:t>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20842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B8A8C2D-AE2F-4BF9-AC22-C4A198B520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a:extLst>
              <a:ext uri="{FF2B5EF4-FFF2-40B4-BE49-F238E27FC236}">
                <a16:creationId xmlns:a16="http://schemas.microsoft.com/office/drawing/2014/main" id="{18C02FBF-2DEB-4122-BDF4-E050D4D273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1860" name="Slide Number Placeholder 3">
            <a:extLst>
              <a:ext uri="{FF2B5EF4-FFF2-40B4-BE49-F238E27FC236}">
                <a16:creationId xmlns:a16="http://schemas.microsoft.com/office/drawing/2014/main" id="{D39EF87D-40C3-4372-8FEE-9E250839AB32}"/>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0AB3AFC-C186-4DD2-9E9C-85408671FAB8}" type="slidenum">
              <a:rPr lang="en-US" altLang="en-US">
                <a:latin typeface="Calibri" panose="020F0502020204030204" pitchFamily="34" charset="0"/>
                <a:cs typeface="Calibri" panose="020F0502020204030204" pitchFamily="34" charset="0"/>
              </a:rPr>
              <a:pPr eaLnBrk="1" hangingPunct="1"/>
              <a:t>13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4090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a:extLst>
              <a:ext uri="{FF2B5EF4-FFF2-40B4-BE49-F238E27FC236}">
                <a16:creationId xmlns:a16="http://schemas.microsoft.com/office/drawing/2014/main" id="{E08D3101-7E38-42E1-99E5-489587A63A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a:extLst>
              <a:ext uri="{FF2B5EF4-FFF2-40B4-BE49-F238E27FC236}">
                <a16:creationId xmlns:a16="http://schemas.microsoft.com/office/drawing/2014/main" id="{4ADBDCFA-071B-482D-A33A-741895E22B1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3908" name="Slide Number Placeholder 3">
            <a:extLst>
              <a:ext uri="{FF2B5EF4-FFF2-40B4-BE49-F238E27FC236}">
                <a16:creationId xmlns:a16="http://schemas.microsoft.com/office/drawing/2014/main" id="{8646492D-B11C-45DA-894E-7B05EAD39BA7}"/>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B565988-CC3C-480F-9B8E-8C6473BA783C}" type="slidenum">
              <a:rPr lang="en-US" altLang="en-US">
                <a:latin typeface="Calibri" panose="020F0502020204030204" pitchFamily="34" charset="0"/>
                <a:cs typeface="Calibri" panose="020F0502020204030204" pitchFamily="34" charset="0"/>
              </a:rPr>
              <a:pPr eaLnBrk="1" hangingPunct="1"/>
              <a:t>15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767899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728B1B6C-D1B5-42E4-B03B-8F436699F5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a:extLst>
              <a:ext uri="{FF2B5EF4-FFF2-40B4-BE49-F238E27FC236}">
                <a16:creationId xmlns:a16="http://schemas.microsoft.com/office/drawing/2014/main" id="{4BF7294C-1B52-4EBD-A7FE-B6C734679A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5956" name="Slide Number Placeholder 3">
            <a:extLst>
              <a:ext uri="{FF2B5EF4-FFF2-40B4-BE49-F238E27FC236}">
                <a16:creationId xmlns:a16="http://schemas.microsoft.com/office/drawing/2014/main" id="{496C9F0C-A5AD-4FF2-ABDC-BC8C8B93331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09D8760-CD6F-4503-AD52-76F23B92C96F}" type="slidenum">
              <a:rPr lang="en-US" altLang="en-US">
                <a:latin typeface="Calibri" panose="020F0502020204030204" pitchFamily="34" charset="0"/>
                <a:cs typeface="Calibri" panose="020F0502020204030204" pitchFamily="34" charset="0"/>
              </a:rPr>
              <a:pPr eaLnBrk="1" hangingPunct="1"/>
              <a:t>17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0250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a:extLst>
              <a:ext uri="{FF2B5EF4-FFF2-40B4-BE49-F238E27FC236}">
                <a16:creationId xmlns:a16="http://schemas.microsoft.com/office/drawing/2014/main" id="{F7913978-DFD1-442B-A216-6A4020A078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a:extLst>
              <a:ext uri="{FF2B5EF4-FFF2-40B4-BE49-F238E27FC236}">
                <a16:creationId xmlns:a16="http://schemas.microsoft.com/office/drawing/2014/main" id="{E9E85D29-63D6-4ACF-9D33-3DFB4658EC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6980" name="Slide Number Placeholder 3">
            <a:extLst>
              <a:ext uri="{FF2B5EF4-FFF2-40B4-BE49-F238E27FC236}">
                <a16:creationId xmlns:a16="http://schemas.microsoft.com/office/drawing/2014/main" id="{E9F66B0E-67A0-45EB-866B-2823723D3B6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BD1F069-7FA1-4E5A-A835-AEE74A9F8C36}" type="slidenum">
              <a:rPr lang="en-US" altLang="en-US">
                <a:latin typeface="Calibri" panose="020F0502020204030204" pitchFamily="34" charset="0"/>
                <a:cs typeface="Calibri" panose="020F0502020204030204" pitchFamily="34" charset="0"/>
              </a:rPr>
              <a:pPr eaLnBrk="1" hangingPunct="1"/>
              <a:t>18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67058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27F55AAE-7833-48E8-AC64-C319DF93B5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a:extLst>
              <a:ext uri="{FF2B5EF4-FFF2-40B4-BE49-F238E27FC236}">
                <a16:creationId xmlns:a16="http://schemas.microsoft.com/office/drawing/2014/main" id="{0DA1AE1B-12F1-47EA-8D30-798EAA22A2D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8004" name="Slide Number Placeholder 3">
            <a:extLst>
              <a:ext uri="{FF2B5EF4-FFF2-40B4-BE49-F238E27FC236}">
                <a16:creationId xmlns:a16="http://schemas.microsoft.com/office/drawing/2014/main" id="{C870D1C0-AE28-4FB0-B9B8-086CFCD506C3}"/>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0EB0214-996B-4AB5-A7EA-8AFF2DCBF93E}" type="slidenum">
              <a:rPr lang="en-US" altLang="en-US">
                <a:latin typeface="Calibri" panose="020F0502020204030204" pitchFamily="34" charset="0"/>
                <a:cs typeface="Calibri" panose="020F0502020204030204" pitchFamily="34" charset="0"/>
              </a:rPr>
              <a:pPr eaLnBrk="1" hangingPunct="1"/>
              <a:t>19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933801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a:extLst>
              <a:ext uri="{FF2B5EF4-FFF2-40B4-BE49-F238E27FC236}">
                <a16:creationId xmlns:a16="http://schemas.microsoft.com/office/drawing/2014/main" id="{C70E5B94-4B8A-4D1A-9DB6-67588803C4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Notes Placeholder 2">
            <a:extLst>
              <a:ext uri="{FF2B5EF4-FFF2-40B4-BE49-F238E27FC236}">
                <a16:creationId xmlns:a16="http://schemas.microsoft.com/office/drawing/2014/main" id="{C371AAA4-0047-4CB1-B1A3-113E765CA64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29028" name="Slide Number Placeholder 3">
            <a:extLst>
              <a:ext uri="{FF2B5EF4-FFF2-40B4-BE49-F238E27FC236}">
                <a16:creationId xmlns:a16="http://schemas.microsoft.com/office/drawing/2014/main" id="{7A87560A-A3E5-49D8-A922-5CB599AE50C3}"/>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BCBA585-CE03-4D70-A0D9-C8CF6EC4E663}" type="slidenum">
              <a:rPr lang="en-US" altLang="en-US">
                <a:latin typeface="Calibri" panose="020F0502020204030204" pitchFamily="34" charset="0"/>
                <a:cs typeface="Calibri" panose="020F0502020204030204" pitchFamily="34" charset="0"/>
              </a:rPr>
              <a:pPr eaLnBrk="1" hangingPunct="1"/>
              <a:t>20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8902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5162DB-F548-4311-83A8-33C054C2303C}" type="slidenum">
              <a:rPr lang="en-US" smtClean="0"/>
              <a:pPr/>
              <a:t>25</a:t>
            </a:fld>
            <a:endParaRPr lang="en-US" dirty="0"/>
          </a:p>
        </p:txBody>
      </p:sp>
    </p:spTree>
    <p:extLst>
      <p:ext uri="{BB962C8B-B14F-4D97-AF65-F5344CB8AC3E}">
        <p14:creationId xmlns:p14="http://schemas.microsoft.com/office/powerpoint/2010/main" val="1039646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71098531-9BED-4169-AD92-B4CBC2B1C4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a:extLst>
              <a:ext uri="{FF2B5EF4-FFF2-40B4-BE49-F238E27FC236}">
                <a16:creationId xmlns:a16="http://schemas.microsoft.com/office/drawing/2014/main" id="{D68D6075-DC9B-4D34-8D56-2D8B443E3A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2100" name="Slide Number Placeholder 3">
            <a:extLst>
              <a:ext uri="{FF2B5EF4-FFF2-40B4-BE49-F238E27FC236}">
                <a16:creationId xmlns:a16="http://schemas.microsoft.com/office/drawing/2014/main" id="{8DE68660-C90D-472D-B11F-5BE9F0088A9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89398C9-83AF-4DF8-B46E-50966099651F}" type="slidenum">
              <a:rPr lang="en-US" altLang="en-US">
                <a:latin typeface="Calibri" panose="020F0502020204030204" pitchFamily="34" charset="0"/>
                <a:cs typeface="Calibri" panose="020F0502020204030204" pitchFamily="34" charset="0"/>
              </a:rPr>
              <a:pPr eaLnBrk="1" hangingPunct="1"/>
              <a:t>28</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9332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a:extLst>
              <a:ext uri="{FF2B5EF4-FFF2-40B4-BE49-F238E27FC236}">
                <a16:creationId xmlns:a16="http://schemas.microsoft.com/office/drawing/2014/main" id="{A3D1016D-845C-41C3-B9BE-80C413FD67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a:extLst>
              <a:ext uri="{FF2B5EF4-FFF2-40B4-BE49-F238E27FC236}">
                <a16:creationId xmlns:a16="http://schemas.microsoft.com/office/drawing/2014/main" id="{1E73F771-CA2F-4378-BE36-DE223D6D72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24" name="Slide Number Placeholder 3">
            <a:extLst>
              <a:ext uri="{FF2B5EF4-FFF2-40B4-BE49-F238E27FC236}">
                <a16:creationId xmlns:a16="http://schemas.microsoft.com/office/drawing/2014/main" id="{FEAD8F4B-3063-48EA-9EB8-06750B4A9A77}"/>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7048B75-8A74-4612-8F03-763D5520F5B0}" type="slidenum">
              <a:rPr lang="en-US" altLang="en-US">
                <a:latin typeface="Calibri" panose="020F0502020204030204" pitchFamily="34" charset="0"/>
                <a:cs typeface="Calibri" panose="020F0502020204030204" pitchFamily="34" charset="0"/>
              </a:rPr>
              <a:pPr eaLnBrk="1" hangingPunct="1"/>
              <a:t>29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79832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a:extLst>
              <a:ext uri="{FF2B5EF4-FFF2-40B4-BE49-F238E27FC236}">
                <a16:creationId xmlns:a16="http://schemas.microsoft.com/office/drawing/2014/main" id="{A3D1016D-845C-41C3-B9BE-80C413FD67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a:extLst>
              <a:ext uri="{FF2B5EF4-FFF2-40B4-BE49-F238E27FC236}">
                <a16:creationId xmlns:a16="http://schemas.microsoft.com/office/drawing/2014/main" id="{1E73F771-CA2F-4378-BE36-DE223D6D72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33124" name="Slide Number Placeholder 3">
            <a:extLst>
              <a:ext uri="{FF2B5EF4-FFF2-40B4-BE49-F238E27FC236}">
                <a16:creationId xmlns:a16="http://schemas.microsoft.com/office/drawing/2014/main" id="{FEAD8F4B-3063-48EA-9EB8-06750B4A9A77}"/>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7048B75-8A74-4612-8F03-763D5520F5B0}" type="slidenum">
              <a:rPr lang="en-US" altLang="en-US">
                <a:latin typeface="Calibri" panose="020F0502020204030204" pitchFamily="34" charset="0"/>
                <a:cs typeface="Calibri" panose="020F0502020204030204" pitchFamily="34" charset="0"/>
              </a:rPr>
              <a:pPr eaLnBrk="1" hangingPunct="1"/>
              <a:t>30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65992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a:t>
            </a:r>
          </a:p>
        </p:txBody>
      </p:sp>
      <p:sp>
        <p:nvSpPr>
          <p:cNvPr id="4" name="Slide Number Placeholder 3"/>
          <p:cNvSpPr>
            <a:spLocks noGrp="1"/>
          </p:cNvSpPr>
          <p:nvPr>
            <p:ph type="sldNum" sz="quarter" idx="5"/>
          </p:nvPr>
        </p:nvSpPr>
        <p:spPr/>
        <p:txBody>
          <a:bodyPr/>
          <a:lstStyle/>
          <a:p>
            <a:fld id="{7E5162DB-F548-4311-83A8-33C054C2303C}" type="slidenum">
              <a:rPr lang="en-US" smtClean="0"/>
              <a:pPr/>
              <a:t>31</a:t>
            </a:fld>
            <a:endParaRPr lang="en-US" dirty="0"/>
          </a:p>
        </p:txBody>
      </p:sp>
    </p:spTree>
    <p:extLst>
      <p:ext uri="{BB962C8B-B14F-4D97-AF65-F5344CB8AC3E}">
        <p14:creationId xmlns:p14="http://schemas.microsoft.com/office/powerpoint/2010/main" val="25728038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a:extLst>
              <a:ext uri="{FF2B5EF4-FFF2-40B4-BE49-F238E27FC236}">
                <a16:creationId xmlns:a16="http://schemas.microsoft.com/office/drawing/2014/main" id="{62646768-18E7-45CF-8DF0-C837144A9C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a:extLst>
              <a:ext uri="{FF2B5EF4-FFF2-40B4-BE49-F238E27FC236}">
                <a16:creationId xmlns:a16="http://schemas.microsoft.com/office/drawing/2014/main" id="{08501770-A35C-427F-934E-587C088A5C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9268" name="Slide Number Placeholder 3">
            <a:extLst>
              <a:ext uri="{FF2B5EF4-FFF2-40B4-BE49-F238E27FC236}">
                <a16:creationId xmlns:a16="http://schemas.microsoft.com/office/drawing/2014/main" id="{EEEE28DA-13BD-4A92-90EF-23E139B7267E}"/>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FCA0456-38AA-418C-B48B-BEAD8FFDA75B}" type="slidenum">
              <a:rPr lang="en-US" altLang="en-US">
                <a:latin typeface="Calibri" panose="020F0502020204030204" pitchFamily="34" charset="0"/>
                <a:cs typeface="Calibri" panose="020F0502020204030204" pitchFamily="34" charset="0"/>
              </a:rPr>
              <a:pPr eaLnBrk="1" hangingPunct="1"/>
              <a:t>36</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305091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a:extLst>
              <a:ext uri="{FF2B5EF4-FFF2-40B4-BE49-F238E27FC236}">
                <a16:creationId xmlns:a16="http://schemas.microsoft.com/office/drawing/2014/main" id="{477F4452-B806-46CD-92F2-C890057F37C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a:extLst>
              <a:ext uri="{FF2B5EF4-FFF2-40B4-BE49-F238E27FC236}">
                <a16:creationId xmlns:a16="http://schemas.microsoft.com/office/drawing/2014/main" id="{77702C82-78B9-4191-B089-2209022EC3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0292" name="Slide Number Placeholder 3">
            <a:extLst>
              <a:ext uri="{FF2B5EF4-FFF2-40B4-BE49-F238E27FC236}">
                <a16:creationId xmlns:a16="http://schemas.microsoft.com/office/drawing/2014/main" id="{362E3E44-E85D-4281-AB82-99D2EC995C6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BCC2FD0-D230-43E2-B1C9-A47E8564C45B}" type="slidenum">
              <a:rPr lang="en-US" altLang="en-US">
                <a:latin typeface="Calibri" panose="020F0502020204030204" pitchFamily="34" charset="0"/>
                <a:cs typeface="Calibri" panose="020F0502020204030204" pitchFamily="34" charset="0"/>
              </a:rPr>
              <a:pPr eaLnBrk="1" hangingPunct="1"/>
              <a:t>37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77918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a:extLst>
              <a:ext uri="{FF2B5EF4-FFF2-40B4-BE49-F238E27FC236}">
                <a16:creationId xmlns:a16="http://schemas.microsoft.com/office/drawing/2014/main" id="{8A88BC6D-91B8-47CA-A8F6-EC1039E257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a:extLst>
              <a:ext uri="{FF2B5EF4-FFF2-40B4-BE49-F238E27FC236}">
                <a16:creationId xmlns:a16="http://schemas.microsoft.com/office/drawing/2014/main" id="{6AB355D6-6FA0-458D-BADB-CADCE83551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41316" name="Slide Number Placeholder 3">
            <a:extLst>
              <a:ext uri="{FF2B5EF4-FFF2-40B4-BE49-F238E27FC236}">
                <a16:creationId xmlns:a16="http://schemas.microsoft.com/office/drawing/2014/main" id="{3BE87438-AFB5-46BD-939C-79C84BA90AE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737C367-84BE-4D85-BAE9-21F849360C1A}" type="slidenum">
              <a:rPr lang="en-US" altLang="en-US">
                <a:latin typeface="Calibri" panose="020F0502020204030204" pitchFamily="34" charset="0"/>
                <a:cs typeface="Calibri" panose="020F0502020204030204" pitchFamily="34" charset="0"/>
              </a:rPr>
              <a:pPr eaLnBrk="1" hangingPunct="1"/>
              <a:t>40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057823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5162DB-F548-4311-83A8-33C054C2303C}" type="slidenum">
              <a:rPr lang="en-US" smtClean="0"/>
              <a:pPr/>
              <a:t>47</a:t>
            </a:fld>
            <a:endParaRPr lang="en-US" dirty="0"/>
          </a:p>
        </p:txBody>
      </p:sp>
    </p:spTree>
    <p:extLst>
      <p:ext uri="{BB962C8B-B14F-4D97-AF65-F5344CB8AC3E}">
        <p14:creationId xmlns:p14="http://schemas.microsoft.com/office/powerpoint/2010/main" val="30099519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a:extLst>
              <a:ext uri="{FF2B5EF4-FFF2-40B4-BE49-F238E27FC236}">
                <a16:creationId xmlns:a16="http://schemas.microsoft.com/office/drawing/2014/main" id="{0E2058DF-CBED-4BC3-91DA-D959CAEAEC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Notes Placeholder 2">
            <a:extLst>
              <a:ext uri="{FF2B5EF4-FFF2-40B4-BE49-F238E27FC236}">
                <a16:creationId xmlns:a16="http://schemas.microsoft.com/office/drawing/2014/main" id="{AEDCCE98-AB9E-4472-B0FD-CF6ED15905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a:t>$1000 + 10% of sales</a:t>
            </a:r>
          </a:p>
        </p:txBody>
      </p:sp>
      <p:sp>
        <p:nvSpPr>
          <p:cNvPr id="147460" name="Slide Number Placeholder 3">
            <a:extLst>
              <a:ext uri="{FF2B5EF4-FFF2-40B4-BE49-F238E27FC236}">
                <a16:creationId xmlns:a16="http://schemas.microsoft.com/office/drawing/2014/main" id="{A7669FE9-A57F-47AA-B80A-2E9666AF8F19}"/>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571E75E-5B1D-4A45-B8A2-01119132FD82}" type="slidenum">
              <a:rPr lang="en-US" altLang="en-US">
                <a:latin typeface="Calibri" panose="020F0502020204030204" pitchFamily="34" charset="0"/>
                <a:cs typeface="Calibri" panose="020F0502020204030204" pitchFamily="34" charset="0"/>
              </a:rPr>
              <a:pPr eaLnBrk="1" hangingPunct="1"/>
              <a:t>49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910871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salary  + </a:t>
            </a:r>
            <a:r>
              <a:rPr lang="en-US" dirty="0" err="1"/>
              <a:t>Commision</a:t>
            </a:r>
            <a:endParaRPr lang="en-US" dirty="0"/>
          </a:p>
          <a:p>
            <a:endParaRPr lang="en-US" dirty="0"/>
          </a:p>
          <a:p>
            <a:r>
              <a:rPr lang="en-US" dirty="0"/>
              <a:t>$400   + </a:t>
            </a:r>
            <a:r>
              <a:rPr lang="en-US" dirty="0" err="1"/>
              <a:t>grossSale</a:t>
            </a:r>
            <a:r>
              <a:rPr lang="en-US" dirty="0"/>
              <a:t> X  commission </a:t>
            </a:r>
          </a:p>
          <a:p>
            <a:endParaRPr lang="en-US" dirty="0"/>
          </a:p>
          <a:p>
            <a:endParaRPr lang="en-US" dirty="0"/>
          </a:p>
        </p:txBody>
      </p:sp>
      <p:sp>
        <p:nvSpPr>
          <p:cNvPr id="4" name="Slide Number Placeholder 3"/>
          <p:cNvSpPr>
            <a:spLocks noGrp="1"/>
          </p:cNvSpPr>
          <p:nvPr>
            <p:ph type="sldNum" sz="quarter" idx="5"/>
          </p:nvPr>
        </p:nvSpPr>
        <p:spPr/>
        <p:txBody>
          <a:bodyPr/>
          <a:lstStyle/>
          <a:p>
            <a:fld id="{7E5162DB-F548-4311-83A8-33C054C2303C}" type="slidenum">
              <a:rPr lang="en-US" smtClean="0"/>
              <a:pPr/>
              <a:t>50</a:t>
            </a:fld>
            <a:endParaRPr lang="en-US" dirty="0"/>
          </a:p>
        </p:txBody>
      </p:sp>
    </p:spTree>
    <p:extLst>
      <p:ext uri="{BB962C8B-B14F-4D97-AF65-F5344CB8AC3E}">
        <p14:creationId xmlns:p14="http://schemas.microsoft.com/office/powerpoint/2010/main" val="36809556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salary  + </a:t>
            </a:r>
            <a:r>
              <a:rPr lang="en-US" dirty="0" err="1"/>
              <a:t>Commision</a:t>
            </a:r>
            <a:endParaRPr lang="en-US" dirty="0"/>
          </a:p>
          <a:p>
            <a:endParaRPr lang="en-US" dirty="0"/>
          </a:p>
          <a:p>
            <a:r>
              <a:rPr lang="en-US" dirty="0"/>
              <a:t>$400   + </a:t>
            </a:r>
            <a:r>
              <a:rPr lang="en-US" dirty="0" err="1"/>
              <a:t>grossSale</a:t>
            </a:r>
            <a:r>
              <a:rPr lang="en-US" dirty="0"/>
              <a:t> X  commission </a:t>
            </a:r>
          </a:p>
          <a:p>
            <a:endParaRPr lang="en-US" dirty="0"/>
          </a:p>
        </p:txBody>
      </p:sp>
      <p:sp>
        <p:nvSpPr>
          <p:cNvPr id="4" name="Slide Number Placeholder 3"/>
          <p:cNvSpPr>
            <a:spLocks noGrp="1"/>
          </p:cNvSpPr>
          <p:nvPr>
            <p:ph type="sldNum" sz="quarter" idx="5"/>
          </p:nvPr>
        </p:nvSpPr>
        <p:spPr/>
        <p:txBody>
          <a:bodyPr/>
          <a:lstStyle/>
          <a:p>
            <a:fld id="{7E5162DB-F548-4311-83A8-33C054C2303C}" type="slidenum">
              <a:rPr lang="en-US" smtClean="0"/>
              <a:pPr/>
              <a:t>56</a:t>
            </a:fld>
            <a:endParaRPr lang="en-US" dirty="0"/>
          </a:p>
        </p:txBody>
      </p:sp>
    </p:spTree>
    <p:extLst>
      <p:ext uri="{BB962C8B-B14F-4D97-AF65-F5344CB8AC3E}">
        <p14:creationId xmlns:p14="http://schemas.microsoft.com/office/powerpoint/2010/main" val="5486109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a:extLst>
              <a:ext uri="{FF2B5EF4-FFF2-40B4-BE49-F238E27FC236}">
                <a16:creationId xmlns:a16="http://schemas.microsoft.com/office/drawing/2014/main" id="{C6B51D5B-69BA-494F-AAA4-C2F7C41EDCD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a:extLst>
              <a:ext uri="{FF2B5EF4-FFF2-40B4-BE49-F238E27FC236}">
                <a16:creationId xmlns:a16="http://schemas.microsoft.com/office/drawing/2014/main" id="{F5D2BAD4-CA1C-49A2-9696-6D828DD7DE6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4628" name="Slide Number Placeholder 3">
            <a:extLst>
              <a:ext uri="{FF2B5EF4-FFF2-40B4-BE49-F238E27FC236}">
                <a16:creationId xmlns:a16="http://schemas.microsoft.com/office/drawing/2014/main" id="{9E0DD8C0-2487-48AD-8DAB-9A4CE7ED9F6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CB69A67D-21B2-48A1-A565-93E32DCB6E0C}" type="slidenum">
              <a:rPr lang="en-US" altLang="en-US">
                <a:latin typeface="Calibri" panose="020F0502020204030204" pitchFamily="34" charset="0"/>
                <a:cs typeface="Calibri" panose="020F0502020204030204" pitchFamily="34" charset="0"/>
              </a:rPr>
              <a:pPr eaLnBrk="1" hangingPunct="1"/>
              <a:t>57</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3151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salary  + </a:t>
            </a:r>
            <a:r>
              <a:rPr lang="en-US" dirty="0" err="1"/>
              <a:t>Commision</a:t>
            </a:r>
            <a:endParaRPr lang="en-US" dirty="0"/>
          </a:p>
          <a:p>
            <a:endParaRPr lang="en-US" dirty="0"/>
          </a:p>
          <a:p>
            <a:r>
              <a:rPr lang="en-US" dirty="0"/>
              <a:t>$300   + </a:t>
            </a:r>
            <a:r>
              <a:rPr lang="en-US" dirty="0" err="1"/>
              <a:t>grossSale</a:t>
            </a:r>
            <a:r>
              <a:rPr lang="en-US" dirty="0"/>
              <a:t> X  commission </a:t>
            </a:r>
          </a:p>
          <a:p>
            <a:endParaRPr lang="en-US" dirty="0"/>
          </a:p>
        </p:txBody>
      </p:sp>
      <p:sp>
        <p:nvSpPr>
          <p:cNvPr id="4" name="Slide Number Placeholder 3"/>
          <p:cNvSpPr>
            <a:spLocks noGrp="1"/>
          </p:cNvSpPr>
          <p:nvPr>
            <p:ph type="sldNum" sz="quarter" idx="5"/>
          </p:nvPr>
        </p:nvSpPr>
        <p:spPr/>
        <p:txBody>
          <a:bodyPr/>
          <a:lstStyle/>
          <a:p>
            <a:fld id="{7E5162DB-F548-4311-83A8-33C054C2303C}" type="slidenum">
              <a:rPr lang="en-US" smtClean="0"/>
              <a:pPr/>
              <a:t>58</a:t>
            </a:fld>
            <a:endParaRPr lang="en-US" dirty="0"/>
          </a:p>
        </p:txBody>
      </p:sp>
    </p:spTree>
    <p:extLst>
      <p:ext uri="{BB962C8B-B14F-4D97-AF65-F5344CB8AC3E}">
        <p14:creationId xmlns:p14="http://schemas.microsoft.com/office/powerpoint/2010/main" val="1222608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a:extLst>
              <a:ext uri="{FF2B5EF4-FFF2-40B4-BE49-F238E27FC236}">
                <a16:creationId xmlns:a16="http://schemas.microsoft.com/office/drawing/2014/main" id="{CCA0D3A8-D977-45A0-8422-94242E5D22C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Notes Placeholder 2">
            <a:extLst>
              <a:ext uri="{FF2B5EF4-FFF2-40B4-BE49-F238E27FC236}">
                <a16:creationId xmlns:a16="http://schemas.microsoft.com/office/drawing/2014/main" id="{C60FD2C8-712E-4881-AE3A-0C531168A7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8724" name="Slide Number Placeholder 3">
            <a:extLst>
              <a:ext uri="{FF2B5EF4-FFF2-40B4-BE49-F238E27FC236}">
                <a16:creationId xmlns:a16="http://schemas.microsoft.com/office/drawing/2014/main" id="{A998AE45-F6EB-47FB-9E0A-183F5A5CDAA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80F64ED-E591-43A8-93BC-A10AFB204DEA}" type="slidenum">
              <a:rPr lang="en-US" altLang="en-US">
                <a:latin typeface="Calibri" panose="020F0502020204030204" pitchFamily="34" charset="0"/>
                <a:cs typeface="Calibri" panose="020F0502020204030204" pitchFamily="34" charset="0"/>
              </a:rPr>
              <a:pPr eaLnBrk="1" hangingPunct="1"/>
              <a:t>61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48106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a:extLst>
              <a:ext uri="{FF2B5EF4-FFF2-40B4-BE49-F238E27FC236}">
                <a16:creationId xmlns:a16="http://schemas.microsoft.com/office/drawing/2014/main" id="{409D1EC7-E1E8-4B6C-BB91-7F72DDF2C6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a:extLst>
              <a:ext uri="{FF2B5EF4-FFF2-40B4-BE49-F238E27FC236}">
                <a16:creationId xmlns:a16="http://schemas.microsoft.com/office/drawing/2014/main" id="{D90D20A4-3557-4E40-A1E0-4C71454EB40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59748" name="Slide Number Placeholder 3">
            <a:extLst>
              <a:ext uri="{FF2B5EF4-FFF2-40B4-BE49-F238E27FC236}">
                <a16:creationId xmlns:a16="http://schemas.microsoft.com/office/drawing/2014/main" id="{96678E58-00DE-42A3-9932-37EBAEC70B9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34CD6A90-F8C3-4165-8756-8D3DB801C58D}" type="slidenum">
              <a:rPr lang="en-US" altLang="en-US">
                <a:latin typeface="Calibri" panose="020F0502020204030204" pitchFamily="34" charset="0"/>
                <a:cs typeface="Calibri" panose="020F0502020204030204" pitchFamily="34" charset="0"/>
              </a:rPr>
              <a:pPr eaLnBrk="1" hangingPunct="1"/>
              <a:t>62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38010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a:extLst>
              <a:ext uri="{FF2B5EF4-FFF2-40B4-BE49-F238E27FC236}">
                <a16:creationId xmlns:a16="http://schemas.microsoft.com/office/drawing/2014/main" id="{7B4FAF8A-1BB2-4D71-BED7-8115D00AC0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a:extLst>
              <a:ext uri="{FF2B5EF4-FFF2-40B4-BE49-F238E27FC236}">
                <a16:creationId xmlns:a16="http://schemas.microsoft.com/office/drawing/2014/main" id="{ECEED2D0-B58C-473F-87E3-DDFE0EEFDF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1796" name="Slide Number Placeholder 3">
            <a:extLst>
              <a:ext uri="{FF2B5EF4-FFF2-40B4-BE49-F238E27FC236}">
                <a16:creationId xmlns:a16="http://schemas.microsoft.com/office/drawing/2014/main" id="{A0B940D5-C043-4BC4-9417-EE7E7C74A7D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1D6D1BBE-00E8-4FC7-BDE7-8E707AB1717E}" type="slidenum">
              <a:rPr lang="en-US" altLang="en-US">
                <a:latin typeface="Calibri" panose="020F0502020204030204" pitchFamily="34" charset="0"/>
                <a:cs typeface="Calibri" panose="020F0502020204030204" pitchFamily="34" charset="0"/>
              </a:rPr>
              <a:pPr eaLnBrk="1" hangingPunct="1"/>
              <a:t>64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43580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5162DB-F548-4311-83A8-33C054C2303C}" type="slidenum">
              <a:rPr lang="en-US" smtClean="0"/>
              <a:pPr/>
              <a:t>67</a:t>
            </a:fld>
            <a:endParaRPr lang="en-US" dirty="0"/>
          </a:p>
        </p:txBody>
      </p:sp>
    </p:spTree>
    <p:extLst>
      <p:ext uri="{BB962C8B-B14F-4D97-AF65-F5344CB8AC3E}">
        <p14:creationId xmlns:p14="http://schemas.microsoft.com/office/powerpoint/2010/main" val="39928310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a:extLst>
              <a:ext uri="{FF2B5EF4-FFF2-40B4-BE49-F238E27FC236}">
                <a16:creationId xmlns:a16="http://schemas.microsoft.com/office/drawing/2014/main" id="{BC7FFA27-B8B9-4B28-8BEE-F848CFC498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5" name="Notes Placeholder 2">
            <a:extLst>
              <a:ext uri="{FF2B5EF4-FFF2-40B4-BE49-F238E27FC236}">
                <a16:creationId xmlns:a16="http://schemas.microsoft.com/office/drawing/2014/main" id="{9C941EE1-5F00-40DF-A00D-3A4CEB6945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7940" name="Slide Number Placeholder 3">
            <a:extLst>
              <a:ext uri="{FF2B5EF4-FFF2-40B4-BE49-F238E27FC236}">
                <a16:creationId xmlns:a16="http://schemas.microsoft.com/office/drawing/2014/main" id="{FE86308B-7D5A-44DD-883B-E96D20F9C3D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1696CF4-E5C6-42FE-B069-086AE6961062}" type="slidenum">
              <a:rPr lang="en-US" altLang="en-US">
                <a:latin typeface="Calibri" panose="020F0502020204030204" pitchFamily="34" charset="0"/>
                <a:cs typeface="Calibri" panose="020F0502020204030204" pitchFamily="34" charset="0"/>
              </a:rPr>
              <a:pPr eaLnBrk="1" hangingPunct="1"/>
              <a:t>72</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819125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a:extLst>
              <a:ext uri="{FF2B5EF4-FFF2-40B4-BE49-F238E27FC236}">
                <a16:creationId xmlns:a16="http://schemas.microsoft.com/office/drawing/2014/main" id="{56E3942B-D283-449A-90E2-543D428610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Notes Placeholder 2">
            <a:extLst>
              <a:ext uri="{FF2B5EF4-FFF2-40B4-BE49-F238E27FC236}">
                <a16:creationId xmlns:a16="http://schemas.microsoft.com/office/drawing/2014/main" id="{FDE872E2-EF92-43C1-A16F-633DB65987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69988" name="Slide Number Placeholder 3">
            <a:extLst>
              <a:ext uri="{FF2B5EF4-FFF2-40B4-BE49-F238E27FC236}">
                <a16:creationId xmlns:a16="http://schemas.microsoft.com/office/drawing/2014/main" id="{3DC49286-6B3C-45E6-B192-747A951557C0}"/>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001E00-BF2B-4D38-B2C1-28FC5F5DE8EE}" type="slidenum">
              <a:rPr lang="en-US" altLang="en-US">
                <a:latin typeface="Calibri" panose="020F0502020204030204" pitchFamily="34" charset="0"/>
                <a:cs typeface="Calibri" panose="020F0502020204030204" pitchFamily="34" charset="0"/>
              </a:rPr>
              <a:pPr eaLnBrk="1" hangingPunct="1"/>
              <a:t>73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7785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a:extLst>
              <a:ext uri="{FF2B5EF4-FFF2-40B4-BE49-F238E27FC236}">
                <a16:creationId xmlns:a16="http://schemas.microsoft.com/office/drawing/2014/main" id="{A274ECC8-2541-4429-97EC-A19AA86997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a:extLst>
              <a:ext uri="{FF2B5EF4-FFF2-40B4-BE49-F238E27FC236}">
                <a16:creationId xmlns:a16="http://schemas.microsoft.com/office/drawing/2014/main" id="{FFBCCB04-188E-4BB5-8DB1-A6D604D1551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1012" name="Slide Number Placeholder 3">
            <a:extLst>
              <a:ext uri="{FF2B5EF4-FFF2-40B4-BE49-F238E27FC236}">
                <a16:creationId xmlns:a16="http://schemas.microsoft.com/office/drawing/2014/main" id="{C3C01F58-FF0D-4558-B6B5-31ABF56B90C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CDE7267-DB40-4BF7-9248-8B3537D2149D}" type="slidenum">
              <a:rPr lang="en-US" altLang="en-US">
                <a:latin typeface="Calibri" panose="020F0502020204030204" pitchFamily="34" charset="0"/>
                <a:cs typeface="Calibri" panose="020F0502020204030204" pitchFamily="34" charset="0"/>
              </a:rPr>
              <a:pPr eaLnBrk="1" hangingPunct="1"/>
              <a:t>74</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04570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a:extLst>
              <a:ext uri="{FF2B5EF4-FFF2-40B4-BE49-F238E27FC236}">
                <a16:creationId xmlns:a16="http://schemas.microsoft.com/office/drawing/2014/main" id="{4FD95D10-B859-46D6-80E9-1063655B79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a:extLst>
              <a:ext uri="{FF2B5EF4-FFF2-40B4-BE49-F238E27FC236}">
                <a16:creationId xmlns:a16="http://schemas.microsoft.com/office/drawing/2014/main" id="{2068BFFF-AF4A-4D8F-8503-15CE9F94315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2036" name="Slide Number Placeholder 3">
            <a:extLst>
              <a:ext uri="{FF2B5EF4-FFF2-40B4-BE49-F238E27FC236}">
                <a16:creationId xmlns:a16="http://schemas.microsoft.com/office/drawing/2014/main" id="{2F168546-3A2B-412B-97E1-8D14A86BFCF6}"/>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80F0F57-4A1A-4D72-830C-C519D8C86BB8}" type="slidenum">
              <a:rPr lang="en-US" altLang="en-US">
                <a:latin typeface="Calibri" panose="020F0502020204030204" pitchFamily="34" charset="0"/>
                <a:cs typeface="Calibri" panose="020F0502020204030204" pitchFamily="34" charset="0"/>
              </a:rPr>
              <a:pPr eaLnBrk="1" hangingPunct="1"/>
              <a:t>75</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869293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a:extLst>
              <a:ext uri="{FF2B5EF4-FFF2-40B4-BE49-F238E27FC236}">
                <a16:creationId xmlns:a16="http://schemas.microsoft.com/office/drawing/2014/main" id="{9EAC2267-F79B-4F78-B597-D762D5B8FD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a:extLst>
              <a:ext uri="{FF2B5EF4-FFF2-40B4-BE49-F238E27FC236}">
                <a16:creationId xmlns:a16="http://schemas.microsoft.com/office/drawing/2014/main" id="{1B72881B-5096-45FD-8E4A-64C9666BA84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6132" name="Slide Number Placeholder 3">
            <a:extLst>
              <a:ext uri="{FF2B5EF4-FFF2-40B4-BE49-F238E27FC236}">
                <a16:creationId xmlns:a16="http://schemas.microsoft.com/office/drawing/2014/main" id="{2EA307AC-0ABA-42AD-A89B-CF4F2A85696A}"/>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CD42E7-49A3-46DB-9054-6C0E4FD3F856}" type="slidenum">
              <a:rPr lang="en-US" altLang="en-US">
                <a:latin typeface="Calibri" panose="020F0502020204030204" pitchFamily="34" charset="0"/>
                <a:cs typeface="Calibri" panose="020F0502020204030204" pitchFamily="34" charset="0"/>
              </a:rPr>
              <a:pPr eaLnBrk="1" hangingPunct="1"/>
              <a:t>79</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08445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a:extLst>
              <a:ext uri="{FF2B5EF4-FFF2-40B4-BE49-F238E27FC236}">
                <a16:creationId xmlns:a16="http://schemas.microsoft.com/office/drawing/2014/main" id="{56F0C8A0-DAD6-4912-8E05-EE9CFCC339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a:extLst>
              <a:ext uri="{FF2B5EF4-FFF2-40B4-BE49-F238E27FC236}">
                <a16:creationId xmlns:a16="http://schemas.microsoft.com/office/drawing/2014/main" id="{4C229217-DFBC-4F5D-8D1E-A00A9A52D8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77156" name="Slide Number Placeholder 3">
            <a:extLst>
              <a:ext uri="{FF2B5EF4-FFF2-40B4-BE49-F238E27FC236}">
                <a16:creationId xmlns:a16="http://schemas.microsoft.com/office/drawing/2014/main" id="{CC7C1973-6454-4C06-9D71-A6153DCF4615}"/>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FE31BD0-947A-4350-A459-7BE15DA4E110}" type="slidenum">
              <a:rPr lang="en-US" altLang="en-US">
                <a:latin typeface="Calibri" panose="020F0502020204030204" pitchFamily="34" charset="0"/>
                <a:cs typeface="Calibri" panose="020F0502020204030204" pitchFamily="34" charset="0"/>
              </a:rPr>
              <a:pPr eaLnBrk="1" hangingPunct="1"/>
              <a:t>80</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854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a:extLst>
              <a:ext uri="{FF2B5EF4-FFF2-40B4-BE49-F238E27FC236}">
                <a16:creationId xmlns:a16="http://schemas.microsoft.com/office/drawing/2014/main" id="{8BECBC6E-9541-4C45-9BA3-563CA9BA1A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a:extLst>
              <a:ext uri="{FF2B5EF4-FFF2-40B4-BE49-F238E27FC236}">
                <a16:creationId xmlns:a16="http://schemas.microsoft.com/office/drawing/2014/main" id="{95011173-E14E-46F5-928F-B609A37C1A7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95588" name="Slide Number Placeholder 3">
            <a:extLst>
              <a:ext uri="{FF2B5EF4-FFF2-40B4-BE49-F238E27FC236}">
                <a16:creationId xmlns:a16="http://schemas.microsoft.com/office/drawing/2014/main" id="{CB2DE408-362E-45A1-B573-719FF874DFAF}"/>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15299E2-25C9-4B62-8552-852538CB7E61}" type="slidenum">
              <a:rPr lang="en-US" altLang="en-US">
                <a:latin typeface="Calibri" panose="020F0502020204030204" pitchFamily="34" charset="0"/>
                <a:cs typeface="Calibri" panose="020F0502020204030204" pitchFamily="34" charset="0"/>
              </a:rPr>
              <a:pPr eaLnBrk="1" hangingPunct="1"/>
              <a:t>81</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0632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a:extLst>
              <a:ext uri="{FF2B5EF4-FFF2-40B4-BE49-F238E27FC236}">
                <a16:creationId xmlns:a16="http://schemas.microsoft.com/office/drawing/2014/main" id="{E45B87F5-C52F-423F-B1E7-ED862A6A29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a:extLst>
              <a:ext uri="{FF2B5EF4-FFF2-40B4-BE49-F238E27FC236}">
                <a16:creationId xmlns:a16="http://schemas.microsoft.com/office/drawing/2014/main" id="{23AD9520-0522-4C43-9532-4843BA5414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3780" name="Slide Number Placeholder 3">
            <a:extLst>
              <a:ext uri="{FF2B5EF4-FFF2-40B4-BE49-F238E27FC236}">
                <a16:creationId xmlns:a16="http://schemas.microsoft.com/office/drawing/2014/main" id="{403EA81C-A8E7-40D7-85B0-A67C4EFB2494}"/>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488B6566-6495-499B-8CC1-3C0174FCBE72}" type="slidenum">
              <a:rPr lang="en-US" altLang="en-US">
                <a:latin typeface="Calibri" panose="020F0502020204030204" pitchFamily="34" charset="0"/>
                <a:cs typeface="Calibri" panose="020F0502020204030204" pitchFamily="34" charset="0"/>
              </a:rPr>
              <a:pPr eaLnBrk="1" hangingPunct="1"/>
              <a:t>83</a:t>
            </a:fld>
            <a:endParaRPr lang="en-US"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305943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5162DB-F548-4311-83A8-33C054C2303C}" type="slidenum">
              <a:rPr lang="en-US" smtClean="0"/>
              <a:pPr/>
              <a:t>91</a:t>
            </a:fld>
            <a:endParaRPr lang="en-US" dirty="0"/>
          </a:p>
        </p:txBody>
      </p:sp>
    </p:spTree>
    <p:extLst>
      <p:ext uri="{BB962C8B-B14F-4D97-AF65-F5344CB8AC3E}">
        <p14:creationId xmlns:p14="http://schemas.microsoft.com/office/powerpoint/2010/main" val="19000138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5162DB-F548-4311-83A8-33C054C2303C}" type="slidenum">
              <a:rPr lang="en-US" smtClean="0"/>
              <a:pPr/>
              <a:t>93</a:t>
            </a:fld>
            <a:endParaRPr lang="en-US" dirty="0"/>
          </a:p>
        </p:txBody>
      </p:sp>
    </p:spTree>
    <p:extLst>
      <p:ext uri="{BB962C8B-B14F-4D97-AF65-F5344CB8AC3E}">
        <p14:creationId xmlns:p14="http://schemas.microsoft.com/office/powerpoint/2010/main" val="1568968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6.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hemeOverride" Target="../theme/themeOverride8.xml"/><Relationship Id="rId4" Type="http://schemas.openxmlformats.org/officeDocument/2006/relationships/image" Target="../media/image1.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grpSp>
        <p:nvGrpSpPr>
          <p:cNvPr id="5" name="Group 18"/>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1332767423 h 528"/>
                <a:gd name="T6" fmla="*/ 12001943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ct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ct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
        <p:nvSpPr>
          <p:cNvPr id="12" name="Date Placeholder 29"/>
          <p:cNvSpPr>
            <a:spLocks noGrp="1"/>
          </p:cNvSpPr>
          <p:nvPr>
            <p:ph type="dt" sz="half" idx="10"/>
          </p:nvPr>
        </p:nvSpPr>
        <p:spPr/>
        <p:txBody>
          <a:bodyPr/>
          <a:lstStyle>
            <a:lvl1pPr>
              <a:defRPr smtClean="0">
                <a:solidFill>
                  <a:srgbClr val="FFFFFF"/>
                </a:solidFill>
              </a:defRPr>
            </a:lvl1pPr>
            <a:extLst/>
          </a:lstStyle>
          <a:p>
            <a:fld id="{A8FAB437-D8D1-48CF-A7AB-89B375C1C38C}" type="datetime1">
              <a:rPr lang="en-US" smtClean="0"/>
              <a:t>1/24/2025</a:t>
            </a:fld>
            <a:endParaRPr lang="en-US"/>
          </a:p>
        </p:txBody>
      </p:sp>
      <p:sp>
        <p:nvSpPr>
          <p:cNvPr id="13" name="Slide Number Placeholder 26"/>
          <p:cNvSpPr>
            <a:spLocks noGrp="1"/>
          </p:cNvSpPr>
          <p:nvPr>
            <p:ph type="sldNum" sz="quarter" idx="11"/>
          </p:nvPr>
        </p:nvSpPr>
        <p:spPr/>
        <p:txBody>
          <a:bodyPr/>
          <a:lstStyle>
            <a:lvl1pPr>
              <a:defRPr>
                <a:solidFill>
                  <a:srgbClr val="FFFFFF"/>
                </a:solidFill>
              </a:defRPr>
            </a:lvl1pPr>
          </a:lstStyle>
          <a:p>
            <a:fld id="{454790C6-A741-44DF-9E39-28056A4AD1F9}" type="slidenum">
              <a:rPr lang="en-US" smtClean="0"/>
              <a:t>‹#›</a:t>
            </a:fld>
            <a:endParaRPr lang="en-US"/>
          </a:p>
        </p:txBody>
      </p:sp>
      <p:sp>
        <p:nvSpPr>
          <p:cNvPr id="14" name="Footer Placeholder 18"/>
          <p:cNvSpPr>
            <a:spLocks noGrp="1"/>
          </p:cNvSpPr>
          <p:nvPr>
            <p:ph type="ftr" sz="quarter" idx="12"/>
          </p:nvPr>
        </p:nvSpPr>
        <p:spPr>
          <a:xfrm>
            <a:off x="3657600" y="6408739"/>
            <a:ext cx="5317067" cy="365125"/>
          </a:xfrm>
        </p:spPr>
        <p:txBody>
          <a:bodyPr/>
          <a:lstStyle>
            <a:lvl1pPr>
              <a:defRPr>
                <a:solidFill>
                  <a:schemeClr val="accent1">
                    <a:tint val="20000"/>
                  </a:schemeClr>
                </a:solidFill>
              </a:defRPr>
            </a:lvl1pPr>
            <a:extLst/>
          </a:lstStyle>
          <a:p>
            <a:r>
              <a:rPr lang="en-US"/>
              <a:t>© Copyright 1992-2018 by Pearson Education, Inc. All Rights Reserved.</a:t>
            </a:r>
          </a:p>
        </p:txBody>
      </p:sp>
    </p:spTree>
    <p:extLst>
      <p:ext uri="{BB962C8B-B14F-4D97-AF65-F5344CB8AC3E}">
        <p14:creationId xmlns:p14="http://schemas.microsoft.com/office/powerpoint/2010/main" val="3127182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
        <p:nvSpPr>
          <p:cNvPr id="6" name="Date Placeholder 3"/>
          <p:cNvSpPr>
            <a:spLocks noGrp="1"/>
          </p:cNvSpPr>
          <p:nvPr>
            <p:ph type="dt" sz="half" idx="10"/>
          </p:nvPr>
        </p:nvSpPr>
        <p:spPr/>
        <p:txBody>
          <a:bodyPr/>
          <a:lstStyle>
            <a:lvl1pPr>
              <a:defRPr smtClean="0"/>
            </a:lvl1pPr>
            <a:extLst/>
          </a:lstStyle>
          <a:p>
            <a:fld id="{2D81EAFE-552C-4EA9-9CBD-557A7EBE2833}" type="datetime1">
              <a:rPr lang="en-US" smtClean="0"/>
              <a:t>1/24/2025</a:t>
            </a:fld>
            <a:endParaRPr lang="en-US"/>
          </a:p>
        </p:txBody>
      </p:sp>
      <p:sp>
        <p:nvSpPr>
          <p:cNvPr id="8" name="Footer Placeholder 4"/>
          <p:cNvSpPr>
            <a:spLocks noGrp="1"/>
          </p:cNvSpPr>
          <p:nvPr>
            <p:ph type="ftr" sz="quarter" idx="11"/>
          </p:nvPr>
        </p:nvSpPr>
        <p:spPr>
          <a:xfrm>
            <a:off x="5486400" y="6408739"/>
            <a:ext cx="3488267" cy="365125"/>
          </a:xfrm>
        </p:spPr>
        <p:txBody>
          <a:bodyPr/>
          <a:lstStyle>
            <a:lvl1pPr>
              <a:defRPr/>
            </a:lvl1pPr>
            <a:extLst/>
          </a:lstStyle>
          <a:p>
            <a:r>
              <a:rPr lang="en-US"/>
              <a:t>© Copyright 1992-2018 by Pearson Education, Inc. All Rights Reserved.</a:t>
            </a:r>
          </a:p>
        </p:txBody>
      </p:sp>
      <p:sp>
        <p:nvSpPr>
          <p:cNvPr id="9" name="Slide Number Placeholder 5"/>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2856660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Edit Master text styles</a:t>
            </a:r>
          </a:p>
        </p:txBody>
      </p:sp>
      <p:sp>
        <p:nvSpPr>
          <p:cNvPr id="6" name="Date Placeholder 3"/>
          <p:cNvSpPr>
            <a:spLocks noGrp="1"/>
          </p:cNvSpPr>
          <p:nvPr>
            <p:ph type="dt" sz="half" idx="10"/>
          </p:nvPr>
        </p:nvSpPr>
        <p:spPr/>
        <p:txBody>
          <a:bodyPr/>
          <a:lstStyle>
            <a:lvl1pPr>
              <a:defRPr smtClean="0"/>
            </a:lvl1pPr>
            <a:extLst/>
          </a:lstStyle>
          <a:p>
            <a:fld id="{DE828096-474A-4E25-8254-0136E5100EED}" type="datetime1">
              <a:rPr lang="en-US" smtClean="0"/>
              <a:t>1/24/2025</a:t>
            </a:fld>
            <a:endParaRPr lang="en-US"/>
          </a:p>
        </p:txBody>
      </p:sp>
      <p:sp>
        <p:nvSpPr>
          <p:cNvPr id="7" name="Footer Placeholder 4"/>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8" name="Slide Number Placeholder 5"/>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336867962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smtClean="0"/>
            </a:lvl1pPr>
            <a:extLst/>
          </a:lstStyle>
          <a:p>
            <a:fld id="{FD13F97E-A331-47B3-92CD-2B70E8D53F41}" type="datetime1">
              <a:rPr lang="en-US" smtClean="0"/>
              <a:t>1/24/2025</a:t>
            </a:fld>
            <a:endParaRPr lang="en-US"/>
          </a:p>
        </p:txBody>
      </p:sp>
      <p:sp>
        <p:nvSpPr>
          <p:cNvPr id="6" name="Footer Placeholder 5"/>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856519966"/>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smtClean="0"/>
            </a:lvl1pPr>
            <a:extLst/>
          </a:lstStyle>
          <a:p>
            <a:fld id="{A27922BA-3637-4E92-8D0B-653231601052}" type="datetime1">
              <a:rPr lang="en-US" smtClean="0"/>
              <a:t>1/24/2025</a:t>
            </a:fld>
            <a:endParaRPr lang="en-US"/>
          </a:p>
        </p:txBody>
      </p:sp>
      <p:sp>
        <p:nvSpPr>
          <p:cNvPr id="8" name="Footer Placeholder 7"/>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9" name="Slide Number Placeholder 8"/>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107809731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smtClean="0"/>
            </a:lvl1pPr>
            <a:extLst/>
          </a:lstStyle>
          <a:p>
            <a:fld id="{627D1DAF-D0DA-4DB3-9155-8AA021C51934}" type="datetime1">
              <a:rPr lang="en-US" smtClean="0"/>
              <a:t>1/24/2025</a:t>
            </a:fld>
            <a:endParaRPr lang="en-US"/>
          </a:p>
        </p:txBody>
      </p:sp>
      <p:sp>
        <p:nvSpPr>
          <p:cNvPr id="4" name="Footer Placeholder 3"/>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5" name="Slide Number Placeholder 4"/>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197200543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fld id="{B9257ABA-E854-40CA-9107-67D31CA224A1}" type="datetime1">
              <a:rPr lang="en-US" smtClean="0"/>
              <a:t>1/24/2025</a:t>
            </a:fld>
            <a:endParaRPr lang="en-US"/>
          </a:p>
        </p:txBody>
      </p:sp>
      <p:sp>
        <p:nvSpPr>
          <p:cNvPr id="3" name="Footer Placeholder 21"/>
          <p:cNvSpPr>
            <a:spLocks noGrp="1"/>
          </p:cNvSpPr>
          <p:nvPr>
            <p:ph type="ftr" sz="quarter" idx="11"/>
          </p:nvPr>
        </p:nvSpPr>
        <p:spPr/>
        <p:txBody>
          <a:bodyPr/>
          <a:lstStyle>
            <a:lvl1pPr>
              <a:defRPr/>
            </a:lvl1pPr>
          </a:lstStyle>
          <a:p>
            <a:r>
              <a:rPr lang="en-US"/>
              <a:t>© Copyright 1992-2018 by Pearson Education, Inc. All Rights Reserved.</a:t>
            </a:r>
          </a:p>
        </p:txBody>
      </p:sp>
      <p:sp>
        <p:nvSpPr>
          <p:cNvPr id="4" name="Slide Number Placeholder 17"/>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2776494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extLst/>
          </a:lstStyle>
          <a:p>
            <a:fld id="{0F167142-6D08-4010-8A2A-CD62BE927DF1}" type="datetime1">
              <a:rPr lang="en-US" smtClean="0"/>
              <a:t>1/24/2025</a:t>
            </a:fld>
            <a:endParaRPr lang="en-US"/>
          </a:p>
        </p:txBody>
      </p:sp>
      <p:sp>
        <p:nvSpPr>
          <p:cNvPr id="6" name="Footer Placeholder 5"/>
          <p:cNvSpPr>
            <a:spLocks noGrp="1"/>
          </p:cNvSpPr>
          <p:nvPr>
            <p:ph type="ftr" sz="quarter" idx="11"/>
          </p:nvPr>
        </p:nvSpPr>
        <p:spPr/>
        <p:txBody>
          <a:bodyPr/>
          <a:lstStyle>
            <a:lvl1pPr>
              <a:defRPr/>
            </a:lvl1pPr>
            <a:extLst/>
          </a:lstStyle>
          <a:p>
            <a:r>
              <a:rPr lang="en-US"/>
              <a:t>© Copyright 1992-2018 by Pearson Education, Inc. All Rights Reserved.</a:t>
            </a:r>
          </a:p>
        </p:txBody>
      </p:sp>
      <p:sp>
        <p:nvSpPr>
          <p:cNvPr id="7" name="Slide Number Placeholder 6"/>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7310667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6" name="Freeform 18"/>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1330642500 h 588"/>
              <a:gd name="T6" fmla="*/ 2091905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7" name="Right Triangle 6"/>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4" name="Text Placeholder 3"/>
          <p:cNvSpPr>
            <a:spLocks noGrp="1"/>
          </p:cNvSpPr>
          <p:nvPr>
            <p:ph type="body" sz="half" idx="2"/>
          </p:nvPr>
        </p:nvSpPr>
        <p:spPr>
          <a:xfrm>
            <a:off x="1521643" y="5443402"/>
            <a:ext cx="95504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smtClean="0">
                <a:solidFill>
                  <a:schemeClr val="tx1"/>
                </a:solidFill>
              </a:defRPr>
            </a:lvl1pPr>
            <a:extLst/>
          </a:lstStyle>
          <a:p>
            <a:fld id="{B478CC75-583F-4110-9C19-731467672443}" type="datetime1">
              <a:rPr lang="en-US" smtClean="0"/>
              <a:t>1/24/2025</a:t>
            </a:fld>
            <a:endParaRPr lang="en-US"/>
          </a:p>
        </p:txBody>
      </p:sp>
      <p:sp>
        <p:nvSpPr>
          <p:cNvPr id="12" name="Footer Placeholder 5"/>
          <p:cNvSpPr>
            <a:spLocks noGrp="1"/>
          </p:cNvSpPr>
          <p:nvPr>
            <p:ph type="ftr" sz="quarter" idx="11"/>
          </p:nvPr>
        </p:nvSpPr>
        <p:spPr>
          <a:xfrm>
            <a:off x="5839884" y="6408739"/>
            <a:ext cx="3134783" cy="365125"/>
          </a:xfrm>
        </p:spPr>
        <p:txBody>
          <a:bodyPr/>
          <a:lstStyle>
            <a:lvl1pPr>
              <a:defRPr>
                <a:solidFill>
                  <a:schemeClr val="tx1"/>
                </a:solidFill>
              </a:defRPr>
            </a:lvl1pPr>
            <a:extLst/>
          </a:lstStyle>
          <a:p>
            <a:r>
              <a:rPr lang="en-US"/>
              <a:t>© Copyright 1992-2018 by Pearson Education, Inc. All Rights Reserved.</a:t>
            </a:r>
          </a:p>
        </p:txBody>
      </p:sp>
      <p:sp>
        <p:nvSpPr>
          <p:cNvPr id="13" name="Slide Number Placeholder 6"/>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92113020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DBEAEBAB-D1D3-4C2D-8F92-B135D7360BF9}" type="datetime1">
              <a:rPr lang="en-US" smtClean="0"/>
              <a:t>1/24/2025</a:t>
            </a:fld>
            <a:endParaRPr lang="en-US"/>
          </a:p>
        </p:txBody>
      </p:sp>
      <p:sp>
        <p:nvSpPr>
          <p:cNvPr id="5" name="Footer Placeholder 21"/>
          <p:cNvSpPr>
            <a:spLocks noGrp="1"/>
          </p:cNvSpPr>
          <p:nvPr>
            <p:ph type="ftr" sz="quarter" idx="11"/>
          </p:nvPr>
        </p:nvSpPr>
        <p:spPr/>
        <p:txBody>
          <a:bodyPr/>
          <a:lstStyle>
            <a:lvl1pPr>
              <a:defRPr/>
            </a:lvl1pPr>
          </a:lstStyle>
          <a:p>
            <a:r>
              <a:rPr lang="en-US"/>
              <a:t>© Copyright 1992-2018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507127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fld id="{ED63B6C8-8C31-4F63-BA3F-6E6CA0016E25}" type="datetime1">
              <a:rPr lang="en-US" smtClean="0"/>
              <a:t>1/24/2025</a:t>
            </a:fld>
            <a:endParaRPr lang="en-US"/>
          </a:p>
        </p:txBody>
      </p:sp>
      <p:sp>
        <p:nvSpPr>
          <p:cNvPr id="5" name="Footer Placeholder 21"/>
          <p:cNvSpPr>
            <a:spLocks noGrp="1"/>
          </p:cNvSpPr>
          <p:nvPr>
            <p:ph type="ftr" sz="quarter" idx="11"/>
          </p:nvPr>
        </p:nvSpPr>
        <p:spPr/>
        <p:txBody>
          <a:bodyPr/>
          <a:lstStyle>
            <a:lvl1pPr>
              <a:defRPr/>
            </a:lvl1pPr>
          </a:lstStyle>
          <a:p>
            <a:r>
              <a:rPr lang="en-US"/>
              <a:t>© Copyright 1992-2018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1007157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21"/>
          <p:cNvSpPr>
            <a:spLocks noGrp="1"/>
          </p:cNvSpPr>
          <p:nvPr>
            <p:ph type="ftr" sz="quarter" idx="11"/>
          </p:nvPr>
        </p:nvSpPr>
        <p:spPr>
          <a:xfrm>
            <a:off x="4488296" y="6408739"/>
            <a:ext cx="7044267" cy="365125"/>
          </a:xfrm>
        </p:spPr>
        <p:txBody>
          <a:bodyPr/>
          <a:lstStyle>
            <a:lvl1pPr>
              <a:defRPr/>
            </a:lvl1pPr>
          </a:lstStyle>
          <a:p>
            <a:r>
              <a:rPr lang="en-US"/>
              <a:t>© Copyright 1992-2018 by Pearson Education, Inc. All Rights Reserved.</a:t>
            </a:r>
          </a:p>
        </p:txBody>
      </p:sp>
      <p:sp>
        <p:nvSpPr>
          <p:cNvPr id="6" name="Slide Number Placeholder 17"/>
          <p:cNvSpPr>
            <a:spLocks noGrp="1"/>
          </p:cNvSpPr>
          <p:nvPr>
            <p:ph type="sldNum" sz="quarter" idx="12"/>
          </p:nvPr>
        </p:nvSpPr>
        <p:spPr/>
        <p:txBody>
          <a:bodyPr/>
          <a:lstStyle>
            <a:lvl1pPr>
              <a:defRPr/>
            </a:lvl1pPr>
          </a:lstStyle>
          <a:p>
            <a:fld id="{454790C6-A741-44DF-9E39-28056A4AD1F9}" type="slidenum">
              <a:rPr lang="en-US" smtClean="0"/>
              <a:t>‹#›</a:t>
            </a:fld>
            <a:endParaRPr lang="en-US"/>
          </a:p>
        </p:txBody>
      </p:sp>
    </p:spTree>
    <p:extLst>
      <p:ext uri="{BB962C8B-B14F-4D97-AF65-F5344CB8AC3E}">
        <p14:creationId xmlns:p14="http://schemas.microsoft.com/office/powerpoint/2010/main" val="634539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grpSp>
        <p:nvGrpSpPr>
          <p:cNvPr id="5" name="Group 18"/>
          <p:cNvGrpSpPr>
            <a:grpSpLocks/>
          </p:cNvGrpSpPr>
          <p:nvPr/>
        </p:nvGrpSpPr>
        <p:grpSpPr bwMode="auto">
          <a:xfrm>
            <a:off x="-4233" y="4953000"/>
            <a:ext cx="12196233"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7" name="Freeform 20"/>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1332767423 h 528"/>
                <a:gd name="T6" fmla="*/ 120019431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914400" y="1752602"/>
            <a:ext cx="10363200" cy="1829761"/>
          </a:xfrm>
        </p:spPr>
        <p:txBody>
          <a:bodyPr anchor="b"/>
          <a:lstStyle>
            <a:lvl1pPr algn="ct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ct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endParaRPr lang="en-US" dirty="0"/>
          </a:p>
        </p:txBody>
      </p:sp>
    </p:spTree>
    <p:extLst>
      <p:ext uri="{BB962C8B-B14F-4D97-AF65-F5344CB8AC3E}">
        <p14:creationId xmlns:p14="http://schemas.microsoft.com/office/powerpoint/2010/main" val="1757445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2pPr>
              <a:buFont typeface="Wingdings" pitchFamily="2" charset="2"/>
              <a:buChar char="§"/>
              <a:defRPr/>
            </a:lvl2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p>
        </p:txBody>
      </p:sp>
    </p:spTree>
    <p:extLst>
      <p:ext uri="{BB962C8B-B14F-4D97-AF65-F5344CB8AC3E}">
        <p14:creationId xmlns:p14="http://schemas.microsoft.com/office/powerpoint/2010/main" val="2993220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4849284" y="3005138"/>
            <a:ext cx="243416"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5" name="Chevron 4"/>
          <p:cNvSpPr/>
          <p:nvPr/>
        </p:nvSpPr>
        <p:spPr>
          <a:xfrm>
            <a:off x="4599518" y="3005138"/>
            <a:ext cx="24553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2" name="Title 1"/>
          <p:cNvSpPr>
            <a:spLocks noGrp="1"/>
          </p:cNvSpPr>
          <p:nvPr>
            <p:ph type="title"/>
          </p:nvPr>
        </p:nvSpPr>
        <p:spPr>
          <a:xfrm>
            <a:off x="963168" y="1059712"/>
            <a:ext cx="103632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5230284" y="2931712"/>
            <a:ext cx="6096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Edit Master text styles</a:t>
            </a:r>
          </a:p>
        </p:txBody>
      </p:sp>
    </p:spTree>
    <p:extLst>
      <p:ext uri="{BB962C8B-B14F-4D97-AF65-F5344CB8AC3E}">
        <p14:creationId xmlns:p14="http://schemas.microsoft.com/office/powerpoint/2010/main" val="3980455570"/>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Tree>
    <p:extLst>
      <p:ext uri="{BB962C8B-B14F-4D97-AF65-F5344CB8AC3E}">
        <p14:creationId xmlns:p14="http://schemas.microsoft.com/office/powerpoint/2010/main" val="1404747892"/>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8956712"/>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Tree>
    <p:extLst>
      <p:ext uri="{BB962C8B-B14F-4D97-AF65-F5344CB8AC3E}">
        <p14:creationId xmlns:p14="http://schemas.microsoft.com/office/powerpoint/2010/main" val="4123731181"/>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42828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4506022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666751" y="5945188"/>
            <a:ext cx="6587067"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sz="1800" dirty="0">
              <a:latin typeface="Cambria" panose="02040503050406030204" pitchFamily="18" charset="0"/>
              <a:cs typeface="Calibri" panose="020F0502020204030204" pitchFamily="34" charset="0"/>
            </a:endParaRPr>
          </a:p>
        </p:txBody>
      </p:sp>
      <p:sp>
        <p:nvSpPr>
          <p:cNvPr id="6" name="Freeform 18"/>
          <p:cNvSpPr>
            <a:spLocks/>
          </p:cNvSpPr>
          <p:nvPr/>
        </p:nvSpPr>
        <p:spPr bwMode="auto">
          <a:xfrm>
            <a:off x="647700" y="5938838"/>
            <a:ext cx="4921251" cy="933450"/>
          </a:xfrm>
          <a:custGeom>
            <a:avLst/>
            <a:gdLst>
              <a:gd name="T0" fmla="*/ 0 w 5591"/>
              <a:gd name="T1" fmla="*/ 0 h 588"/>
              <a:gd name="T2" fmla="*/ 2147483647 w 5591"/>
              <a:gd name="T3" fmla="*/ 0 h 588"/>
              <a:gd name="T4" fmla="*/ 2147483647 w 5591"/>
              <a:gd name="T5" fmla="*/ 1330642500 h 588"/>
              <a:gd name="T6" fmla="*/ 2091905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sz="1800" dirty="0">
              <a:latin typeface="Calibri" panose="020F0502020204030204" pitchFamily="34" charset="0"/>
              <a:cs typeface="Calibri" panose="020F0502020204030204" pitchFamily="34" charset="0"/>
            </a:endParaRPr>
          </a:p>
        </p:txBody>
      </p:sp>
      <p:sp>
        <p:nvSpPr>
          <p:cNvPr id="7" name="Right Triangle 6"/>
          <p:cNvSpPr>
            <a:spLocks/>
          </p:cNvSpPr>
          <p:nvPr/>
        </p:nvSpPr>
        <p:spPr bwMode="auto">
          <a:xfrm>
            <a:off x="-8056" y="5791253"/>
            <a:ext cx="4536419"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sz="1800" dirty="0">
              <a:latin typeface="Cambria" panose="02040503050406030204" pitchFamily="18" charset="0"/>
            </a:endParaRPr>
          </a:p>
        </p:txBody>
      </p:sp>
      <p:cxnSp>
        <p:nvCxnSpPr>
          <p:cNvPr id="8" name="Straight Connector 7"/>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11552768"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10" name="Chevron 9"/>
          <p:cNvSpPr/>
          <p:nvPr/>
        </p:nvSpPr>
        <p:spPr>
          <a:xfrm>
            <a:off x="11303001" y="4987925"/>
            <a:ext cx="243417"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sz="1800" dirty="0">
              <a:latin typeface="Cambria" panose="02040503050406030204" pitchFamily="18" charset="0"/>
            </a:endParaRP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Tree>
    <p:extLst>
      <p:ext uri="{BB962C8B-B14F-4D97-AF65-F5344CB8AC3E}">
        <p14:creationId xmlns:p14="http://schemas.microsoft.com/office/powerpoint/2010/main" val="3213833779"/>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308406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67010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3007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Date Placeholder 9"/>
          <p:cNvSpPr>
            <a:spLocks noGrp="1"/>
          </p:cNvSpPr>
          <p:nvPr>
            <p:ph type="dt" sz="half" idx="2"/>
          </p:nvPr>
        </p:nvSpPr>
        <p:spPr>
          <a:xfrm>
            <a:off x="8970433" y="6408739"/>
            <a:ext cx="2559051"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Cambria" panose="02040503050406030204" pitchFamily="18" charset="0"/>
                <a:cs typeface="+mn-cs"/>
              </a:defRPr>
            </a:lvl1pPr>
            <a:extLst/>
          </a:lstStyle>
          <a:p>
            <a:fld id="{D9DB4C9F-162C-41E2-B1E1-92892899D1A2}" type="datetime1">
              <a:rPr lang="en-US" smtClean="0"/>
              <a:t>1/24/2025</a:t>
            </a:fld>
            <a:endParaRPr lang="en-US"/>
          </a:p>
        </p:txBody>
      </p:sp>
      <p:sp>
        <p:nvSpPr>
          <p:cNvPr id="22" name="Footer Placeholder 21"/>
          <p:cNvSpPr>
            <a:spLocks noGrp="1"/>
          </p:cNvSpPr>
          <p:nvPr>
            <p:ph type="ftr" sz="quarter" idx="3"/>
          </p:nvPr>
        </p:nvSpPr>
        <p:spPr>
          <a:xfrm>
            <a:off x="609600" y="6408739"/>
            <a:ext cx="8365067"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Cambria" panose="02040503050406030204" pitchFamily="18" charset="0"/>
                <a:cs typeface="+mn-cs"/>
              </a:defRPr>
            </a:lvl1pPr>
            <a:extLst/>
          </a:lstStyle>
          <a:p>
            <a:r>
              <a:rPr lang="en-US"/>
              <a:t>© Copyright 1992-2018 by Pearson Education, Inc. All Rights Reserved.</a:t>
            </a:r>
          </a:p>
        </p:txBody>
      </p:sp>
      <p:sp>
        <p:nvSpPr>
          <p:cNvPr id="18" name="Slide Number Placeholder 17"/>
          <p:cNvSpPr>
            <a:spLocks noGrp="1"/>
          </p:cNvSpPr>
          <p:nvPr>
            <p:ph type="sldNum" sz="quarter" idx="4"/>
          </p:nvPr>
        </p:nvSpPr>
        <p:spPr>
          <a:xfrm>
            <a:off x="11529484" y="6408739"/>
            <a:ext cx="488949" cy="365125"/>
          </a:xfrm>
          <a:prstGeom prst="rect">
            <a:avLst/>
          </a:prstGeom>
        </p:spPr>
        <p:txBody>
          <a:bodyPr vert="horz" wrap="square" lIns="91440" tIns="45720" rIns="91440" bIns="45720" numCol="1" anchor="b" anchorCtr="0" compatLnSpc="1">
            <a:prstTxWarp prst="textNoShape">
              <a:avLst/>
            </a:prstTxWarp>
          </a:bodyPr>
          <a:lstStyle>
            <a:lvl1pPr algn="r">
              <a:defRPr sz="1000">
                <a:latin typeface="Cambria" panose="02040503050406030204" pitchFamily="18" charset="0"/>
                <a:cs typeface="Calibri" panose="020F0502020204030204" pitchFamily="34" charset="0"/>
              </a:defRPr>
            </a:lvl1pPr>
          </a:lstStyle>
          <a:p>
            <a:fld id="{454790C6-A741-44DF-9E39-28056A4AD1F9}" type="slidenum">
              <a:rPr lang="en-US" smtClean="0"/>
              <a:pPr/>
              <a:t>‹#›</a:t>
            </a:fld>
            <a:endParaRPr lang="en-US" dirty="0"/>
          </a:p>
        </p:txBody>
      </p:sp>
    </p:spTree>
    <p:extLst>
      <p:ext uri="{BB962C8B-B14F-4D97-AF65-F5344CB8AC3E}">
        <p14:creationId xmlns:p14="http://schemas.microsoft.com/office/powerpoint/2010/main" val="24495678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Cambria" panose="02040503050406030204" pitchFamily="18" charset="0"/>
          <a:ea typeface="+mn-ea"/>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Cambria" panose="02040503050406030204" pitchFamily="18" charset="0"/>
          <a:ea typeface="+mn-ea"/>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Cambria" panose="02040503050406030204" pitchFamily="18" charset="0"/>
          <a:ea typeface="+mn-ea"/>
          <a:cs typeface="+mn-cs"/>
        </a:defRPr>
      </a:lvl3pPr>
      <a:lvl4pPr marL="1143000" indent="-228600" algn="l" rtl="0" eaLnBrk="1" fontAlgn="base" hangingPunct="1">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4pPr>
      <a:lvl5pPr marL="1143000" indent="-228600" algn="l" rtl="0" eaLnBrk="1" fontAlgn="base" hangingPunct="1">
        <a:spcBef>
          <a:spcPts val="350"/>
        </a:spcBef>
        <a:spcAft>
          <a:spcPct val="0"/>
        </a:spcAft>
        <a:buClr>
          <a:schemeClr val="accent2"/>
        </a:buClr>
        <a:defRPr sz="1900" kern="1200">
          <a:solidFill>
            <a:schemeClr val="tx1"/>
          </a:solidFill>
          <a:latin typeface="Cambria" panose="02040503050406030204" pitchFamily="18" charset="0"/>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609600" y="14811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Tree>
    <p:extLst>
      <p:ext uri="{BB962C8B-B14F-4D97-AF65-F5344CB8AC3E}">
        <p14:creationId xmlns:p14="http://schemas.microsoft.com/office/powerpoint/2010/main" val="221978449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sldNum="0"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Cambria" panose="02040503050406030204" pitchFamily="18" charset="0"/>
          <a:ea typeface="+mj-ea"/>
          <a:cs typeface="+mj-cs"/>
        </a:defRPr>
      </a:lvl1pPr>
      <a:lvl2pPr algn="l" rtl="0" eaLnBrk="1" fontAlgn="base" hangingPunct="1">
        <a:spcBef>
          <a:spcPct val="0"/>
        </a:spcBef>
        <a:spcAft>
          <a:spcPct val="0"/>
        </a:spcAft>
        <a:defRPr sz="4100" b="1">
          <a:solidFill>
            <a:schemeClr val="tx2"/>
          </a:solidFill>
          <a:latin typeface="Lucida Sans Unicode" pitchFamily="34" charset="0"/>
        </a:defRPr>
      </a:lvl2pPr>
      <a:lvl3pPr algn="l" rtl="0" eaLnBrk="1" fontAlgn="base" hangingPunct="1">
        <a:spcBef>
          <a:spcPct val="0"/>
        </a:spcBef>
        <a:spcAft>
          <a:spcPct val="0"/>
        </a:spcAft>
        <a:defRPr sz="4100" b="1">
          <a:solidFill>
            <a:schemeClr val="tx2"/>
          </a:solidFill>
          <a:latin typeface="Lucida Sans Unicode" pitchFamily="34" charset="0"/>
        </a:defRPr>
      </a:lvl3pPr>
      <a:lvl4pPr algn="l" rtl="0" eaLnBrk="1" fontAlgn="base" hangingPunct="1">
        <a:spcBef>
          <a:spcPct val="0"/>
        </a:spcBef>
        <a:spcAft>
          <a:spcPct val="0"/>
        </a:spcAft>
        <a:defRPr sz="4100" b="1">
          <a:solidFill>
            <a:schemeClr val="tx2"/>
          </a:solidFill>
          <a:latin typeface="Lucida Sans Unicode" pitchFamily="34" charset="0"/>
        </a:defRPr>
      </a:lvl4pPr>
      <a:lvl5pPr algn="l" rtl="0" eaLnBrk="1" fontAlgn="base" hangingPunct="1">
        <a:spcBef>
          <a:spcPct val="0"/>
        </a:spcBef>
        <a:spcAft>
          <a:spcPct val="0"/>
        </a:spcAft>
        <a:defRPr sz="4100" b="1">
          <a:solidFill>
            <a:schemeClr val="tx2"/>
          </a:solidFill>
          <a:latin typeface="Lucida Sans Unicode" pitchFamily="34"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1200"/>
        </a:spcBef>
        <a:spcAft>
          <a:spcPct val="0"/>
        </a:spcAft>
        <a:buClr>
          <a:schemeClr val="accent1"/>
        </a:buClr>
        <a:buSzPct val="68000"/>
        <a:buFont typeface="Wingdings 3" panose="05040102010807070707" pitchFamily="18" charset="2"/>
        <a:buChar char=""/>
        <a:defRPr sz="2700" kern="1200">
          <a:solidFill>
            <a:schemeClr val="tx1"/>
          </a:solidFill>
          <a:latin typeface="Cambria" panose="02040503050406030204" pitchFamily="18" charset="0"/>
          <a:ea typeface="+mn-ea"/>
          <a:cs typeface="+mn-cs"/>
        </a:defRPr>
      </a:lvl1pPr>
      <a:lvl2pPr marL="620713" indent="-228600" algn="l" rtl="0" eaLnBrk="1" fontAlgn="base" hangingPunct="1">
        <a:spcBef>
          <a:spcPts val="1200"/>
        </a:spcBef>
        <a:spcAft>
          <a:spcPct val="0"/>
        </a:spcAft>
        <a:buClr>
          <a:schemeClr val="accent1"/>
        </a:buClr>
        <a:buFont typeface="Verdana" panose="020B0604030504040204" pitchFamily="34" charset="0"/>
        <a:buChar char="◦"/>
        <a:defRPr sz="2300" kern="1200">
          <a:solidFill>
            <a:schemeClr val="tx1"/>
          </a:solidFill>
          <a:latin typeface="Cambria" panose="02040503050406030204" pitchFamily="18" charset="0"/>
          <a:ea typeface="+mn-ea"/>
          <a:cs typeface="+mn-cs"/>
        </a:defRPr>
      </a:lvl2pPr>
      <a:lvl3pPr marL="858838" indent="-228600" algn="l" rtl="0" eaLnBrk="1" fontAlgn="base" hangingPunct="1">
        <a:spcBef>
          <a:spcPts val="1200"/>
        </a:spcBef>
        <a:spcAft>
          <a:spcPct val="0"/>
        </a:spcAft>
        <a:buClr>
          <a:schemeClr val="accent2"/>
        </a:buClr>
        <a:buSzPct val="100000"/>
        <a:buFont typeface="Wingdings 2" panose="05020102010507070707" pitchFamily="18" charset="2"/>
        <a:buChar char=""/>
        <a:defRPr sz="2100" kern="1200">
          <a:solidFill>
            <a:schemeClr val="tx1"/>
          </a:solidFill>
          <a:latin typeface="Cambria" panose="02040503050406030204" pitchFamily="18" charset="0"/>
          <a:ea typeface="+mn-ea"/>
          <a:cs typeface="+mn-cs"/>
        </a:defRPr>
      </a:lvl3pPr>
      <a:lvl4pPr marL="1143000" indent="-228600" algn="l" rtl="0" eaLnBrk="1" fontAlgn="base" hangingPunct="1">
        <a:spcBef>
          <a:spcPts val="1200"/>
        </a:spcBef>
        <a:spcAft>
          <a:spcPct val="0"/>
        </a:spcAft>
        <a:buClr>
          <a:schemeClr val="accent2"/>
        </a:buClr>
        <a:defRPr sz="1900" kern="1200">
          <a:solidFill>
            <a:schemeClr val="tx1"/>
          </a:solidFill>
          <a:latin typeface="Cambria" panose="02040503050406030204" pitchFamily="18" charset="0"/>
          <a:ea typeface="+mn-ea"/>
          <a:cs typeface="+mn-cs"/>
        </a:defRPr>
      </a:lvl4pPr>
      <a:lvl5pPr marL="1143000" indent="-228600" algn="l" rtl="0" eaLnBrk="1" fontAlgn="base" hangingPunct="1">
        <a:spcBef>
          <a:spcPts val="1200"/>
        </a:spcBef>
        <a:spcAft>
          <a:spcPct val="0"/>
        </a:spcAft>
        <a:buClr>
          <a:schemeClr val="accent2"/>
        </a:buClr>
        <a:defRPr sz="1900" kern="1200">
          <a:solidFill>
            <a:schemeClr val="tx1"/>
          </a:solidFill>
          <a:latin typeface="Cambria" panose="02040503050406030204" pitchFamily="18" charset="0"/>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hyperlink" Target="https://www.w3schools.com/java/java_polymorphism.asp" TargetMode="External"/><Relationship Id="rId2" Type="http://schemas.openxmlformats.org/officeDocument/2006/relationships/hyperlink" Target="https://www.w3schools.com/java/java_inheritance.asp" TargetMode="Externa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Operation_(mathematics)"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hyperlink" Target="https://en.wikipedia.org/wiki/Infix_notation" TargetMode="External"/><Relationship Id="rId4" Type="http://schemas.openxmlformats.org/officeDocument/2006/relationships/hyperlink" Target="https://en.wikipedia.org/wiki/Operands"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12.xml"/><Relationship Id="rId1" Type="http://schemas.openxmlformats.org/officeDocument/2006/relationships/video" Target="https://www.youtube.com/embed/d08oJlwVgyo?feature=oembed"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12.xml"/><Relationship Id="rId1" Type="http://schemas.openxmlformats.org/officeDocument/2006/relationships/video" Target="https://www.youtube.com/embed/GvbdMwfjB98?feature=oembed"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542F6-49C0-4873-9627-FA9C6780062D}"/>
              </a:ext>
            </a:extLst>
          </p:cNvPr>
          <p:cNvSpPr>
            <a:spLocks noGrp="1"/>
          </p:cNvSpPr>
          <p:nvPr>
            <p:ph type="ctrTitle"/>
          </p:nvPr>
        </p:nvSpPr>
        <p:spPr/>
        <p:txBody>
          <a:bodyPr>
            <a:normAutofit fontScale="90000"/>
          </a:bodyPr>
          <a:lstStyle/>
          <a:p>
            <a:pPr>
              <a:defRPr/>
            </a:pPr>
            <a:r>
              <a:rPr lang="en-US" dirty="0">
                <a:solidFill>
                  <a:srgbClr val="3380E6"/>
                </a:solidFill>
                <a:latin typeface="Calibri" panose="020F0502020204030204" pitchFamily="34" charset="0"/>
              </a:rPr>
              <a:t>Chapter 9</a:t>
            </a:r>
            <a:br>
              <a:rPr lang="en-US" dirty="0">
                <a:solidFill>
                  <a:srgbClr val="3380E6"/>
                </a:solidFill>
                <a:latin typeface="Calibri" panose="020F0502020204030204" pitchFamily="34" charset="0"/>
              </a:rPr>
            </a:br>
            <a:r>
              <a:rPr lang="en-US" dirty="0">
                <a:solidFill>
                  <a:srgbClr val="3380E6"/>
                </a:solidFill>
                <a:latin typeface="Calibri" panose="020F0502020204030204" pitchFamily="34" charset="0"/>
              </a:rPr>
              <a:t>Object-Oriented Programming: Inheritance</a:t>
            </a:r>
          </a:p>
        </p:txBody>
      </p:sp>
      <p:sp>
        <p:nvSpPr>
          <p:cNvPr id="4" name="Footer Placeholder 3">
            <a:extLst>
              <a:ext uri="{FF2B5EF4-FFF2-40B4-BE49-F238E27FC236}">
                <a16:creationId xmlns:a16="http://schemas.microsoft.com/office/drawing/2014/main" id="{15B9F7E3-2114-43A7-8E01-A5DA8962BE92}"/>
              </a:ext>
            </a:extLst>
          </p:cNvPr>
          <p:cNvSpPr>
            <a:spLocks noGrp="1"/>
          </p:cNvSpPr>
          <p:nvPr>
            <p:ph type="ftr" sz="quarter" idx="12"/>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878416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02">
            <a:extLst>
              <a:ext uri="{FF2B5EF4-FFF2-40B4-BE49-F238E27FC236}">
                <a16:creationId xmlns:a16="http://schemas.microsoft.com/office/drawing/2014/main" id="{744C0CBF-A18D-4BE2-BE69-7609F87C3866}"/>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107950" y="0"/>
            <a:ext cx="11974513" cy="6858000"/>
          </a:xfrm>
          <a:prstGeom prst="rect">
            <a:avLst/>
          </a:prstGeom>
        </p:spPr>
      </p:pic>
      <p:sp>
        <p:nvSpPr>
          <p:cNvPr id="2" name="Footer Placeholder 1">
            <a:extLst>
              <a:ext uri="{FF2B5EF4-FFF2-40B4-BE49-F238E27FC236}">
                <a16:creationId xmlns:a16="http://schemas.microsoft.com/office/drawing/2014/main" id="{3085FE64-2336-44E3-AAE7-BBC5006FD79C}"/>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862662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03">
            <a:extLst>
              <a:ext uri="{FF2B5EF4-FFF2-40B4-BE49-F238E27FC236}">
                <a16:creationId xmlns:a16="http://schemas.microsoft.com/office/drawing/2014/main" id="{C0CB2C4B-13E8-46E3-AE01-EE6FE6639A7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43838" y="0"/>
            <a:ext cx="11794733" cy="6858000"/>
          </a:xfrm>
          <a:prstGeom prst="rect">
            <a:avLst/>
          </a:prstGeom>
        </p:spPr>
      </p:pic>
      <p:sp>
        <p:nvSpPr>
          <p:cNvPr id="2" name="Footer Placeholder 1">
            <a:extLst>
              <a:ext uri="{FF2B5EF4-FFF2-40B4-BE49-F238E27FC236}">
                <a16:creationId xmlns:a16="http://schemas.microsoft.com/office/drawing/2014/main" id="{B8FCC037-1435-4091-944A-54C7A776AC3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662159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E7C3A-6D30-4E0F-8F07-C772AF6732A3}"/>
              </a:ext>
            </a:extLst>
          </p:cNvPr>
          <p:cNvSpPr>
            <a:spLocks noGrp="1"/>
          </p:cNvSpPr>
          <p:nvPr>
            <p:ph type="title"/>
          </p:nvPr>
        </p:nvSpPr>
        <p:spPr>
          <a:xfrm>
            <a:off x="609600" y="274638"/>
            <a:ext cx="10972800" cy="681054"/>
          </a:xfrm>
        </p:spPr>
        <p:txBody>
          <a:bodyPr/>
          <a:lstStyle/>
          <a:p>
            <a:pPr fontAlgn="auto">
              <a:spcAft>
                <a:spcPts val="0"/>
              </a:spcAft>
              <a:defRPr/>
            </a:pPr>
            <a:r>
              <a:rPr lang="en-US" dirty="0">
                <a:solidFill>
                  <a:srgbClr val="24B5A1"/>
                </a:solidFill>
                <a:latin typeface="Calibri" panose="020F0502020204030204" pitchFamily="34" charset="0"/>
              </a:rPr>
              <a:t>9.1  </a:t>
            </a:r>
            <a:r>
              <a:rPr lang="en-US" dirty="0">
                <a:solidFill>
                  <a:srgbClr val="3380E6"/>
                </a:solidFill>
                <a:latin typeface="Calibri" panose="020F0502020204030204" pitchFamily="34" charset="0"/>
              </a:rPr>
              <a:t>Introduction</a:t>
            </a:r>
          </a:p>
        </p:txBody>
      </p:sp>
      <p:sp>
        <p:nvSpPr>
          <p:cNvPr id="13315" name="Text Placeholder 2">
            <a:extLst>
              <a:ext uri="{FF2B5EF4-FFF2-40B4-BE49-F238E27FC236}">
                <a16:creationId xmlns:a16="http://schemas.microsoft.com/office/drawing/2014/main" id="{409607F0-475B-4726-943B-9A5148100A19}"/>
              </a:ext>
            </a:extLst>
          </p:cNvPr>
          <p:cNvSpPr>
            <a:spLocks noGrp="1"/>
          </p:cNvSpPr>
          <p:nvPr>
            <p:ph type="body" idx="1"/>
          </p:nvPr>
        </p:nvSpPr>
        <p:spPr>
          <a:xfrm>
            <a:off x="609600" y="1166019"/>
            <a:ext cx="10972800" cy="4525962"/>
          </a:xfrm>
        </p:spPr>
        <p:txBody>
          <a:bodyPr/>
          <a:lstStyle/>
          <a:p>
            <a:pPr eaLnBrk="1" hangingPunct="1"/>
            <a:r>
              <a:rPr lang="en-US" altLang="en-US" dirty="0">
                <a:solidFill>
                  <a:srgbClr val="0000FF"/>
                </a:solidFill>
              </a:rPr>
              <a:t>Inheritance</a:t>
            </a:r>
          </a:p>
          <a:p>
            <a:pPr lvl="1" eaLnBrk="1" hangingPunct="1">
              <a:spcBef>
                <a:spcPts val="1200"/>
              </a:spcBef>
            </a:pPr>
            <a:r>
              <a:rPr lang="en-US" altLang="en-US" sz="3200" dirty="0">
                <a:solidFill>
                  <a:srgbClr val="000000"/>
                </a:solidFill>
              </a:rPr>
              <a:t>A new class is created by acquiring an existing class’s members and possibly embellishing them with new or modified capabilities. </a:t>
            </a:r>
          </a:p>
          <a:p>
            <a:pPr lvl="1" eaLnBrk="1" hangingPunct="1">
              <a:spcBef>
                <a:spcPts val="1200"/>
              </a:spcBef>
            </a:pPr>
            <a:r>
              <a:rPr lang="en-US" altLang="en-US" sz="3200" dirty="0">
                <a:solidFill>
                  <a:srgbClr val="000000"/>
                </a:solidFill>
              </a:rPr>
              <a:t>Can save time during program development by basing new classes on existing proven and debugged high-quality software. </a:t>
            </a:r>
          </a:p>
          <a:p>
            <a:pPr lvl="1" eaLnBrk="1" hangingPunct="1">
              <a:spcBef>
                <a:spcPts val="1200"/>
              </a:spcBef>
            </a:pPr>
            <a:r>
              <a:rPr lang="en-US" altLang="en-US" sz="3200" dirty="0">
                <a:solidFill>
                  <a:srgbClr val="000000"/>
                </a:solidFill>
              </a:rPr>
              <a:t>Increases the likelihood that a system will be implemented and maintained effectively.</a:t>
            </a:r>
          </a:p>
        </p:txBody>
      </p:sp>
      <p:sp>
        <p:nvSpPr>
          <p:cNvPr id="4" name="Footer Placeholder 3">
            <a:extLst>
              <a:ext uri="{FF2B5EF4-FFF2-40B4-BE49-F238E27FC236}">
                <a16:creationId xmlns:a16="http://schemas.microsoft.com/office/drawing/2014/main" id="{B7489553-E8E0-4647-97E9-C667B295FE34}"/>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601181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0">
            <a:extLst>
              <a:ext uri="{FF2B5EF4-FFF2-40B4-BE49-F238E27FC236}">
                <a16:creationId xmlns:a16="http://schemas.microsoft.com/office/drawing/2014/main" id="{86215C0C-1FE5-4445-8A24-8D049DBB5EED}"/>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340436" y="737743"/>
            <a:ext cx="4446877" cy="5657885"/>
          </a:xfrm>
          <a:prstGeom prst="rect">
            <a:avLst/>
          </a:prstGeom>
        </p:spPr>
      </p:pic>
      <p:sp>
        <p:nvSpPr>
          <p:cNvPr id="2" name="Title 1">
            <a:extLst>
              <a:ext uri="{FF2B5EF4-FFF2-40B4-BE49-F238E27FC236}">
                <a16:creationId xmlns:a16="http://schemas.microsoft.com/office/drawing/2014/main" id="{BF5BC38C-4B3B-4AAA-BA4C-1966EEBA92AE}"/>
              </a:ext>
            </a:extLst>
          </p:cNvPr>
          <p:cNvSpPr>
            <a:spLocks noGrp="1"/>
          </p:cNvSpPr>
          <p:nvPr>
            <p:ph type="title"/>
          </p:nvPr>
        </p:nvSpPr>
        <p:spPr>
          <a:xfrm>
            <a:off x="609600" y="274638"/>
            <a:ext cx="10972800" cy="57626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9.1  </a:t>
            </a:r>
            <a:r>
              <a:rPr lang="en-US" dirty="0">
                <a:solidFill>
                  <a:srgbClr val="3380E6"/>
                </a:solidFill>
                <a:latin typeface="Calibri" panose="020F0502020204030204" pitchFamily="34" charset="0"/>
              </a:rPr>
              <a:t>Introduction - </a:t>
            </a:r>
            <a:r>
              <a:rPr lang="en-US" altLang="en-US" dirty="0">
                <a:solidFill>
                  <a:srgbClr val="0000FF"/>
                </a:solidFill>
              </a:rPr>
              <a:t>Inheritance</a:t>
            </a:r>
            <a:br>
              <a:rPr lang="en-US" altLang="en-US" dirty="0">
                <a:solidFill>
                  <a:srgbClr val="0000FF"/>
                </a:solidFill>
              </a:rPr>
            </a:br>
            <a:endParaRPr lang="en-US" dirty="0">
              <a:solidFill>
                <a:srgbClr val="3380E6"/>
              </a:solidFill>
              <a:latin typeface="Calibri" panose="020F0502020204030204" pitchFamily="34" charset="0"/>
            </a:endParaRPr>
          </a:p>
        </p:txBody>
      </p:sp>
      <p:sp>
        <p:nvSpPr>
          <p:cNvPr id="14339" name="Text Placeholder 2">
            <a:extLst>
              <a:ext uri="{FF2B5EF4-FFF2-40B4-BE49-F238E27FC236}">
                <a16:creationId xmlns:a16="http://schemas.microsoft.com/office/drawing/2014/main" id="{25E5B571-0FD1-4191-89B2-318D5C49EEB5}"/>
              </a:ext>
            </a:extLst>
          </p:cNvPr>
          <p:cNvSpPr>
            <a:spLocks noGrp="1"/>
          </p:cNvSpPr>
          <p:nvPr>
            <p:ph type="body" idx="1"/>
          </p:nvPr>
        </p:nvSpPr>
        <p:spPr>
          <a:xfrm>
            <a:off x="0" y="850900"/>
            <a:ext cx="9074727" cy="4525962"/>
          </a:xfrm>
        </p:spPr>
        <p:txBody>
          <a:bodyPr/>
          <a:lstStyle/>
          <a:p>
            <a:pPr eaLnBrk="1" hangingPunct="1">
              <a:lnSpc>
                <a:spcPct val="90000"/>
              </a:lnSpc>
              <a:spcBef>
                <a:spcPts val="1200"/>
              </a:spcBef>
            </a:pPr>
            <a:r>
              <a:rPr lang="en-US" altLang="en-US" sz="2500" dirty="0">
                <a:solidFill>
                  <a:srgbClr val="000000"/>
                </a:solidFill>
              </a:rPr>
              <a:t>When creating a class, rather than declaring completely new members, you can designate that the new class should </a:t>
            </a:r>
            <a:r>
              <a:rPr lang="en-US" altLang="en-US" sz="2500" i="1" dirty="0">
                <a:solidFill>
                  <a:srgbClr val="000000"/>
                </a:solidFill>
              </a:rPr>
              <a:t>inherit</a:t>
            </a:r>
            <a:r>
              <a:rPr lang="en-US" altLang="en-US" sz="2500" dirty="0">
                <a:solidFill>
                  <a:srgbClr val="000000"/>
                </a:solidFill>
              </a:rPr>
              <a:t> the members of an existing class. </a:t>
            </a:r>
          </a:p>
          <a:p>
            <a:pPr lvl="1" eaLnBrk="1" hangingPunct="1">
              <a:lnSpc>
                <a:spcPct val="90000"/>
              </a:lnSpc>
              <a:spcBef>
                <a:spcPts val="1200"/>
              </a:spcBef>
            </a:pPr>
            <a:r>
              <a:rPr lang="en-US" altLang="en-US" sz="2100" dirty="0">
                <a:solidFill>
                  <a:srgbClr val="000000"/>
                </a:solidFill>
              </a:rPr>
              <a:t>Existing class is the </a:t>
            </a:r>
            <a:r>
              <a:rPr lang="en-US" altLang="en-US" sz="2100" dirty="0">
                <a:solidFill>
                  <a:srgbClr val="0000FF"/>
                </a:solidFill>
              </a:rPr>
              <a:t>superclass</a:t>
            </a:r>
          </a:p>
          <a:p>
            <a:pPr lvl="1" eaLnBrk="1" hangingPunct="1">
              <a:lnSpc>
                <a:spcPct val="90000"/>
              </a:lnSpc>
              <a:spcBef>
                <a:spcPts val="1200"/>
              </a:spcBef>
            </a:pPr>
            <a:r>
              <a:rPr lang="en-US" altLang="en-US" sz="2100" dirty="0">
                <a:solidFill>
                  <a:srgbClr val="000000"/>
                </a:solidFill>
              </a:rPr>
              <a:t>New class is the </a:t>
            </a:r>
            <a:r>
              <a:rPr lang="en-US" altLang="en-US" sz="2100" dirty="0">
                <a:solidFill>
                  <a:srgbClr val="0000FF"/>
                </a:solidFill>
              </a:rPr>
              <a:t>subclass</a:t>
            </a:r>
            <a:endParaRPr lang="en-US" altLang="en-US" sz="2100" dirty="0">
              <a:solidFill>
                <a:srgbClr val="000000"/>
              </a:solidFill>
            </a:endParaRPr>
          </a:p>
          <a:p>
            <a:pPr eaLnBrk="1" hangingPunct="1">
              <a:lnSpc>
                <a:spcPct val="90000"/>
              </a:lnSpc>
              <a:spcBef>
                <a:spcPts val="1200"/>
              </a:spcBef>
            </a:pPr>
            <a:r>
              <a:rPr lang="en-US" altLang="en-US" sz="2500" dirty="0">
                <a:solidFill>
                  <a:srgbClr val="000000"/>
                </a:solidFill>
              </a:rPr>
              <a:t>A subclass can be a superclass of future subclasses. </a:t>
            </a:r>
          </a:p>
          <a:p>
            <a:pPr eaLnBrk="1" hangingPunct="1">
              <a:lnSpc>
                <a:spcPct val="90000"/>
              </a:lnSpc>
              <a:spcBef>
                <a:spcPts val="1200"/>
              </a:spcBef>
            </a:pPr>
            <a:r>
              <a:rPr lang="en-US" altLang="en-US" sz="2500" dirty="0">
                <a:solidFill>
                  <a:srgbClr val="000000"/>
                </a:solidFill>
              </a:rPr>
              <a:t>A subclass can add its own fields and methods. </a:t>
            </a:r>
          </a:p>
          <a:p>
            <a:pPr eaLnBrk="1" hangingPunct="1">
              <a:lnSpc>
                <a:spcPct val="90000"/>
              </a:lnSpc>
              <a:spcBef>
                <a:spcPts val="1200"/>
              </a:spcBef>
            </a:pPr>
            <a:r>
              <a:rPr lang="en-US" altLang="en-US" sz="2500" dirty="0">
                <a:solidFill>
                  <a:srgbClr val="000000"/>
                </a:solidFill>
              </a:rPr>
              <a:t>A subclass is more specific than its superclass and represents a more specialized group of objects. </a:t>
            </a:r>
          </a:p>
          <a:p>
            <a:pPr eaLnBrk="1" hangingPunct="1">
              <a:lnSpc>
                <a:spcPct val="90000"/>
              </a:lnSpc>
              <a:spcBef>
                <a:spcPts val="1200"/>
              </a:spcBef>
            </a:pPr>
            <a:r>
              <a:rPr lang="en-US" altLang="en-US" sz="2500" dirty="0">
                <a:solidFill>
                  <a:srgbClr val="000000"/>
                </a:solidFill>
              </a:rPr>
              <a:t>The subclass exhibits the behaviors of its superclass and can add behaviors that are specific to the subclass. </a:t>
            </a:r>
          </a:p>
          <a:p>
            <a:pPr lvl="1" eaLnBrk="1" hangingPunct="1">
              <a:lnSpc>
                <a:spcPct val="90000"/>
              </a:lnSpc>
              <a:spcBef>
                <a:spcPts val="1200"/>
              </a:spcBef>
            </a:pPr>
            <a:r>
              <a:rPr lang="en-US" altLang="en-US" sz="2100" dirty="0">
                <a:solidFill>
                  <a:srgbClr val="000000"/>
                </a:solidFill>
              </a:rPr>
              <a:t>This is why inheritance is sometimes referred to as </a:t>
            </a:r>
            <a:r>
              <a:rPr lang="en-US" altLang="en-US" sz="2100" dirty="0">
                <a:solidFill>
                  <a:srgbClr val="0000FF"/>
                </a:solidFill>
              </a:rPr>
              <a:t>specialization</a:t>
            </a:r>
            <a:r>
              <a:rPr lang="en-US" altLang="en-US" sz="2100" dirty="0">
                <a:solidFill>
                  <a:srgbClr val="000000"/>
                </a:solidFill>
              </a:rPr>
              <a:t>. </a:t>
            </a:r>
          </a:p>
        </p:txBody>
      </p:sp>
      <p:sp>
        <p:nvSpPr>
          <p:cNvPr id="4" name="Footer Placeholder 3">
            <a:extLst>
              <a:ext uri="{FF2B5EF4-FFF2-40B4-BE49-F238E27FC236}">
                <a16:creationId xmlns:a16="http://schemas.microsoft.com/office/drawing/2014/main" id="{A69FF072-03A0-499D-A512-C3774C844C57}"/>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164462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0841-41CE-4D4F-B7A4-12481B9548FC}"/>
              </a:ext>
            </a:extLst>
          </p:cNvPr>
          <p:cNvSpPr>
            <a:spLocks noGrp="1"/>
          </p:cNvSpPr>
          <p:nvPr>
            <p:ph type="title"/>
          </p:nvPr>
        </p:nvSpPr>
        <p:spPr>
          <a:xfrm>
            <a:off x="609600" y="274638"/>
            <a:ext cx="10972800" cy="576262"/>
          </a:xfrm>
        </p:spPr>
        <p:txBody>
          <a:bodyPr>
            <a:noAutofit/>
          </a:bodyPr>
          <a:lstStyle/>
          <a:p>
            <a:pPr fontAlgn="auto">
              <a:spcAft>
                <a:spcPts val="0"/>
              </a:spcAft>
              <a:defRPr/>
            </a:pPr>
            <a:r>
              <a:rPr lang="en-US" sz="4800" dirty="0">
                <a:solidFill>
                  <a:srgbClr val="24B5A1"/>
                </a:solidFill>
                <a:latin typeface="Calibri" panose="020F0502020204030204" pitchFamily="34" charset="0"/>
              </a:rPr>
              <a:t>9.1  </a:t>
            </a:r>
            <a:r>
              <a:rPr lang="en-US" sz="4800" dirty="0">
                <a:solidFill>
                  <a:srgbClr val="3380E6"/>
                </a:solidFill>
                <a:latin typeface="Calibri" panose="020F0502020204030204" pitchFamily="34" charset="0"/>
              </a:rPr>
              <a:t>Introduction – </a:t>
            </a:r>
            <a:r>
              <a:rPr lang="en-US" altLang="en-US" sz="4800" dirty="0">
                <a:solidFill>
                  <a:srgbClr val="0000FF"/>
                </a:solidFill>
              </a:rPr>
              <a:t>Inheritance cont.</a:t>
            </a:r>
            <a:endParaRPr lang="en-US" sz="4800" dirty="0">
              <a:solidFill>
                <a:srgbClr val="3380E6"/>
              </a:solidFill>
              <a:latin typeface="Calibri" panose="020F0502020204030204" pitchFamily="34" charset="0"/>
            </a:endParaRPr>
          </a:p>
        </p:txBody>
      </p:sp>
      <p:sp>
        <p:nvSpPr>
          <p:cNvPr id="15363" name="Text Placeholder 2">
            <a:extLst>
              <a:ext uri="{FF2B5EF4-FFF2-40B4-BE49-F238E27FC236}">
                <a16:creationId xmlns:a16="http://schemas.microsoft.com/office/drawing/2014/main" id="{56B2E190-D6B9-4634-8B42-DE27B7FF8854}"/>
              </a:ext>
            </a:extLst>
          </p:cNvPr>
          <p:cNvSpPr>
            <a:spLocks noGrp="1"/>
          </p:cNvSpPr>
          <p:nvPr>
            <p:ph type="body" idx="1"/>
          </p:nvPr>
        </p:nvSpPr>
        <p:spPr>
          <a:xfrm>
            <a:off x="223838" y="850900"/>
            <a:ext cx="9348788" cy="4525962"/>
          </a:xfrm>
        </p:spPr>
        <p:txBody>
          <a:bodyPr/>
          <a:lstStyle/>
          <a:p>
            <a:pPr eaLnBrk="1" hangingPunct="1">
              <a:spcBef>
                <a:spcPts val="1200"/>
              </a:spcBef>
            </a:pPr>
            <a:r>
              <a:rPr lang="en-US" altLang="en-US" sz="3200" dirty="0">
                <a:solidFill>
                  <a:srgbClr val="000000"/>
                </a:solidFill>
              </a:rPr>
              <a:t>The </a:t>
            </a:r>
            <a:r>
              <a:rPr lang="en-US" altLang="en-US" sz="3200" dirty="0">
                <a:solidFill>
                  <a:srgbClr val="0000FF"/>
                </a:solidFill>
              </a:rPr>
              <a:t>direct superclass</a:t>
            </a:r>
            <a:r>
              <a:rPr lang="en-US" altLang="en-US" sz="3200" dirty="0">
                <a:solidFill>
                  <a:srgbClr val="000000"/>
                </a:solidFill>
              </a:rPr>
              <a:t> is the superclass from which the subclass explicitly inherits. </a:t>
            </a:r>
          </a:p>
          <a:p>
            <a:pPr eaLnBrk="1" hangingPunct="1">
              <a:spcBef>
                <a:spcPts val="1200"/>
              </a:spcBef>
            </a:pPr>
            <a:r>
              <a:rPr lang="en-US" altLang="en-US" sz="3200" dirty="0">
                <a:solidFill>
                  <a:srgbClr val="000000"/>
                </a:solidFill>
              </a:rPr>
              <a:t>An </a:t>
            </a:r>
            <a:r>
              <a:rPr lang="en-US" altLang="en-US" sz="3200" dirty="0">
                <a:solidFill>
                  <a:srgbClr val="0000FF"/>
                </a:solidFill>
              </a:rPr>
              <a:t>indirect superclass</a:t>
            </a:r>
            <a:r>
              <a:rPr lang="en-US" altLang="en-US" sz="3200" dirty="0">
                <a:solidFill>
                  <a:srgbClr val="000000"/>
                </a:solidFill>
              </a:rPr>
              <a:t> is any class above the direct superclass in the </a:t>
            </a:r>
            <a:r>
              <a:rPr lang="en-US" altLang="en-US" sz="3200" dirty="0">
                <a:solidFill>
                  <a:srgbClr val="0000FF"/>
                </a:solidFill>
              </a:rPr>
              <a:t>class hierarchy</a:t>
            </a:r>
            <a:r>
              <a:rPr lang="en-US" altLang="en-US" sz="3200" dirty="0">
                <a:solidFill>
                  <a:srgbClr val="000000"/>
                </a:solidFill>
              </a:rPr>
              <a:t>. </a:t>
            </a:r>
          </a:p>
          <a:p>
            <a:pPr eaLnBrk="1" hangingPunct="1">
              <a:spcBef>
                <a:spcPts val="1200"/>
              </a:spcBef>
            </a:pPr>
            <a:r>
              <a:rPr lang="en-US" altLang="en-US" sz="3200" dirty="0">
                <a:solidFill>
                  <a:srgbClr val="000000"/>
                </a:solidFill>
              </a:rPr>
              <a:t>The Java class hierarchy begins with class </a:t>
            </a:r>
            <a:r>
              <a:rPr lang="en-US" altLang="en-US" sz="3200" dirty="0">
                <a:solidFill>
                  <a:srgbClr val="000000"/>
                </a:solidFill>
                <a:latin typeface="Consolas" panose="020B0609020204030204" pitchFamily="49" charset="0"/>
              </a:rPr>
              <a:t>Object</a:t>
            </a:r>
            <a:r>
              <a:rPr lang="en-US" altLang="en-US" sz="3200" dirty="0">
                <a:solidFill>
                  <a:srgbClr val="000000"/>
                </a:solidFill>
              </a:rPr>
              <a:t> (in package </a:t>
            </a:r>
            <a:r>
              <a:rPr lang="en-US" altLang="en-US" sz="3200" dirty="0" err="1">
                <a:solidFill>
                  <a:srgbClr val="000000"/>
                </a:solidFill>
                <a:latin typeface="Consolas" panose="020B0609020204030204" pitchFamily="49" charset="0"/>
              </a:rPr>
              <a:t>java.lang</a:t>
            </a:r>
            <a:r>
              <a:rPr lang="en-US" altLang="en-US" sz="3200" dirty="0">
                <a:solidFill>
                  <a:srgbClr val="000000"/>
                </a:solidFill>
              </a:rPr>
              <a:t>)</a:t>
            </a:r>
          </a:p>
          <a:p>
            <a:pPr lvl="1" eaLnBrk="1" hangingPunct="1">
              <a:spcBef>
                <a:spcPts val="1200"/>
              </a:spcBef>
            </a:pPr>
            <a:r>
              <a:rPr lang="en-US" altLang="en-US" sz="3200" i="1" dirty="0">
                <a:solidFill>
                  <a:srgbClr val="000000"/>
                </a:solidFill>
              </a:rPr>
              <a:t>Every</a:t>
            </a:r>
            <a:r>
              <a:rPr lang="en-US" altLang="en-US" sz="3200" dirty="0">
                <a:solidFill>
                  <a:srgbClr val="000000"/>
                </a:solidFill>
              </a:rPr>
              <a:t> class in Java directly or indirectly </a:t>
            </a:r>
            <a:r>
              <a:rPr lang="en-US" altLang="en-US" sz="3200" dirty="0">
                <a:solidFill>
                  <a:srgbClr val="0000FF"/>
                </a:solidFill>
              </a:rPr>
              <a:t>extends</a:t>
            </a:r>
            <a:r>
              <a:rPr lang="en-US" altLang="en-US" sz="3200" dirty="0">
                <a:solidFill>
                  <a:srgbClr val="000000"/>
                </a:solidFill>
              </a:rPr>
              <a:t> (or “inherits from”) </a:t>
            </a:r>
            <a:r>
              <a:rPr lang="en-US" altLang="en-US" sz="3200" b="1" i="1" dirty="0">
                <a:solidFill>
                  <a:srgbClr val="000000"/>
                </a:solidFill>
                <a:latin typeface="Consolas" panose="020B0609020204030204" pitchFamily="49" charset="0"/>
              </a:rPr>
              <a:t>Object</a:t>
            </a:r>
            <a:r>
              <a:rPr lang="en-US" altLang="en-US" sz="3200" dirty="0">
                <a:solidFill>
                  <a:srgbClr val="000000"/>
                </a:solidFill>
              </a:rPr>
              <a:t>. </a:t>
            </a:r>
          </a:p>
          <a:p>
            <a:pPr eaLnBrk="1" hangingPunct="1">
              <a:spcBef>
                <a:spcPts val="1200"/>
              </a:spcBef>
            </a:pPr>
            <a:r>
              <a:rPr lang="en-US" altLang="en-US" sz="3200" dirty="0">
                <a:solidFill>
                  <a:srgbClr val="000000"/>
                </a:solidFill>
              </a:rPr>
              <a:t>Java supports only </a:t>
            </a:r>
            <a:r>
              <a:rPr lang="en-US" altLang="en-US" sz="3200" dirty="0">
                <a:solidFill>
                  <a:srgbClr val="0000FF"/>
                </a:solidFill>
              </a:rPr>
              <a:t>single inheritance</a:t>
            </a:r>
            <a:r>
              <a:rPr lang="en-US" altLang="en-US" sz="3200" dirty="0">
                <a:solidFill>
                  <a:srgbClr val="000000"/>
                </a:solidFill>
              </a:rPr>
              <a:t>, in which each class is derived from exactly one direct superclass. </a:t>
            </a:r>
          </a:p>
          <a:p>
            <a:pPr eaLnBrk="1" hangingPunct="1"/>
            <a:endParaRPr lang="en-US" altLang="en-US" dirty="0">
              <a:solidFill>
                <a:srgbClr val="000000"/>
              </a:solidFill>
            </a:endParaRPr>
          </a:p>
        </p:txBody>
      </p:sp>
      <p:pic>
        <p:nvPicPr>
          <p:cNvPr id="4" name="Picture 2" descr="OOP: Class Hierarchy">
            <a:extLst>
              <a:ext uri="{FF2B5EF4-FFF2-40B4-BE49-F238E27FC236}">
                <a16:creationId xmlns:a16="http://schemas.microsoft.com/office/drawing/2014/main" id="{585AE2FD-2778-4043-8926-A0E234FF9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2626" y="1504843"/>
            <a:ext cx="2619374" cy="391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6374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E0841-41CE-4D4F-B7A4-12481B9548FC}"/>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9.1  </a:t>
            </a:r>
            <a:r>
              <a:rPr lang="en-US" dirty="0">
                <a:solidFill>
                  <a:srgbClr val="3380E6"/>
                </a:solidFill>
                <a:latin typeface="Calibri" panose="020F0502020204030204" pitchFamily="34" charset="0"/>
              </a:rPr>
              <a:t>Introduction (Cont.)</a:t>
            </a:r>
          </a:p>
        </p:txBody>
      </p:sp>
      <p:sp>
        <p:nvSpPr>
          <p:cNvPr id="15363" name="Text Placeholder 2">
            <a:extLst>
              <a:ext uri="{FF2B5EF4-FFF2-40B4-BE49-F238E27FC236}">
                <a16:creationId xmlns:a16="http://schemas.microsoft.com/office/drawing/2014/main" id="{56B2E190-D6B9-4634-8B42-DE27B7FF8854}"/>
              </a:ext>
            </a:extLst>
          </p:cNvPr>
          <p:cNvSpPr>
            <a:spLocks noGrp="1"/>
          </p:cNvSpPr>
          <p:nvPr>
            <p:ph type="body" idx="1"/>
          </p:nvPr>
        </p:nvSpPr>
        <p:spPr/>
        <p:txBody>
          <a:bodyPr/>
          <a:lstStyle/>
          <a:p>
            <a:r>
              <a:rPr lang="en-US" sz="3200" b="1" dirty="0"/>
              <a:t>Multiple</a:t>
            </a:r>
            <a:r>
              <a:rPr lang="en-US" sz="3200" dirty="0"/>
              <a:t> inheritance means that a </a:t>
            </a:r>
            <a:r>
              <a:rPr lang="en-US" sz="3200" b="1" dirty="0"/>
              <a:t>subclass can</a:t>
            </a:r>
            <a:r>
              <a:rPr lang="en-US" sz="3200" dirty="0"/>
              <a:t> inherit from </a:t>
            </a:r>
            <a:r>
              <a:rPr lang="en-US" sz="3200" b="1" dirty="0"/>
              <a:t>two</a:t>
            </a:r>
            <a:r>
              <a:rPr lang="en-US" sz="3200" dirty="0"/>
              <a:t> or more </a:t>
            </a:r>
            <a:r>
              <a:rPr lang="en-US" sz="3200" b="1" dirty="0" err="1"/>
              <a:t>superclasses</a:t>
            </a:r>
            <a:r>
              <a:rPr lang="en-US" sz="3200" dirty="0"/>
              <a:t>. </a:t>
            </a:r>
          </a:p>
          <a:p>
            <a:endParaRPr lang="en-US" sz="3200" b="1" dirty="0"/>
          </a:p>
          <a:p>
            <a:r>
              <a:rPr lang="en-US" sz="3200" b="1" dirty="0"/>
              <a:t>C++</a:t>
            </a:r>
            <a:r>
              <a:rPr lang="en-US" sz="3200" dirty="0"/>
              <a:t> allows </a:t>
            </a:r>
            <a:r>
              <a:rPr lang="en-US" sz="3200" b="1" dirty="0"/>
              <a:t>multiple</a:t>
            </a:r>
            <a:r>
              <a:rPr lang="en-US" sz="3200" dirty="0"/>
              <a:t> inheritance, </a:t>
            </a:r>
            <a:r>
              <a:rPr lang="en-US" sz="3200" i="1" u="sng" dirty="0">
                <a:solidFill>
                  <a:srgbClr val="00B050"/>
                </a:solidFill>
              </a:rPr>
              <a:t>but Java allows only single inheritance</a:t>
            </a:r>
            <a:r>
              <a:rPr lang="en-US" sz="3200" dirty="0"/>
              <a:t>, that is, a </a:t>
            </a:r>
            <a:r>
              <a:rPr lang="en-US" sz="3200" b="1" dirty="0"/>
              <a:t>subclass can</a:t>
            </a:r>
            <a:r>
              <a:rPr lang="en-US" sz="3200" dirty="0"/>
              <a:t> inherit only from one </a:t>
            </a:r>
            <a:r>
              <a:rPr lang="en-US" sz="3200" b="1" dirty="0"/>
              <a:t>superclass</a:t>
            </a:r>
            <a:r>
              <a:rPr lang="en-US" sz="3200" dirty="0"/>
              <a:t>.</a:t>
            </a:r>
            <a:endParaRPr lang="en-US" altLang="en-US" sz="3200" dirty="0">
              <a:solidFill>
                <a:srgbClr val="000000"/>
              </a:solidFill>
            </a:endParaRPr>
          </a:p>
        </p:txBody>
      </p:sp>
      <p:sp>
        <p:nvSpPr>
          <p:cNvPr id="4" name="Footer Placeholder 3">
            <a:extLst>
              <a:ext uri="{FF2B5EF4-FFF2-40B4-BE49-F238E27FC236}">
                <a16:creationId xmlns:a16="http://schemas.microsoft.com/office/drawing/2014/main" id="{2F578081-2C34-4BD8-BF28-C5690B8F5B75}"/>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2971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0">
            <a:extLst>
              <a:ext uri="{FF2B5EF4-FFF2-40B4-BE49-F238E27FC236}">
                <a16:creationId xmlns:a16="http://schemas.microsoft.com/office/drawing/2014/main" id="{8EF31EFC-8BBB-2E36-1421-B27CBA31DB03}"/>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700655" y="737743"/>
            <a:ext cx="4086658" cy="5657885"/>
          </a:xfrm>
          <a:prstGeom prst="rect">
            <a:avLst/>
          </a:prstGeom>
        </p:spPr>
      </p:pic>
      <p:sp>
        <p:nvSpPr>
          <p:cNvPr id="2" name="Title 1">
            <a:extLst>
              <a:ext uri="{FF2B5EF4-FFF2-40B4-BE49-F238E27FC236}">
                <a16:creationId xmlns:a16="http://schemas.microsoft.com/office/drawing/2014/main" id="{DFECC20E-AE55-4296-B80D-F3A5E1D89B78}"/>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9.1  </a:t>
            </a:r>
            <a:r>
              <a:rPr lang="en-US" dirty="0">
                <a:solidFill>
                  <a:srgbClr val="3380E6"/>
                </a:solidFill>
                <a:latin typeface="Calibri" panose="020F0502020204030204" pitchFamily="34" charset="0"/>
              </a:rPr>
              <a:t>Introduction (Cont.)</a:t>
            </a:r>
          </a:p>
        </p:txBody>
      </p:sp>
      <p:sp>
        <p:nvSpPr>
          <p:cNvPr id="16387" name="Text Placeholder 2">
            <a:extLst>
              <a:ext uri="{FF2B5EF4-FFF2-40B4-BE49-F238E27FC236}">
                <a16:creationId xmlns:a16="http://schemas.microsoft.com/office/drawing/2014/main" id="{D56E1F7A-6B59-44D7-9AEF-54FE3D5D9F18}"/>
              </a:ext>
            </a:extLst>
          </p:cNvPr>
          <p:cNvSpPr>
            <a:spLocks noGrp="1"/>
          </p:cNvSpPr>
          <p:nvPr>
            <p:ph type="body" idx="1"/>
          </p:nvPr>
        </p:nvSpPr>
        <p:spPr>
          <a:xfrm>
            <a:off x="304800" y="1417638"/>
            <a:ext cx="8395855" cy="4525962"/>
          </a:xfrm>
        </p:spPr>
        <p:txBody>
          <a:bodyPr/>
          <a:lstStyle/>
          <a:p>
            <a:pPr eaLnBrk="1" hangingPunct="1">
              <a:spcBef>
                <a:spcPts val="1200"/>
              </a:spcBef>
            </a:pPr>
            <a:r>
              <a:rPr lang="en-US" altLang="en-US" sz="3200" dirty="0">
                <a:solidFill>
                  <a:srgbClr val="000000"/>
                </a:solidFill>
              </a:rPr>
              <a:t>We </a:t>
            </a:r>
            <a:r>
              <a:rPr lang="en-US" altLang="en-US" sz="3200" b="1" dirty="0">
                <a:solidFill>
                  <a:srgbClr val="000000"/>
                </a:solidFill>
              </a:rPr>
              <a:t>had </a:t>
            </a:r>
            <a:r>
              <a:rPr lang="en-US" altLang="en-US" sz="3200" dirty="0">
                <a:solidFill>
                  <a:srgbClr val="000000"/>
                </a:solidFill>
              </a:rPr>
              <a:t>distinguished between the</a:t>
            </a:r>
            <a:r>
              <a:rPr lang="en-US" altLang="en-US" sz="3200" b="1" dirty="0">
                <a:solidFill>
                  <a:srgbClr val="FF0000"/>
                </a:solidFill>
              </a:rPr>
              <a:t> </a:t>
            </a:r>
            <a:r>
              <a:rPr lang="en-US" altLang="en-US" sz="3200" b="1" i="1" dirty="0">
                <a:solidFill>
                  <a:srgbClr val="FF0000"/>
                </a:solidFill>
              </a:rPr>
              <a:t>is-a</a:t>
            </a:r>
            <a:r>
              <a:rPr lang="en-US" altLang="en-US" sz="3200" b="1" dirty="0">
                <a:solidFill>
                  <a:srgbClr val="FF0000"/>
                </a:solidFill>
              </a:rPr>
              <a:t> </a:t>
            </a:r>
            <a:r>
              <a:rPr lang="en-US" altLang="en-US" sz="3200" dirty="0">
                <a:solidFill>
                  <a:srgbClr val="0000FF"/>
                </a:solidFill>
              </a:rPr>
              <a:t>relationship</a:t>
            </a:r>
            <a:r>
              <a:rPr lang="en-US" altLang="en-US" sz="3200" dirty="0">
                <a:solidFill>
                  <a:srgbClr val="000000"/>
                </a:solidFill>
              </a:rPr>
              <a:t> and the </a:t>
            </a:r>
            <a:r>
              <a:rPr lang="en-US" altLang="en-US" sz="3200" b="1" i="1" dirty="0">
                <a:solidFill>
                  <a:srgbClr val="FF0000"/>
                </a:solidFill>
              </a:rPr>
              <a:t>has-a</a:t>
            </a:r>
            <a:r>
              <a:rPr lang="en-US" altLang="en-US" sz="3200" dirty="0">
                <a:solidFill>
                  <a:srgbClr val="0000FF"/>
                </a:solidFill>
              </a:rPr>
              <a:t> relationship</a:t>
            </a:r>
            <a:endParaRPr lang="en-US" altLang="en-US" sz="3200" dirty="0">
              <a:solidFill>
                <a:srgbClr val="000000"/>
              </a:solidFill>
            </a:endParaRPr>
          </a:p>
          <a:p>
            <a:pPr eaLnBrk="1" hangingPunct="1">
              <a:spcBef>
                <a:spcPts val="1200"/>
              </a:spcBef>
            </a:pPr>
            <a:r>
              <a:rPr lang="en-US" altLang="en-US" sz="3200" b="1" i="1" dirty="0">
                <a:solidFill>
                  <a:srgbClr val="FF0000"/>
                </a:solidFill>
              </a:rPr>
              <a:t>Is-a</a:t>
            </a:r>
            <a:r>
              <a:rPr lang="en-US" altLang="en-US" sz="3200" i="1" dirty="0">
                <a:solidFill>
                  <a:srgbClr val="000000"/>
                </a:solidFill>
              </a:rPr>
              <a:t> </a:t>
            </a:r>
            <a:r>
              <a:rPr lang="en-US" altLang="en-US" sz="3200" dirty="0">
                <a:solidFill>
                  <a:srgbClr val="000000"/>
                </a:solidFill>
              </a:rPr>
              <a:t>represents inheritance</a:t>
            </a:r>
          </a:p>
          <a:p>
            <a:pPr lvl="1" eaLnBrk="1" hangingPunct="1">
              <a:spcBef>
                <a:spcPts val="1200"/>
              </a:spcBef>
            </a:pPr>
            <a:r>
              <a:rPr lang="en-US" altLang="en-US" sz="3200" dirty="0">
                <a:solidFill>
                  <a:srgbClr val="000000"/>
                </a:solidFill>
              </a:rPr>
              <a:t>In an </a:t>
            </a:r>
            <a:r>
              <a:rPr lang="en-US" altLang="en-US" sz="3200" b="1" i="1" dirty="0">
                <a:solidFill>
                  <a:srgbClr val="FF0000"/>
                </a:solidFill>
              </a:rPr>
              <a:t>is-a</a:t>
            </a:r>
            <a:r>
              <a:rPr lang="en-US" altLang="en-US" sz="3200" i="1" dirty="0">
                <a:solidFill>
                  <a:srgbClr val="000000"/>
                </a:solidFill>
              </a:rPr>
              <a:t> </a:t>
            </a:r>
            <a:r>
              <a:rPr lang="en-US" altLang="en-US" sz="3200" dirty="0">
                <a:solidFill>
                  <a:srgbClr val="000000"/>
                </a:solidFill>
              </a:rPr>
              <a:t>relationship, an object of a subclass can also be treated as an object of its superclass </a:t>
            </a:r>
          </a:p>
          <a:p>
            <a:pPr eaLnBrk="1" hangingPunct="1">
              <a:spcBef>
                <a:spcPts val="1200"/>
              </a:spcBef>
            </a:pPr>
            <a:r>
              <a:rPr lang="en-US" altLang="en-US" sz="3200" b="1" i="1" dirty="0">
                <a:solidFill>
                  <a:srgbClr val="FF0000"/>
                </a:solidFill>
              </a:rPr>
              <a:t>Has-a </a:t>
            </a:r>
            <a:r>
              <a:rPr lang="en-US" altLang="en-US" sz="3200" dirty="0">
                <a:solidFill>
                  <a:srgbClr val="000000"/>
                </a:solidFill>
              </a:rPr>
              <a:t>represents composition</a:t>
            </a:r>
          </a:p>
          <a:p>
            <a:pPr lvl="1" eaLnBrk="1" hangingPunct="1">
              <a:spcBef>
                <a:spcPts val="1200"/>
              </a:spcBef>
            </a:pPr>
            <a:r>
              <a:rPr lang="en-US" altLang="en-US" sz="3200" dirty="0">
                <a:solidFill>
                  <a:srgbClr val="000000"/>
                </a:solidFill>
              </a:rPr>
              <a:t>In a </a:t>
            </a:r>
            <a:r>
              <a:rPr lang="en-US" altLang="en-US" sz="3200" b="1" i="1" dirty="0">
                <a:solidFill>
                  <a:srgbClr val="FF0000"/>
                </a:solidFill>
              </a:rPr>
              <a:t>has-a</a:t>
            </a:r>
            <a:r>
              <a:rPr lang="en-US" altLang="en-US" sz="3200" i="1" dirty="0">
                <a:solidFill>
                  <a:srgbClr val="000000"/>
                </a:solidFill>
              </a:rPr>
              <a:t> </a:t>
            </a:r>
            <a:r>
              <a:rPr lang="en-US" altLang="en-US" sz="3200" dirty="0">
                <a:solidFill>
                  <a:srgbClr val="000000"/>
                </a:solidFill>
              </a:rPr>
              <a:t>relationship, an object contains as members references to other objects</a:t>
            </a:r>
          </a:p>
        </p:txBody>
      </p:sp>
    </p:spTree>
    <p:extLst>
      <p:ext uri="{BB962C8B-B14F-4D97-AF65-F5344CB8AC3E}">
        <p14:creationId xmlns:p14="http://schemas.microsoft.com/office/powerpoint/2010/main" val="3842039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0">
            <a:extLst>
              <a:ext uri="{FF2B5EF4-FFF2-40B4-BE49-F238E27FC236}">
                <a16:creationId xmlns:a16="http://schemas.microsoft.com/office/drawing/2014/main" id="{999FDCAF-53E5-1ED0-2F5F-41945795F499}"/>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8465127" y="737743"/>
            <a:ext cx="4322186" cy="5657885"/>
          </a:xfrm>
          <a:prstGeom prst="rect">
            <a:avLst/>
          </a:prstGeom>
        </p:spPr>
      </p:pic>
      <p:sp>
        <p:nvSpPr>
          <p:cNvPr id="2" name="Title 1">
            <a:extLst>
              <a:ext uri="{FF2B5EF4-FFF2-40B4-BE49-F238E27FC236}">
                <a16:creationId xmlns:a16="http://schemas.microsoft.com/office/drawing/2014/main" id="{EBE0A233-1117-4FD5-8371-C9AB7E54B1BD}"/>
              </a:ext>
            </a:extLst>
          </p:cNvPr>
          <p:cNvSpPr>
            <a:spLocks noGrp="1"/>
          </p:cNvSpPr>
          <p:nvPr>
            <p:ph type="title"/>
          </p:nvPr>
        </p:nvSpPr>
        <p:spPr>
          <a:xfrm>
            <a:off x="609600" y="274638"/>
            <a:ext cx="10972800" cy="584344"/>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9.2  </a:t>
            </a:r>
            <a:r>
              <a:rPr lang="en-US" dirty="0" err="1">
                <a:solidFill>
                  <a:srgbClr val="3380E6"/>
                </a:solidFill>
                <a:latin typeface="Calibri" panose="020F0502020204030204" pitchFamily="34" charset="0"/>
              </a:rPr>
              <a:t>Superclasses</a:t>
            </a:r>
            <a:r>
              <a:rPr lang="en-US" dirty="0">
                <a:solidFill>
                  <a:srgbClr val="3380E6"/>
                </a:solidFill>
                <a:latin typeface="Calibri" panose="020F0502020204030204" pitchFamily="34" charset="0"/>
              </a:rPr>
              <a:t> and Subclasses</a:t>
            </a:r>
          </a:p>
        </p:txBody>
      </p:sp>
      <p:sp>
        <p:nvSpPr>
          <p:cNvPr id="17411" name="Text Placeholder 2">
            <a:extLst>
              <a:ext uri="{FF2B5EF4-FFF2-40B4-BE49-F238E27FC236}">
                <a16:creationId xmlns:a16="http://schemas.microsoft.com/office/drawing/2014/main" id="{9D06F187-8B55-4755-96C0-161CEC677682}"/>
              </a:ext>
            </a:extLst>
          </p:cNvPr>
          <p:cNvSpPr>
            <a:spLocks noGrp="1"/>
          </p:cNvSpPr>
          <p:nvPr>
            <p:ph type="body" idx="1"/>
          </p:nvPr>
        </p:nvSpPr>
        <p:spPr>
          <a:xfrm>
            <a:off x="-124691" y="872093"/>
            <a:ext cx="8991600" cy="4525962"/>
          </a:xfrm>
        </p:spPr>
        <p:txBody>
          <a:bodyPr/>
          <a:lstStyle/>
          <a:p>
            <a:pPr eaLnBrk="1" hangingPunct="1">
              <a:spcBef>
                <a:spcPts val="1200"/>
              </a:spcBef>
            </a:pPr>
            <a:r>
              <a:rPr lang="en-US" altLang="en-US" sz="3200" dirty="0">
                <a:solidFill>
                  <a:srgbClr val="000000"/>
                </a:solidFill>
              </a:rPr>
              <a:t>Figure 9.1 lists several simple examples of </a:t>
            </a:r>
            <a:r>
              <a:rPr lang="en-US" altLang="en-US" sz="3200" b="1" dirty="0" err="1">
                <a:solidFill>
                  <a:srgbClr val="000000"/>
                </a:solidFill>
              </a:rPr>
              <a:t>superclasses</a:t>
            </a:r>
            <a:r>
              <a:rPr lang="en-US" altLang="en-US" sz="3200" dirty="0">
                <a:solidFill>
                  <a:srgbClr val="000000"/>
                </a:solidFill>
              </a:rPr>
              <a:t> and </a:t>
            </a:r>
            <a:r>
              <a:rPr lang="en-US" altLang="en-US" sz="3200" b="1" dirty="0">
                <a:solidFill>
                  <a:srgbClr val="000000"/>
                </a:solidFill>
              </a:rPr>
              <a:t>subclasses</a:t>
            </a:r>
          </a:p>
          <a:p>
            <a:pPr lvl="1" eaLnBrk="1" hangingPunct="1">
              <a:spcBef>
                <a:spcPts val="1200"/>
              </a:spcBef>
            </a:pPr>
            <a:r>
              <a:rPr lang="en-US" altLang="en-US" sz="3200" b="1" dirty="0" err="1">
                <a:solidFill>
                  <a:srgbClr val="000000"/>
                </a:solidFill>
              </a:rPr>
              <a:t>Superclasses</a:t>
            </a:r>
            <a:r>
              <a:rPr lang="en-US" altLang="en-US" sz="3200" dirty="0">
                <a:solidFill>
                  <a:srgbClr val="000000"/>
                </a:solidFill>
              </a:rPr>
              <a:t> tend to be “more general” and </a:t>
            </a:r>
            <a:r>
              <a:rPr lang="en-US" altLang="en-US" sz="3200" b="1" dirty="0">
                <a:solidFill>
                  <a:srgbClr val="000000"/>
                </a:solidFill>
              </a:rPr>
              <a:t>subclasses</a:t>
            </a:r>
            <a:r>
              <a:rPr lang="en-US" altLang="en-US" sz="3200" dirty="0">
                <a:solidFill>
                  <a:srgbClr val="000000"/>
                </a:solidFill>
              </a:rPr>
              <a:t> “more specific.”</a:t>
            </a:r>
          </a:p>
          <a:p>
            <a:pPr eaLnBrk="1" hangingPunct="1">
              <a:spcBef>
                <a:spcPts val="1200"/>
              </a:spcBef>
            </a:pPr>
            <a:r>
              <a:rPr lang="en-US" altLang="en-US" sz="3200" dirty="0">
                <a:solidFill>
                  <a:srgbClr val="000000"/>
                </a:solidFill>
              </a:rPr>
              <a:t>Because every subclass object </a:t>
            </a:r>
            <a:r>
              <a:rPr lang="en-US" altLang="en-US" sz="3200" i="1" dirty="0">
                <a:solidFill>
                  <a:srgbClr val="000000"/>
                </a:solidFill>
              </a:rPr>
              <a:t>is an </a:t>
            </a:r>
            <a:r>
              <a:rPr lang="en-US" altLang="en-US" sz="3200" dirty="0">
                <a:solidFill>
                  <a:srgbClr val="000000"/>
                </a:solidFill>
              </a:rPr>
              <a:t>object of its superclass, and one superclass can have many subclasses, </a:t>
            </a:r>
          </a:p>
          <a:p>
            <a:pPr eaLnBrk="1" hangingPunct="1">
              <a:spcBef>
                <a:spcPts val="1200"/>
              </a:spcBef>
            </a:pPr>
            <a:r>
              <a:rPr lang="en-US" altLang="en-US" sz="3200" dirty="0">
                <a:solidFill>
                  <a:srgbClr val="000000"/>
                </a:solidFill>
              </a:rPr>
              <a:t>the set of objects represented by a superclass is typically larger than the set of objects represented by any of its subclasses. </a:t>
            </a:r>
          </a:p>
        </p:txBody>
      </p:sp>
      <p:sp>
        <p:nvSpPr>
          <p:cNvPr id="4" name="Footer Placeholder 3">
            <a:extLst>
              <a:ext uri="{FF2B5EF4-FFF2-40B4-BE49-F238E27FC236}">
                <a16:creationId xmlns:a16="http://schemas.microsoft.com/office/drawing/2014/main" id="{7A6AEE76-8507-41E0-BE02-8E6307233A8B}"/>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364016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08">
            <a:extLst>
              <a:ext uri="{FF2B5EF4-FFF2-40B4-BE49-F238E27FC236}">
                <a16:creationId xmlns:a16="http://schemas.microsoft.com/office/drawing/2014/main" id="{81BE56BF-7B81-4163-8A12-FD7735DB190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19150"/>
            <a:ext cx="12192000" cy="5218113"/>
          </a:xfrm>
          <a:prstGeom prst="rect">
            <a:avLst/>
          </a:prstGeom>
        </p:spPr>
      </p:pic>
      <p:sp>
        <p:nvSpPr>
          <p:cNvPr id="2" name="Footer Placeholder 1">
            <a:extLst>
              <a:ext uri="{FF2B5EF4-FFF2-40B4-BE49-F238E27FC236}">
                <a16:creationId xmlns:a16="http://schemas.microsoft.com/office/drawing/2014/main" id="{9CAF7C46-46F6-4ED0-B9F3-148756C0B9FB}"/>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22111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FB8B1-4036-409F-B4A2-59F6734AED1F}"/>
              </a:ext>
            </a:extLst>
          </p:cNvPr>
          <p:cNvSpPr>
            <a:spLocks noGrp="1"/>
          </p:cNvSpPr>
          <p:nvPr>
            <p:ph type="title"/>
          </p:nvPr>
        </p:nvSpPr>
        <p:spPr/>
        <p:txBody>
          <a:bodyPr/>
          <a:lstStyle/>
          <a:p>
            <a:r>
              <a:rPr lang="en-US" b="0" dirty="0"/>
              <a:t>Use of </a:t>
            </a:r>
            <a:r>
              <a:rPr lang="en-US" dirty="0"/>
              <a:t>EXTENDS</a:t>
            </a:r>
            <a:r>
              <a:rPr lang="en-US" b="0" dirty="0"/>
              <a:t> Keyword</a:t>
            </a:r>
          </a:p>
        </p:txBody>
      </p:sp>
      <p:sp>
        <p:nvSpPr>
          <p:cNvPr id="3" name="Text Placeholder 2">
            <a:extLst>
              <a:ext uri="{FF2B5EF4-FFF2-40B4-BE49-F238E27FC236}">
                <a16:creationId xmlns:a16="http://schemas.microsoft.com/office/drawing/2014/main" id="{5B06D0EF-8E55-4EB3-AF8B-6A4DC552BDCE}"/>
              </a:ext>
            </a:extLst>
          </p:cNvPr>
          <p:cNvSpPr>
            <a:spLocks noGrp="1"/>
          </p:cNvSpPr>
          <p:nvPr>
            <p:ph type="body" idx="1"/>
          </p:nvPr>
        </p:nvSpPr>
        <p:spPr/>
        <p:txBody>
          <a:bodyPr/>
          <a:lstStyle/>
          <a:p>
            <a:pPr>
              <a:spcBef>
                <a:spcPts val="1200"/>
              </a:spcBef>
            </a:pPr>
            <a:r>
              <a:rPr lang="en-US" sz="3600" dirty="0"/>
              <a:t>An object can acquire the properties and </a:t>
            </a:r>
            <a:r>
              <a:rPr lang="en-US" sz="3600" dirty="0" err="1"/>
              <a:t>behaviour</a:t>
            </a:r>
            <a:r>
              <a:rPr lang="en-US" sz="3600" dirty="0"/>
              <a:t> of another object using Inheritance. </a:t>
            </a:r>
          </a:p>
          <a:p>
            <a:pPr>
              <a:spcBef>
                <a:spcPts val="1200"/>
              </a:spcBef>
            </a:pPr>
            <a:r>
              <a:rPr lang="en-US" sz="3600" dirty="0"/>
              <a:t>In Java, the </a:t>
            </a:r>
            <a:r>
              <a:rPr lang="en-US" sz="3600" b="1" i="1" dirty="0"/>
              <a:t>extends</a:t>
            </a:r>
            <a:r>
              <a:rPr lang="en-US" sz="3600" i="1" dirty="0"/>
              <a:t> </a:t>
            </a:r>
            <a:r>
              <a:rPr lang="en-US" sz="3600" dirty="0"/>
              <a:t>keyword is used to indicate that a new class is derived from the base class using inheritance. </a:t>
            </a:r>
          </a:p>
          <a:p>
            <a:pPr>
              <a:spcBef>
                <a:spcPts val="1200"/>
              </a:spcBef>
            </a:pPr>
            <a:r>
              <a:rPr lang="en-US" sz="3600" dirty="0"/>
              <a:t>So basically, </a:t>
            </a:r>
            <a:r>
              <a:rPr lang="en-US" sz="3600" b="1" i="1" dirty="0"/>
              <a:t>extends </a:t>
            </a:r>
            <a:r>
              <a:rPr lang="en-US" sz="3600" dirty="0"/>
              <a:t>keyword is used to extend the functionality of the class.</a:t>
            </a:r>
          </a:p>
        </p:txBody>
      </p:sp>
      <p:sp>
        <p:nvSpPr>
          <p:cNvPr id="4" name="Footer Placeholder 3">
            <a:extLst>
              <a:ext uri="{FF2B5EF4-FFF2-40B4-BE49-F238E27FC236}">
                <a16:creationId xmlns:a16="http://schemas.microsoft.com/office/drawing/2014/main" id="{39E5FAE6-9086-4095-8E57-949559F66346}"/>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4269645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C3B42-80DD-4CED-AA82-E4B2593200F3}"/>
              </a:ext>
            </a:extLst>
          </p:cNvPr>
          <p:cNvSpPr>
            <a:spLocks noGrp="1"/>
          </p:cNvSpPr>
          <p:nvPr>
            <p:ph type="title"/>
          </p:nvPr>
        </p:nvSpPr>
        <p:spPr/>
        <p:txBody>
          <a:bodyPr/>
          <a:lstStyle/>
          <a:p>
            <a:r>
              <a:rPr lang="en-US" dirty="0"/>
              <a:t>RE-VISITING </a:t>
            </a:r>
            <a:r>
              <a:rPr lang="en-US" b="0" dirty="0"/>
              <a:t>Use of </a:t>
            </a:r>
            <a:r>
              <a:rPr lang="en-US" dirty="0"/>
              <a:t>EXTENDS</a:t>
            </a:r>
            <a:r>
              <a:rPr lang="en-US" b="0" dirty="0"/>
              <a:t> Keyword</a:t>
            </a:r>
            <a:endParaRPr lang="en-US" dirty="0"/>
          </a:p>
        </p:txBody>
      </p:sp>
      <p:sp>
        <p:nvSpPr>
          <p:cNvPr id="3" name="Text Placeholder 2">
            <a:extLst>
              <a:ext uri="{FF2B5EF4-FFF2-40B4-BE49-F238E27FC236}">
                <a16:creationId xmlns:a16="http://schemas.microsoft.com/office/drawing/2014/main" id="{2E1CB69E-BAC8-4CCD-8E02-8F2EFBE62E22}"/>
              </a:ext>
            </a:extLst>
          </p:cNvPr>
          <p:cNvSpPr>
            <a:spLocks noGrp="1"/>
          </p:cNvSpPr>
          <p:nvPr>
            <p:ph type="body" idx="1"/>
          </p:nvPr>
        </p:nvSpPr>
        <p:spPr/>
        <p:txBody>
          <a:bodyPr/>
          <a:lstStyle/>
          <a:p>
            <a:endParaRPr lang="en-US" dirty="0"/>
          </a:p>
          <a:p>
            <a:r>
              <a:rPr lang="en-US" sz="8000" dirty="0">
                <a:highlight>
                  <a:srgbClr val="FFFF00"/>
                </a:highlight>
              </a:rPr>
              <a:t>EXAMPLE 4</a:t>
            </a:r>
          </a:p>
        </p:txBody>
      </p:sp>
      <p:sp>
        <p:nvSpPr>
          <p:cNvPr id="4" name="Footer Placeholder 3">
            <a:extLst>
              <a:ext uri="{FF2B5EF4-FFF2-40B4-BE49-F238E27FC236}">
                <a16:creationId xmlns:a16="http://schemas.microsoft.com/office/drawing/2014/main" id="{B983A306-32B9-4407-B092-4C167C5233D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046577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jhtp_09_OOPInheritance_Page_10">
            <a:extLst>
              <a:ext uri="{FF2B5EF4-FFF2-40B4-BE49-F238E27FC236}">
                <a16:creationId xmlns:a16="http://schemas.microsoft.com/office/drawing/2014/main" id="{214D0C2C-4AD1-4582-8986-FB8D07F03C8C}"/>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7915274" y="737743"/>
            <a:ext cx="4872039" cy="5657885"/>
          </a:xfrm>
          <a:prstGeom prst="rect">
            <a:avLst/>
          </a:prstGeom>
        </p:spPr>
      </p:pic>
      <p:sp>
        <p:nvSpPr>
          <p:cNvPr id="2" name="Title 1">
            <a:extLst>
              <a:ext uri="{FF2B5EF4-FFF2-40B4-BE49-F238E27FC236}">
                <a16:creationId xmlns:a16="http://schemas.microsoft.com/office/drawing/2014/main" id="{668BF8AE-C4E3-4C3A-AC4A-E75BDC1C2D1D}"/>
              </a:ext>
            </a:extLst>
          </p:cNvPr>
          <p:cNvSpPr>
            <a:spLocks noGrp="1"/>
          </p:cNvSpPr>
          <p:nvPr>
            <p:ph type="title"/>
          </p:nvPr>
        </p:nvSpPr>
        <p:spPr>
          <a:xfrm>
            <a:off x="559763" y="99977"/>
            <a:ext cx="10972800" cy="365125"/>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  </a:t>
            </a:r>
            <a:r>
              <a:rPr lang="en-US" dirty="0" err="1">
                <a:solidFill>
                  <a:srgbClr val="3380E6"/>
                </a:solidFill>
                <a:latin typeface="Calibri" panose="020F0502020204030204" pitchFamily="34" charset="0"/>
              </a:rPr>
              <a:t>Superclasses</a:t>
            </a:r>
            <a:r>
              <a:rPr lang="en-US" dirty="0">
                <a:solidFill>
                  <a:srgbClr val="3380E6"/>
                </a:solidFill>
                <a:latin typeface="Calibri" panose="020F0502020204030204" pitchFamily="34" charset="0"/>
              </a:rPr>
              <a:t> and Subclasses (Cont.)</a:t>
            </a:r>
          </a:p>
        </p:txBody>
      </p:sp>
      <p:sp>
        <p:nvSpPr>
          <p:cNvPr id="19459" name="Text Placeholder 2">
            <a:extLst>
              <a:ext uri="{FF2B5EF4-FFF2-40B4-BE49-F238E27FC236}">
                <a16:creationId xmlns:a16="http://schemas.microsoft.com/office/drawing/2014/main" id="{3BED3F88-FB0B-4B3D-8AF6-1548D551CB9B}"/>
              </a:ext>
            </a:extLst>
          </p:cNvPr>
          <p:cNvSpPr>
            <a:spLocks noGrp="1"/>
          </p:cNvSpPr>
          <p:nvPr>
            <p:ph type="body" idx="1"/>
          </p:nvPr>
        </p:nvSpPr>
        <p:spPr>
          <a:xfrm>
            <a:off x="0" y="471452"/>
            <a:ext cx="8592313" cy="4733104"/>
          </a:xfrm>
        </p:spPr>
        <p:txBody>
          <a:bodyPr/>
          <a:lstStyle/>
          <a:p>
            <a:pPr eaLnBrk="1" hangingPunct="1">
              <a:lnSpc>
                <a:spcPct val="90000"/>
              </a:lnSpc>
              <a:spcBef>
                <a:spcPts val="1200"/>
              </a:spcBef>
            </a:pPr>
            <a:r>
              <a:rPr lang="en-US" altLang="en-US" sz="2400" dirty="0">
                <a:solidFill>
                  <a:srgbClr val="000000"/>
                </a:solidFill>
              </a:rPr>
              <a:t>A superclass exists in a hierarchical relationship with its subclasses. </a:t>
            </a:r>
          </a:p>
          <a:p>
            <a:pPr eaLnBrk="1" hangingPunct="1">
              <a:lnSpc>
                <a:spcPct val="90000"/>
              </a:lnSpc>
              <a:spcBef>
                <a:spcPts val="1200"/>
              </a:spcBef>
            </a:pPr>
            <a:r>
              <a:rPr lang="en-US" altLang="en-US" sz="2400" dirty="0">
                <a:solidFill>
                  <a:srgbClr val="000000"/>
                </a:solidFill>
              </a:rPr>
              <a:t>Next slide shows a sample university community class hierarchy</a:t>
            </a:r>
          </a:p>
          <a:p>
            <a:pPr lvl="1" eaLnBrk="1" hangingPunct="1">
              <a:lnSpc>
                <a:spcPct val="90000"/>
              </a:lnSpc>
              <a:spcBef>
                <a:spcPts val="1200"/>
              </a:spcBef>
            </a:pPr>
            <a:r>
              <a:rPr lang="en-US" altLang="en-US" sz="2400" dirty="0">
                <a:solidFill>
                  <a:srgbClr val="000000"/>
                </a:solidFill>
              </a:rPr>
              <a:t>Also called an </a:t>
            </a:r>
            <a:r>
              <a:rPr lang="en-US" altLang="en-US" sz="2400" dirty="0">
                <a:solidFill>
                  <a:srgbClr val="0000FF"/>
                </a:solidFill>
              </a:rPr>
              <a:t>inheritance hierarchy</a:t>
            </a:r>
            <a:r>
              <a:rPr lang="en-US" altLang="en-US" sz="2400" dirty="0">
                <a:solidFill>
                  <a:srgbClr val="000000"/>
                </a:solidFill>
              </a:rPr>
              <a:t>. </a:t>
            </a:r>
          </a:p>
          <a:p>
            <a:pPr eaLnBrk="1" hangingPunct="1">
              <a:lnSpc>
                <a:spcPct val="90000"/>
              </a:lnSpc>
              <a:spcBef>
                <a:spcPts val="1200"/>
              </a:spcBef>
            </a:pPr>
            <a:r>
              <a:rPr lang="en-US" altLang="en-US" sz="2400" dirty="0">
                <a:solidFill>
                  <a:srgbClr val="000000"/>
                </a:solidFill>
              </a:rPr>
              <a:t>Each arrow in the hierarchy represents an</a:t>
            </a:r>
            <a:r>
              <a:rPr lang="en-US" altLang="en-US" sz="2400" u="sng" dirty="0">
                <a:solidFill>
                  <a:srgbClr val="FF0000"/>
                </a:solidFill>
              </a:rPr>
              <a:t> </a:t>
            </a:r>
            <a:r>
              <a:rPr lang="en-US" altLang="en-US" sz="2400" b="1" i="1" u="sng" dirty="0">
                <a:solidFill>
                  <a:srgbClr val="FF0000"/>
                </a:solidFill>
              </a:rPr>
              <a:t>is-a </a:t>
            </a:r>
            <a:r>
              <a:rPr lang="en-US" altLang="en-US" sz="2400" b="1" i="1" dirty="0">
                <a:solidFill>
                  <a:srgbClr val="000000"/>
                </a:solidFill>
              </a:rPr>
              <a:t>relationship</a:t>
            </a:r>
            <a:r>
              <a:rPr lang="en-US" altLang="en-US" sz="2400" i="1" dirty="0">
                <a:solidFill>
                  <a:srgbClr val="000000"/>
                </a:solidFill>
              </a:rPr>
              <a:t>. </a:t>
            </a:r>
          </a:p>
          <a:p>
            <a:pPr eaLnBrk="1" hangingPunct="1">
              <a:lnSpc>
                <a:spcPct val="90000"/>
              </a:lnSpc>
              <a:spcBef>
                <a:spcPts val="1200"/>
              </a:spcBef>
            </a:pPr>
            <a:r>
              <a:rPr lang="en-US" altLang="en-US" sz="2400" dirty="0">
                <a:solidFill>
                  <a:srgbClr val="000000"/>
                </a:solidFill>
              </a:rPr>
              <a:t>Follow the arrows upward in the class hierarchy</a:t>
            </a:r>
          </a:p>
          <a:p>
            <a:pPr lvl="1" eaLnBrk="1" hangingPunct="1">
              <a:lnSpc>
                <a:spcPct val="90000"/>
              </a:lnSpc>
              <a:spcBef>
                <a:spcPts val="1200"/>
              </a:spcBef>
            </a:pPr>
            <a:r>
              <a:rPr lang="en-US" altLang="en-US" sz="2400" dirty="0">
                <a:solidFill>
                  <a:srgbClr val="000000"/>
                </a:solidFill>
              </a:rPr>
              <a:t>an </a:t>
            </a:r>
            <a:r>
              <a:rPr lang="en-US" altLang="en-US" sz="2400" b="1" dirty="0">
                <a:solidFill>
                  <a:srgbClr val="000000"/>
                </a:solidFill>
                <a:latin typeface="Consolas" panose="020B0609020204030204" pitchFamily="49" charset="0"/>
              </a:rPr>
              <a:t>Employee</a:t>
            </a:r>
            <a:r>
              <a:rPr lang="en-US" altLang="en-US" sz="2400" dirty="0">
                <a:solidFill>
                  <a:srgbClr val="000000"/>
                </a:solidFill>
              </a:rPr>
              <a:t> </a:t>
            </a:r>
            <a:r>
              <a:rPr lang="en-US" altLang="en-US" sz="2400" i="1" dirty="0">
                <a:solidFill>
                  <a:srgbClr val="000000"/>
                </a:solidFill>
              </a:rPr>
              <a:t>is a </a:t>
            </a:r>
            <a:r>
              <a:rPr lang="en-US" altLang="en-US" sz="2400" b="1" dirty="0" err="1">
                <a:solidFill>
                  <a:srgbClr val="000000"/>
                </a:solidFill>
                <a:latin typeface="Consolas" panose="020B0609020204030204" pitchFamily="49" charset="0"/>
              </a:rPr>
              <a:t>CommunityMember</a:t>
            </a:r>
            <a:r>
              <a:rPr lang="en-US" altLang="en-US" sz="2400" dirty="0">
                <a:solidFill>
                  <a:srgbClr val="000000"/>
                </a:solidFill>
              </a:rPr>
              <a:t>” </a:t>
            </a:r>
          </a:p>
          <a:p>
            <a:pPr lvl="1" eaLnBrk="1" hangingPunct="1">
              <a:lnSpc>
                <a:spcPct val="90000"/>
              </a:lnSpc>
              <a:spcBef>
                <a:spcPts val="1200"/>
              </a:spcBef>
            </a:pPr>
            <a:r>
              <a:rPr lang="en-US" altLang="en-US" sz="2400" dirty="0">
                <a:solidFill>
                  <a:srgbClr val="000000"/>
                </a:solidFill>
              </a:rPr>
              <a:t>“a </a:t>
            </a:r>
            <a:r>
              <a:rPr lang="en-US" altLang="en-US" sz="2400" b="1" dirty="0">
                <a:solidFill>
                  <a:srgbClr val="000000"/>
                </a:solidFill>
                <a:latin typeface="Consolas" panose="020B0609020204030204" pitchFamily="49" charset="0"/>
              </a:rPr>
              <a:t>Teacher</a:t>
            </a:r>
            <a:r>
              <a:rPr lang="en-US" altLang="en-US" sz="2400" dirty="0">
                <a:solidFill>
                  <a:srgbClr val="000000"/>
                </a:solidFill>
              </a:rPr>
              <a:t> </a:t>
            </a:r>
            <a:r>
              <a:rPr lang="en-US" altLang="en-US" sz="2400" i="1" dirty="0">
                <a:solidFill>
                  <a:srgbClr val="000000"/>
                </a:solidFill>
              </a:rPr>
              <a:t>is a </a:t>
            </a:r>
            <a:r>
              <a:rPr lang="en-US" altLang="en-US" sz="2400" b="1" dirty="0">
                <a:solidFill>
                  <a:srgbClr val="000000"/>
                </a:solidFill>
                <a:latin typeface="Consolas" panose="020B0609020204030204" pitchFamily="49" charset="0"/>
              </a:rPr>
              <a:t>Faculty</a:t>
            </a:r>
            <a:r>
              <a:rPr lang="en-US" altLang="en-US" sz="2400" b="1" dirty="0">
                <a:solidFill>
                  <a:srgbClr val="000000"/>
                </a:solidFill>
              </a:rPr>
              <a:t> member</a:t>
            </a:r>
            <a:r>
              <a:rPr lang="en-US" altLang="en-US" sz="2400" dirty="0">
                <a:solidFill>
                  <a:srgbClr val="000000"/>
                </a:solidFill>
              </a:rPr>
              <a:t>.” </a:t>
            </a:r>
          </a:p>
          <a:p>
            <a:pPr eaLnBrk="1" hangingPunct="1">
              <a:lnSpc>
                <a:spcPct val="90000"/>
              </a:lnSpc>
              <a:spcBef>
                <a:spcPts val="1200"/>
              </a:spcBef>
            </a:pPr>
            <a:r>
              <a:rPr lang="en-US" altLang="en-US" sz="2400" b="1" dirty="0" err="1">
                <a:solidFill>
                  <a:srgbClr val="000000"/>
                </a:solidFill>
                <a:latin typeface="Consolas" panose="020B0609020204030204" pitchFamily="49" charset="0"/>
              </a:rPr>
              <a:t>CommunityMember</a:t>
            </a:r>
            <a:r>
              <a:rPr lang="en-US" altLang="en-US" sz="2400" dirty="0">
                <a:solidFill>
                  <a:srgbClr val="000000"/>
                </a:solidFill>
              </a:rPr>
              <a:t> is the direct superclass of </a:t>
            </a:r>
            <a:r>
              <a:rPr lang="en-US" altLang="en-US" sz="2400" b="1" i="1" dirty="0">
                <a:solidFill>
                  <a:srgbClr val="000000"/>
                </a:solidFill>
                <a:latin typeface="Consolas" panose="020B0609020204030204" pitchFamily="49" charset="0"/>
              </a:rPr>
              <a:t>Employee</a:t>
            </a:r>
            <a:r>
              <a:rPr lang="en-US" altLang="en-US" sz="2400" b="1" i="1" dirty="0">
                <a:solidFill>
                  <a:srgbClr val="000000"/>
                </a:solidFill>
              </a:rPr>
              <a:t>, </a:t>
            </a:r>
            <a:r>
              <a:rPr lang="en-US" altLang="en-US" sz="2400" b="1" i="1" dirty="0">
                <a:solidFill>
                  <a:srgbClr val="000000"/>
                </a:solidFill>
                <a:latin typeface="Consolas" panose="020B0609020204030204" pitchFamily="49" charset="0"/>
              </a:rPr>
              <a:t>Student</a:t>
            </a:r>
            <a:r>
              <a:rPr lang="en-US" altLang="en-US" sz="2400" dirty="0">
                <a:solidFill>
                  <a:srgbClr val="000000"/>
                </a:solidFill>
              </a:rPr>
              <a:t> and </a:t>
            </a:r>
            <a:r>
              <a:rPr lang="en-US" altLang="en-US" sz="2400" b="1" i="1" dirty="0">
                <a:solidFill>
                  <a:srgbClr val="000000"/>
                </a:solidFill>
                <a:latin typeface="Consolas" panose="020B0609020204030204" pitchFamily="49" charset="0"/>
              </a:rPr>
              <a:t>Alumnus</a:t>
            </a:r>
            <a:r>
              <a:rPr lang="en-US" altLang="en-US" sz="2400" dirty="0">
                <a:solidFill>
                  <a:srgbClr val="000000"/>
                </a:solidFill>
              </a:rPr>
              <a:t> and is an indirect superclass of all the other classes in the diagram. </a:t>
            </a:r>
          </a:p>
          <a:p>
            <a:pPr eaLnBrk="1" hangingPunct="1">
              <a:lnSpc>
                <a:spcPct val="90000"/>
              </a:lnSpc>
              <a:spcBef>
                <a:spcPts val="1200"/>
              </a:spcBef>
            </a:pPr>
            <a:r>
              <a:rPr lang="en-US" altLang="en-US" sz="2400" dirty="0">
                <a:solidFill>
                  <a:srgbClr val="000000"/>
                </a:solidFill>
              </a:rPr>
              <a:t>Starting from the bottom, you can follow the arrows and apply the </a:t>
            </a:r>
            <a:r>
              <a:rPr lang="en-US" altLang="en-US" sz="2400" i="1" dirty="0">
                <a:solidFill>
                  <a:srgbClr val="000000"/>
                </a:solidFill>
              </a:rPr>
              <a:t>is-a </a:t>
            </a:r>
            <a:r>
              <a:rPr lang="en-US" altLang="en-US" sz="2400" dirty="0">
                <a:solidFill>
                  <a:srgbClr val="000000"/>
                </a:solidFill>
              </a:rPr>
              <a:t>relationship up to the topmost superclass. </a:t>
            </a:r>
          </a:p>
        </p:txBody>
      </p:sp>
    </p:spTree>
    <p:extLst>
      <p:ext uri="{BB962C8B-B14F-4D97-AF65-F5344CB8AC3E}">
        <p14:creationId xmlns:p14="http://schemas.microsoft.com/office/powerpoint/2010/main" val="767197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0">
            <a:extLst>
              <a:ext uri="{FF2B5EF4-FFF2-40B4-BE49-F238E27FC236}">
                <a16:creationId xmlns:a16="http://schemas.microsoft.com/office/drawing/2014/main" id="{ED8B2E9E-6FC6-44C1-A8E3-DB9F854E9BC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7963"/>
            <a:ext cx="12192000" cy="6442075"/>
          </a:xfrm>
          <a:prstGeom prst="rect">
            <a:avLst/>
          </a:prstGeom>
        </p:spPr>
      </p:pic>
      <p:sp>
        <p:nvSpPr>
          <p:cNvPr id="2" name="Footer Placeholder 1">
            <a:extLst>
              <a:ext uri="{FF2B5EF4-FFF2-40B4-BE49-F238E27FC236}">
                <a16:creationId xmlns:a16="http://schemas.microsoft.com/office/drawing/2014/main" id="{85BC8B2A-2D37-4A5B-8491-F2D2CE616FB6}"/>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625198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59DCA-2247-46A6-B18A-161359A5692D}"/>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9.2  </a:t>
            </a:r>
            <a:r>
              <a:rPr lang="en-US" dirty="0" err="1">
                <a:solidFill>
                  <a:srgbClr val="3380E6"/>
                </a:solidFill>
                <a:latin typeface="Calibri" panose="020F0502020204030204" pitchFamily="34" charset="0"/>
              </a:rPr>
              <a:t>Superclasses</a:t>
            </a:r>
            <a:r>
              <a:rPr lang="en-US" dirty="0">
                <a:solidFill>
                  <a:srgbClr val="3380E6"/>
                </a:solidFill>
                <a:latin typeface="Calibri" panose="020F0502020204030204" pitchFamily="34" charset="0"/>
              </a:rPr>
              <a:t> and Subclasses (Cont.)</a:t>
            </a:r>
          </a:p>
        </p:txBody>
      </p:sp>
      <p:sp>
        <p:nvSpPr>
          <p:cNvPr id="21507" name="Text Placeholder 2">
            <a:extLst>
              <a:ext uri="{FF2B5EF4-FFF2-40B4-BE49-F238E27FC236}">
                <a16:creationId xmlns:a16="http://schemas.microsoft.com/office/drawing/2014/main" id="{8F3ED9A4-32C7-4445-AD44-2448847FC7CF}"/>
              </a:ext>
            </a:extLst>
          </p:cNvPr>
          <p:cNvSpPr>
            <a:spLocks noGrp="1"/>
          </p:cNvSpPr>
          <p:nvPr>
            <p:ph type="body" idx="1"/>
          </p:nvPr>
        </p:nvSpPr>
        <p:spPr/>
        <p:txBody>
          <a:bodyPr/>
          <a:lstStyle/>
          <a:p>
            <a:pPr eaLnBrk="1" hangingPunct="1">
              <a:spcBef>
                <a:spcPts val="1200"/>
              </a:spcBef>
            </a:pPr>
            <a:r>
              <a:rPr lang="en-US" altLang="en-US" sz="3200" dirty="0">
                <a:solidFill>
                  <a:srgbClr val="000000"/>
                </a:solidFill>
              </a:rPr>
              <a:t>Fig. 9.3 shows a </a:t>
            </a:r>
            <a:r>
              <a:rPr lang="en-US" altLang="en-US" sz="3200" dirty="0">
                <a:solidFill>
                  <a:srgbClr val="000000"/>
                </a:solidFill>
                <a:latin typeface="Consolas" panose="020B0609020204030204" pitchFamily="49" charset="0"/>
              </a:rPr>
              <a:t>Shape</a:t>
            </a:r>
            <a:r>
              <a:rPr lang="en-US" altLang="en-US" sz="3200" dirty="0">
                <a:solidFill>
                  <a:srgbClr val="000000"/>
                </a:solidFill>
              </a:rPr>
              <a:t> inheritance hierarchy. </a:t>
            </a:r>
          </a:p>
          <a:p>
            <a:pPr eaLnBrk="1" hangingPunct="1">
              <a:spcBef>
                <a:spcPts val="1200"/>
              </a:spcBef>
            </a:pPr>
            <a:r>
              <a:rPr lang="en-US" altLang="en-US" sz="3200" dirty="0">
                <a:solidFill>
                  <a:srgbClr val="000000"/>
                </a:solidFill>
              </a:rPr>
              <a:t>We follow the arrows from the bottom of the diagram to the topmost superclass in this class hierarchy to identify several </a:t>
            </a:r>
            <a:r>
              <a:rPr lang="en-US" altLang="en-US" sz="3200" i="1" dirty="0">
                <a:solidFill>
                  <a:srgbClr val="000000"/>
                </a:solidFill>
              </a:rPr>
              <a:t>is-a </a:t>
            </a:r>
            <a:r>
              <a:rPr lang="en-US" altLang="en-US" sz="3200" dirty="0">
                <a:solidFill>
                  <a:srgbClr val="000000"/>
                </a:solidFill>
              </a:rPr>
              <a:t>relationships. </a:t>
            </a:r>
          </a:p>
          <a:p>
            <a:pPr lvl="1" eaLnBrk="1" hangingPunct="1">
              <a:spcBef>
                <a:spcPts val="1200"/>
              </a:spcBef>
            </a:pPr>
            <a:r>
              <a:rPr lang="en-US" altLang="en-US" sz="3200" dirty="0">
                <a:solidFill>
                  <a:srgbClr val="000000"/>
                </a:solidFill>
              </a:rPr>
              <a:t>A </a:t>
            </a:r>
            <a:r>
              <a:rPr lang="en-US" altLang="en-US" sz="3200" dirty="0">
                <a:solidFill>
                  <a:srgbClr val="000000"/>
                </a:solidFill>
                <a:latin typeface="Consolas" panose="020B0609020204030204" pitchFamily="49" charset="0"/>
              </a:rPr>
              <a:t>Triangle</a:t>
            </a:r>
            <a:r>
              <a:rPr lang="en-US" altLang="en-US" sz="3200" dirty="0">
                <a:solidFill>
                  <a:srgbClr val="000000"/>
                </a:solidFill>
              </a:rPr>
              <a:t> </a:t>
            </a:r>
            <a:r>
              <a:rPr lang="en-US" altLang="en-US" sz="3200" i="1" dirty="0">
                <a:solidFill>
                  <a:srgbClr val="000000"/>
                </a:solidFill>
              </a:rPr>
              <a:t>is a </a:t>
            </a:r>
            <a:r>
              <a:rPr lang="en-US" altLang="en-US" sz="3200" dirty="0" err="1">
                <a:solidFill>
                  <a:srgbClr val="000000"/>
                </a:solidFill>
                <a:latin typeface="Consolas" panose="020B0609020204030204" pitchFamily="49" charset="0"/>
              </a:rPr>
              <a:t>TwoDimensionalShape</a:t>
            </a:r>
            <a:r>
              <a:rPr lang="en-US" altLang="en-US" sz="3200" dirty="0">
                <a:solidFill>
                  <a:srgbClr val="000000"/>
                </a:solidFill>
              </a:rPr>
              <a:t> and </a:t>
            </a:r>
            <a:r>
              <a:rPr lang="en-US" altLang="en-US" sz="3200" i="1" dirty="0">
                <a:solidFill>
                  <a:srgbClr val="000000"/>
                </a:solidFill>
              </a:rPr>
              <a:t>is a </a:t>
            </a:r>
            <a:r>
              <a:rPr lang="en-US" altLang="en-US" sz="3200" dirty="0">
                <a:solidFill>
                  <a:srgbClr val="000000"/>
                </a:solidFill>
                <a:latin typeface="Consolas" panose="020B0609020204030204" pitchFamily="49" charset="0"/>
              </a:rPr>
              <a:t>Shape</a:t>
            </a:r>
            <a:endParaRPr lang="en-US" altLang="en-US" sz="3200" dirty="0">
              <a:solidFill>
                <a:srgbClr val="000000"/>
              </a:solidFill>
            </a:endParaRPr>
          </a:p>
          <a:p>
            <a:pPr lvl="1" eaLnBrk="1" hangingPunct="1">
              <a:spcBef>
                <a:spcPts val="1200"/>
              </a:spcBef>
            </a:pPr>
            <a:r>
              <a:rPr lang="en-US" altLang="en-US" sz="3200" dirty="0" err="1">
                <a:solidFill>
                  <a:srgbClr val="000000"/>
                </a:solidFill>
              </a:rPr>
              <a:t>A</a:t>
            </a:r>
            <a:r>
              <a:rPr lang="en-US" altLang="en-US" sz="3200" dirty="0" err="1">
                <a:solidFill>
                  <a:srgbClr val="000000"/>
                </a:solidFill>
                <a:latin typeface="Consolas" panose="020B0609020204030204" pitchFamily="49" charset="0"/>
              </a:rPr>
              <a:t>Sphere</a:t>
            </a:r>
            <a:r>
              <a:rPr lang="en-US" altLang="en-US" sz="3200" i="1" dirty="0">
                <a:solidFill>
                  <a:srgbClr val="000000"/>
                </a:solidFill>
              </a:rPr>
              <a:t> is a </a:t>
            </a:r>
            <a:r>
              <a:rPr lang="en-US" altLang="en-US" sz="3200" dirty="0" err="1">
                <a:solidFill>
                  <a:srgbClr val="000000"/>
                </a:solidFill>
                <a:latin typeface="Consolas" panose="020B0609020204030204" pitchFamily="49" charset="0"/>
              </a:rPr>
              <a:t>ThreeDimensionalShape</a:t>
            </a:r>
            <a:r>
              <a:rPr lang="en-US" altLang="en-US" sz="3200" dirty="0">
                <a:solidFill>
                  <a:srgbClr val="000000"/>
                </a:solidFill>
              </a:rPr>
              <a:t> and </a:t>
            </a:r>
            <a:r>
              <a:rPr lang="en-US" altLang="en-US" sz="3200" i="1" dirty="0">
                <a:solidFill>
                  <a:srgbClr val="000000"/>
                </a:solidFill>
              </a:rPr>
              <a:t>is a </a:t>
            </a:r>
            <a:r>
              <a:rPr lang="en-US" altLang="en-US" sz="3200" dirty="0">
                <a:solidFill>
                  <a:srgbClr val="000000"/>
                </a:solidFill>
                <a:latin typeface="Consolas" panose="020B0609020204030204" pitchFamily="49" charset="0"/>
              </a:rPr>
              <a:t>Shape</a:t>
            </a:r>
            <a:r>
              <a:rPr lang="en-US" altLang="en-US" sz="3200" dirty="0">
                <a:solidFill>
                  <a:srgbClr val="000000"/>
                </a:solidFill>
              </a:rPr>
              <a:t>. </a:t>
            </a:r>
          </a:p>
        </p:txBody>
      </p:sp>
      <p:sp>
        <p:nvSpPr>
          <p:cNvPr id="4" name="Footer Placeholder 3">
            <a:extLst>
              <a:ext uri="{FF2B5EF4-FFF2-40B4-BE49-F238E27FC236}">
                <a16:creationId xmlns:a16="http://schemas.microsoft.com/office/drawing/2014/main" id="{716C842D-4659-471D-854E-AF5A17D35F5D}"/>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226271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2">
            <a:extLst>
              <a:ext uri="{FF2B5EF4-FFF2-40B4-BE49-F238E27FC236}">
                <a16:creationId xmlns:a16="http://schemas.microsoft.com/office/drawing/2014/main" id="{9C70A2C3-106B-4286-A4A1-D3460839A27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22325"/>
            <a:ext cx="12192000" cy="5211763"/>
          </a:xfrm>
          <a:prstGeom prst="rect">
            <a:avLst/>
          </a:prstGeom>
        </p:spPr>
      </p:pic>
      <p:sp>
        <p:nvSpPr>
          <p:cNvPr id="2" name="Footer Placeholder 1">
            <a:extLst>
              <a:ext uri="{FF2B5EF4-FFF2-40B4-BE49-F238E27FC236}">
                <a16:creationId xmlns:a16="http://schemas.microsoft.com/office/drawing/2014/main" id="{FE193924-108A-4F82-A739-0BA8E1B1DCF3}"/>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556751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DD49A-6F2D-4378-BAF0-8E3EC9BA6F1E}"/>
              </a:ext>
            </a:extLst>
          </p:cNvPr>
          <p:cNvSpPr>
            <a:spLocks noGrp="1"/>
          </p:cNvSpPr>
          <p:nvPr>
            <p:ph type="title"/>
          </p:nvPr>
        </p:nvSpPr>
        <p:spPr>
          <a:xfrm>
            <a:off x="609600" y="274638"/>
            <a:ext cx="10972800" cy="576262"/>
          </a:xfrm>
        </p:spPr>
        <p:txBody>
          <a:bodyPr>
            <a:normAutofit fontScale="90000"/>
          </a:bodyPr>
          <a:lstStyle/>
          <a:p>
            <a:pPr fontAlgn="auto">
              <a:spcAft>
                <a:spcPts val="0"/>
              </a:spcAft>
              <a:defRPr/>
            </a:pPr>
            <a:r>
              <a:rPr lang="en-US" dirty="0">
                <a:solidFill>
                  <a:srgbClr val="24B5A1"/>
                </a:solidFill>
                <a:latin typeface="Calibri" panose="020F0502020204030204" pitchFamily="34" charset="0"/>
              </a:rPr>
              <a:t>9.2  </a:t>
            </a:r>
            <a:r>
              <a:rPr lang="en-US" dirty="0" err="1">
                <a:solidFill>
                  <a:srgbClr val="3380E6"/>
                </a:solidFill>
                <a:latin typeface="Calibri" panose="020F0502020204030204" pitchFamily="34" charset="0"/>
              </a:rPr>
              <a:t>Superclasses</a:t>
            </a:r>
            <a:r>
              <a:rPr lang="en-US" dirty="0">
                <a:solidFill>
                  <a:srgbClr val="3380E6"/>
                </a:solidFill>
                <a:latin typeface="Calibri" panose="020F0502020204030204" pitchFamily="34" charset="0"/>
              </a:rPr>
              <a:t> and Subclasses (Cont.)</a:t>
            </a:r>
          </a:p>
        </p:txBody>
      </p:sp>
      <p:sp>
        <p:nvSpPr>
          <p:cNvPr id="23555" name="Text Placeholder 2">
            <a:extLst>
              <a:ext uri="{FF2B5EF4-FFF2-40B4-BE49-F238E27FC236}">
                <a16:creationId xmlns:a16="http://schemas.microsoft.com/office/drawing/2014/main" id="{0A2BB741-2BFB-4903-AFA0-35E831779995}"/>
              </a:ext>
            </a:extLst>
          </p:cNvPr>
          <p:cNvSpPr>
            <a:spLocks noGrp="1"/>
          </p:cNvSpPr>
          <p:nvPr>
            <p:ph type="body" idx="1"/>
          </p:nvPr>
        </p:nvSpPr>
        <p:spPr>
          <a:xfrm>
            <a:off x="609600" y="1001633"/>
            <a:ext cx="10972800" cy="4525962"/>
          </a:xfrm>
        </p:spPr>
        <p:txBody>
          <a:bodyPr/>
          <a:lstStyle/>
          <a:p>
            <a:pPr eaLnBrk="1" hangingPunct="1">
              <a:spcBef>
                <a:spcPts val="1200"/>
              </a:spcBef>
            </a:pPr>
            <a:r>
              <a:rPr lang="en-US" altLang="en-US" sz="3200" dirty="0">
                <a:solidFill>
                  <a:srgbClr val="000000"/>
                </a:solidFill>
              </a:rPr>
              <a:t>Not every class relationship is an inheritance relationship. </a:t>
            </a:r>
          </a:p>
          <a:p>
            <a:pPr eaLnBrk="1" hangingPunct="1">
              <a:spcBef>
                <a:spcPts val="1200"/>
              </a:spcBef>
            </a:pPr>
            <a:r>
              <a:rPr lang="en-US" altLang="en-US" sz="3200" i="1" dirty="0">
                <a:solidFill>
                  <a:srgbClr val="000000"/>
                </a:solidFill>
              </a:rPr>
              <a:t>Has-a </a:t>
            </a:r>
            <a:r>
              <a:rPr lang="en-US" altLang="en-US" sz="3200" dirty="0">
                <a:solidFill>
                  <a:srgbClr val="000000"/>
                </a:solidFill>
              </a:rPr>
              <a:t>relationship</a:t>
            </a:r>
          </a:p>
          <a:p>
            <a:pPr lvl="1" eaLnBrk="1" hangingPunct="1">
              <a:spcBef>
                <a:spcPts val="1200"/>
              </a:spcBef>
            </a:pPr>
            <a:r>
              <a:rPr lang="en-US" altLang="en-US" sz="3200" dirty="0">
                <a:solidFill>
                  <a:srgbClr val="000000"/>
                </a:solidFill>
              </a:rPr>
              <a:t>Create classes by composition of existing classes. </a:t>
            </a:r>
          </a:p>
          <a:p>
            <a:pPr lvl="1" eaLnBrk="1" hangingPunct="1">
              <a:spcBef>
                <a:spcPts val="1200"/>
              </a:spcBef>
            </a:pPr>
            <a:r>
              <a:rPr lang="en-US" altLang="en-US" sz="3200" dirty="0">
                <a:solidFill>
                  <a:srgbClr val="000000"/>
                </a:solidFill>
              </a:rPr>
              <a:t>Example: Given the classes </a:t>
            </a:r>
            <a:r>
              <a:rPr lang="en-US" altLang="en-US" sz="3200" b="1" dirty="0">
                <a:solidFill>
                  <a:srgbClr val="000000"/>
                </a:solidFill>
                <a:latin typeface="Consolas" panose="020B0609020204030204" pitchFamily="49" charset="0"/>
              </a:rPr>
              <a:t>Employee</a:t>
            </a:r>
            <a:r>
              <a:rPr lang="en-US" altLang="en-US" sz="3200" b="1" dirty="0">
                <a:solidFill>
                  <a:srgbClr val="000000"/>
                </a:solidFill>
              </a:rPr>
              <a:t>, </a:t>
            </a:r>
            <a:r>
              <a:rPr lang="en-US" altLang="en-US" sz="3200" b="1" dirty="0" err="1">
                <a:solidFill>
                  <a:srgbClr val="000000"/>
                </a:solidFill>
                <a:latin typeface="Consolas" panose="020B0609020204030204" pitchFamily="49" charset="0"/>
              </a:rPr>
              <a:t>BirthDate</a:t>
            </a:r>
            <a:r>
              <a:rPr lang="en-US" altLang="en-US" sz="3200" dirty="0">
                <a:solidFill>
                  <a:srgbClr val="000000"/>
                </a:solidFill>
              </a:rPr>
              <a:t> and </a:t>
            </a:r>
            <a:r>
              <a:rPr lang="en-US" altLang="en-US" sz="3200" b="1" dirty="0" err="1">
                <a:solidFill>
                  <a:srgbClr val="000000"/>
                </a:solidFill>
                <a:latin typeface="Consolas" panose="020B0609020204030204" pitchFamily="49" charset="0"/>
              </a:rPr>
              <a:t>TelephoneNumber</a:t>
            </a:r>
            <a:r>
              <a:rPr lang="en-US" altLang="en-US" sz="3200" dirty="0">
                <a:solidFill>
                  <a:srgbClr val="000000"/>
                </a:solidFill>
              </a:rPr>
              <a:t>, it’s improper to say that an </a:t>
            </a:r>
            <a:r>
              <a:rPr lang="en-US" altLang="en-US" sz="3200" dirty="0">
                <a:solidFill>
                  <a:srgbClr val="000000"/>
                </a:solidFill>
                <a:latin typeface="Consolas" panose="020B0609020204030204" pitchFamily="49" charset="0"/>
              </a:rPr>
              <a:t>Employee</a:t>
            </a:r>
            <a:r>
              <a:rPr lang="en-US" altLang="en-US" sz="3200" dirty="0">
                <a:solidFill>
                  <a:srgbClr val="000000"/>
                </a:solidFill>
              </a:rPr>
              <a:t> </a:t>
            </a:r>
            <a:r>
              <a:rPr lang="en-US" altLang="en-US" sz="3200" i="1" dirty="0">
                <a:solidFill>
                  <a:srgbClr val="000000"/>
                </a:solidFill>
              </a:rPr>
              <a:t>is a </a:t>
            </a:r>
            <a:r>
              <a:rPr lang="en-US" altLang="en-US" sz="3200" b="1" dirty="0" err="1">
                <a:solidFill>
                  <a:srgbClr val="000000"/>
                </a:solidFill>
                <a:latin typeface="Consolas" panose="020B0609020204030204" pitchFamily="49" charset="0"/>
              </a:rPr>
              <a:t>BirthDate</a:t>
            </a:r>
            <a:r>
              <a:rPr lang="en-US" altLang="en-US" sz="3200" dirty="0">
                <a:solidFill>
                  <a:srgbClr val="000000"/>
                </a:solidFill>
              </a:rPr>
              <a:t> or that an </a:t>
            </a:r>
            <a:r>
              <a:rPr lang="en-US" altLang="en-US" sz="3200" b="1" dirty="0">
                <a:solidFill>
                  <a:srgbClr val="000000"/>
                </a:solidFill>
                <a:latin typeface="Consolas" panose="020B0609020204030204" pitchFamily="49" charset="0"/>
              </a:rPr>
              <a:t>Employee</a:t>
            </a:r>
            <a:r>
              <a:rPr lang="en-US" altLang="en-US" sz="3200" dirty="0">
                <a:solidFill>
                  <a:srgbClr val="000000"/>
                </a:solidFill>
              </a:rPr>
              <a:t> </a:t>
            </a:r>
            <a:r>
              <a:rPr lang="en-US" altLang="en-US" sz="3200" i="1" dirty="0">
                <a:solidFill>
                  <a:srgbClr val="000000"/>
                </a:solidFill>
              </a:rPr>
              <a:t>is a </a:t>
            </a:r>
            <a:r>
              <a:rPr lang="en-US" altLang="en-US" sz="3200" b="1" dirty="0" err="1">
                <a:solidFill>
                  <a:srgbClr val="000000"/>
                </a:solidFill>
                <a:latin typeface="Consolas" panose="020B0609020204030204" pitchFamily="49" charset="0"/>
              </a:rPr>
              <a:t>TelephoneNumber</a:t>
            </a:r>
            <a:r>
              <a:rPr lang="en-US" altLang="en-US" sz="3200" b="1" dirty="0">
                <a:solidFill>
                  <a:srgbClr val="000000"/>
                </a:solidFill>
              </a:rPr>
              <a:t>. </a:t>
            </a:r>
          </a:p>
          <a:p>
            <a:pPr lvl="1" eaLnBrk="1" hangingPunct="1">
              <a:spcBef>
                <a:spcPts val="1200"/>
              </a:spcBef>
            </a:pPr>
            <a:r>
              <a:rPr lang="en-US" altLang="en-US" sz="3200" dirty="0">
                <a:solidFill>
                  <a:srgbClr val="000000"/>
                </a:solidFill>
              </a:rPr>
              <a:t>However, an </a:t>
            </a:r>
            <a:r>
              <a:rPr lang="en-US" altLang="en-US" sz="3200" b="1" dirty="0">
                <a:solidFill>
                  <a:srgbClr val="000000"/>
                </a:solidFill>
                <a:latin typeface="Consolas" panose="020B0609020204030204" pitchFamily="49" charset="0"/>
              </a:rPr>
              <a:t>Employee</a:t>
            </a:r>
            <a:r>
              <a:rPr lang="en-US" altLang="en-US" sz="3200" dirty="0">
                <a:solidFill>
                  <a:srgbClr val="000000"/>
                </a:solidFill>
              </a:rPr>
              <a:t> </a:t>
            </a:r>
            <a:r>
              <a:rPr lang="en-US" altLang="en-US" sz="3200" i="1" dirty="0">
                <a:solidFill>
                  <a:srgbClr val="000000"/>
                </a:solidFill>
              </a:rPr>
              <a:t>has a </a:t>
            </a:r>
            <a:r>
              <a:rPr lang="en-US" altLang="en-US" sz="3200" b="1" dirty="0" err="1">
                <a:solidFill>
                  <a:srgbClr val="000000"/>
                </a:solidFill>
                <a:latin typeface="Consolas" panose="020B0609020204030204" pitchFamily="49" charset="0"/>
              </a:rPr>
              <a:t>BirthDate</a:t>
            </a:r>
            <a:r>
              <a:rPr lang="en-US" altLang="en-US" sz="3200" dirty="0">
                <a:solidFill>
                  <a:srgbClr val="000000"/>
                </a:solidFill>
              </a:rPr>
              <a:t>, and an </a:t>
            </a:r>
            <a:r>
              <a:rPr lang="en-US" altLang="en-US" sz="3200" b="1" dirty="0">
                <a:solidFill>
                  <a:srgbClr val="000000"/>
                </a:solidFill>
                <a:latin typeface="Consolas" panose="020B0609020204030204" pitchFamily="49" charset="0"/>
              </a:rPr>
              <a:t>Employee</a:t>
            </a:r>
            <a:r>
              <a:rPr lang="en-US" altLang="en-US" sz="3200" dirty="0">
                <a:solidFill>
                  <a:srgbClr val="000000"/>
                </a:solidFill>
              </a:rPr>
              <a:t> </a:t>
            </a:r>
            <a:r>
              <a:rPr lang="en-US" altLang="en-US" sz="3200" i="1" dirty="0">
                <a:solidFill>
                  <a:srgbClr val="000000"/>
                </a:solidFill>
              </a:rPr>
              <a:t>has a </a:t>
            </a:r>
            <a:r>
              <a:rPr lang="en-US" altLang="en-US" sz="3200" b="1" dirty="0" err="1">
                <a:solidFill>
                  <a:srgbClr val="000000"/>
                </a:solidFill>
                <a:latin typeface="Consolas" panose="020B0609020204030204" pitchFamily="49" charset="0"/>
              </a:rPr>
              <a:t>TelephoneNumber</a:t>
            </a:r>
            <a:r>
              <a:rPr lang="en-US" altLang="en-US" sz="3200" dirty="0">
                <a:solidFill>
                  <a:srgbClr val="000000"/>
                </a:solidFill>
              </a:rPr>
              <a:t>.</a:t>
            </a:r>
          </a:p>
        </p:txBody>
      </p:sp>
    </p:spTree>
    <p:extLst>
      <p:ext uri="{BB962C8B-B14F-4D97-AF65-F5344CB8AC3E}">
        <p14:creationId xmlns:p14="http://schemas.microsoft.com/office/powerpoint/2010/main" val="1930295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B3826-C7DA-4A66-8598-6D00672E99BC}"/>
              </a:ext>
            </a:extLst>
          </p:cNvPr>
          <p:cNvSpPr>
            <a:spLocks noGrp="1"/>
          </p:cNvSpPr>
          <p:nvPr>
            <p:ph type="title"/>
          </p:nvPr>
        </p:nvSpPr>
        <p:spPr>
          <a:xfrm>
            <a:off x="609600" y="274638"/>
            <a:ext cx="10972800" cy="670584"/>
          </a:xfrm>
        </p:spPr>
        <p:txBody>
          <a:bodyPr>
            <a:normAutofit/>
          </a:bodyPr>
          <a:lstStyle/>
          <a:p>
            <a:pPr fontAlgn="auto">
              <a:spcAft>
                <a:spcPts val="0"/>
              </a:spcAft>
              <a:defRPr/>
            </a:pPr>
            <a:r>
              <a:rPr lang="en-US" dirty="0">
                <a:solidFill>
                  <a:srgbClr val="24B5A1"/>
                </a:solidFill>
                <a:latin typeface="Calibri" panose="020F0502020204030204" pitchFamily="34" charset="0"/>
              </a:rPr>
              <a:t>9.2  </a:t>
            </a:r>
            <a:r>
              <a:rPr lang="en-US" dirty="0" err="1">
                <a:solidFill>
                  <a:srgbClr val="3380E6"/>
                </a:solidFill>
                <a:latin typeface="Calibri" panose="020F0502020204030204" pitchFamily="34" charset="0"/>
              </a:rPr>
              <a:t>Superclasses</a:t>
            </a:r>
            <a:r>
              <a:rPr lang="en-US" dirty="0">
                <a:solidFill>
                  <a:srgbClr val="3380E6"/>
                </a:solidFill>
                <a:latin typeface="Calibri" panose="020F0502020204030204" pitchFamily="34" charset="0"/>
              </a:rPr>
              <a:t> and Subclasses (Cont.)</a:t>
            </a:r>
          </a:p>
        </p:txBody>
      </p:sp>
      <p:sp>
        <p:nvSpPr>
          <p:cNvPr id="24579" name="Text Placeholder 2">
            <a:extLst>
              <a:ext uri="{FF2B5EF4-FFF2-40B4-BE49-F238E27FC236}">
                <a16:creationId xmlns:a16="http://schemas.microsoft.com/office/drawing/2014/main" id="{DAE49478-65FB-4F02-A085-54133A7A37B5}"/>
              </a:ext>
            </a:extLst>
          </p:cNvPr>
          <p:cNvSpPr>
            <a:spLocks noGrp="1"/>
          </p:cNvSpPr>
          <p:nvPr>
            <p:ph type="body" idx="1"/>
          </p:nvPr>
        </p:nvSpPr>
        <p:spPr>
          <a:xfrm>
            <a:off x="559763" y="1166019"/>
            <a:ext cx="10972800" cy="4525962"/>
          </a:xfrm>
        </p:spPr>
        <p:txBody>
          <a:bodyPr/>
          <a:lstStyle/>
          <a:p>
            <a:pPr eaLnBrk="1" hangingPunct="1">
              <a:spcBef>
                <a:spcPts val="1200"/>
              </a:spcBef>
            </a:pPr>
            <a:r>
              <a:rPr lang="en-US" altLang="en-US" sz="2800" dirty="0">
                <a:solidFill>
                  <a:srgbClr val="000000"/>
                </a:solidFill>
              </a:rPr>
              <a:t>Objects of all classes that extend a common superclass can be treated as objects of that superclass.</a:t>
            </a:r>
          </a:p>
          <a:p>
            <a:pPr lvl="1" eaLnBrk="1" hangingPunct="1">
              <a:spcBef>
                <a:spcPts val="1200"/>
              </a:spcBef>
            </a:pPr>
            <a:r>
              <a:rPr lang="en-US" altLang="en-US" sz="2800" dirty="0">
                <a:solidFill>
                  <a:srgbClr val="000000"/>
                </a:solidFill>
              </a:rPr>
              <a:t>Commonality expressed in the members of the superclass. </a:t>
            </a:r>
          </a:p>
          <a:p>
            <a:pPr eaLnBrk="1" hangingPunct="1">
              <a:spcBef>
                <a:spcPts val="1200"/>
              </a:spcBef>
            </a:pPr>
            <a:r>
              <a:rPr lang="en-US" altLang="en-US" sz="2800" dirty="0">
                <a:solidFill>
                  <a:srgbClr val="000000"/>
                </a:solidFill>
              </a:rPr>
              <a:t>Inheritance issue</a:t>
            </a:r>
          </a:p>
          <a:p>
            <a:pPr lvl="1" eaLnBrk="1" hangingPunct="1">
              <a:spcBef>
                <a:spcPts val="1200"/>
              </a:spcBef>
            </a:pPr>
            <a:r>
              <a:rPr lang="en-US" altLang="en-US" sz="2800" dirty="0">
                <a:solidFill>
                  <a:srgbClr val="000000"/>
                </a:solidFill>
              </a:rPr>
              <a:t>A subclass can inherit methods that it does not need or should not have. </a:t>
            </a:r>
          </a:p>
          <a:p>
            <a:pPr lvl="1" eaLnBrk="1" hangingPunct="1">
              <a:spcBef>
                <a:spcPts val="1200"/>
              </a:spcBef>
            </a:pPr>
            <a:r>
              <a:rPr lang="en-US" altLang="en-US" sz="2800" dirty="0">
                <a:solidFill>
                  <a:srgbClr val="000000"/>
                </a:solidFill>
              </a:rPr>
              <a:t>Even when a superclass method is appropriate for a subclass, that subclass often needs a customized version of the method. </a:t>
            </a:r>
          </a:p>
          <a:p>
            <a:pPr lvl="1" eaLnBrk="1" hangingPunct="1">
              <a:spcBef>
                <a:spcPts val="1200"/>
              </a:spcBef>
            </a:pPr>
            <a:r>
              <a:rPr lang="en-US" altLang="en-US" sz="2800" dirty="0">
                <a:solidFill>
                  <a:srgbClr val="000000"/>
                </a:solidFill>
              </a:rPr>
              <a:t>The subclass can </a:t>
            </a:r>
            <a:r>
              <a:rPr lang="en-US" altLang="en-US" sz="2800" dirty="0">
                <a:solidFill>
                  <a:srgbClr val="0000FF"/>
                </a:solidFill>
              </a:rPr>
              <a:t>override</a:t>
            </a:r>
            <a:r>
              <a:rPr lang="en-US" altLang="en-US" sz="2800" dirty="0">
                <a:solidFill>
                  <a:srgbClr val="000000"/>
                </a:solidFill>
              </a:rPr>
              <a:t> (redefine) the superclass method with an appropriate implementation.</a:t>
            </a:r>
          </a:p>
        </p:txBody>
      </p:sp>
    </p:spTree>
    <p:extLst>
      <p:ext uri="{BB962C8B-B14F-4D97-AF65-F5344CB8AC3E}">
        <p14:creationId xmlns:p14="http://schemas.microsoft.com/office/powerpoint/2010/main" val="1302477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507F0-ADD9-429A-9306-4265DDB4610A}"/>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9.3  </a:t>
            </a:r>
            <a:r>
              <a:rPr lang="en-US" dirty="0">
                <a:solidFill>
                  <a:srgbClr val="3380E6"/>
                </a:solidFill>
                <a:latin typeface="Consolas" panose="020B0609020204030204" pitchFamily="49" charset="0"/>
              </a:rPr>
              <a:t>protected</a:t>
            </a:r>
            <a:r>
              <a:rPr lang="en-US" dirty="0">
                <a:solidFill>
                  <a:srgbClr val="3380E6"/>
                </a:solidFill>
                <a:latin typeface="Calibri" panose="020F0502020204030204" pitchFamily="34" charset="0"/>
              </a:rPr>
              <a:t> Members</a:t>
            </a:r>
          </a:p>
        </p:txBody>
      </p:sp>
      <p:sp>
        <p:nvSpPr>
          <p:cNvPr id="25603" name="Text Placeholder 2">
            <a:extLst>
              <a:ext uri="{FF2B5EF4-FFF2-40B4-BE49-F238E27FC236}">
                <a16:creationId xmlns:a16="http://schemas.microsoft.com/office/drawing/2014/main" id="{20AC9849-1F25-4CB7-AC0A-5199C3109DAE}"/>
              </a:ext>
            </a:extLst>
          </p:cNvPr>
          <p:cNvSpPr>
            <a:spLocks noGrp="1"/>
          </p:cNvSpPr>
          <p:nvPr>
            <p:ph type="body" idx="1"/>
          </p:nvPr>
        </p:nvSpPr>
        <p:spPr/>
        <p:txBody>
          <a:bodyPr/>
          <a:lstStyle/>
          <a:p>
            <a:pPr eaLnBrk="1" hangingPunct="1">
              <a:spcBef>
                <a:spcPts val="1200"/>
              </a:spcBef>
            </a:pPr>
            <a:r>
              <a:rPr lang="en-US" altLang="en-US" sz="2500" dirty="0">
                <a:solidFill>
                  <a:srgbClr val="000000"/>
                </a:solidFill>
              </a:rPr>
              <a:t>A class’s </a:t>
            </a:r>
            <a:r>
              <a:rPr lang="en-US" altLang="en-US" sz="2500" b="1" dirty="0">
                <a:solidFill>
                  <a:srgbClr val="000000"/>
                </a:solidFill>
                <a:highlight>
                  <a:srgbClr val="FFFF00"/>
                </a:highlight>
                <a:latin typeface="Consolas" panose="020B0609020204030204" pitchFamily="49" charset="0"/>
              </a:rPr>
              <a:t>public</a:t>
            </a:r>
            <a:r>
              <a:rPr lang="en-US" altLang="en-US" sz="2500" dirty="0">
                <a:solidFill>
                  <a:srgbClr val="000000"/>
                </a:solidFill>
              </a:rPr>
              <a:t> members are accessible wherever the program has a reference to an object of that class or one of its subclasses. </a:t>
            </a:r>
          </a:p>
          <a:p>
            <a:pPr eaLnBrk="1" hangingPunct="1">
              <a:spcBef>
                <a:spcPts val="1200"/>
              </a:spcBef>
            </a:pPr>
            <a:r>
              <a:rPr lang="en-US" altLang="en-US" sz="2500" dirty="0">
                <a:solidFill>
                  <a:srgbClr val="000000"/>
                </a:solidFill>
              </a:rPr>
              <a:t>A class’s </a:t>
            </a:r>
            <a:r>
              <a:rPr lang="en-US" altLang="en-US" sz="2500" b="1" dirty="0">
                <a:solidFill>
                  <a:srgbClr val="000000"/>
                </a:solidFill>
                <a:highlight>
                  <a:srgbClr val="FFFF00"/>
                </a:highlight>
                <a:latin typeface="Consolas" panose="020B0609020204030204" pitchFamily="49" charset="0"/>
              </a:rPr>
              <a:t>private</a:t>
            </a:r>
            <a:r>
              <a:rPr lang="en-US" altLang="en-US" sz="2500" dirty="0">
                <a:solidFill>
                  <a:srgbClr val="000000"/>
                </a:solidFill>
              </a:rPr>
              <a:t> members are accessible only within the class itself. </a:t>
            </a:r>
          </a:p>
          <a:p>
            <a:pPr eaLnBrk="1" hangingPunct="1">
              <a:spcBef>
                <a:spcPts val="1200"/>
              </a:spcBef>
            </a:pPr>
            <a:r>
              <a:rPr lang="en-US" altLang="en-US" sz="2500" b="1" dirty="0">
                <a:solidFill>
                  <a:srgbClr val="0000FF"/>
                </a:solidFill>
                <a:highlight>
                  <a:srgbClr val="FFFF00"/>
                </a:highlight>
                <a:latin typeface="Consolas" panose="020B0609020204030204" pitchFamily="49" charset="0"/>
              </a:rPr>
              <a:t>protected</a:t>
            </a:r>
            <a:r>
              <a:rPr lang="en-US" altLang="en-US" sz="2500" dirty="0">
                <a:solidFill>
                  <a:srgbClr val="000000"/>
                </a:solidFill>
              </a:rPr>
              <a:t> access is an intermediate level of access between </a:t>
            </a:r>
            <a:r>
              <a:rPr lang="en-US" altLang="en-US" sz="2500" dirty="0">
                <a:solidFill>
                  <a:srgbClr val="000000"/>
                </a:solidFill>
                <a:latin typeface="Consolas" panose="020B0609020204030204" pitchFamily="49" charset="0"/>
              </a:rPr>
              <a:t>public</a:t>
            </a:r>
            <a:r>
              <a:rPr lang="en-US" altLang="en-US" sz="2500" dirty="0">
                <a:solidFill>
                  <a:srgbClr val="000000"/>
                </a:solidFill>
              </a:rPr>
              <a:t> and </a:t>
            </a:r>
            <a:r>
              <a:rPr lang="en-US" altLang="en-US" sz="2500" dirty="0">
                <a:solidFill>
                  <a:srgbClr val="000000"/>
                </a:solidFill>
                <a:latin typeface="Consolas" panose="020B0609020204030204" pitchFamily="49" charset="0"/>
              </a:rPr>
              <a:t>private</a:t>
            </a:r>
            <a:r>
              <a:rPr lang="en-US" altLang="en-US" sz="2500" dirty="0">
                <a:solidFill>
                  <a:srgbClr val="000000"/>
                </a:solidFill>
              </a:rPr>
              <a:t>. </a:t>
            </a:r>
          </a:p>
          <a:p>
            <a:pPr lvl="1" eaLnBrk="1" hangingPunct="1">
              <a:spcBef>
                <a:spcPts val="1200"/>
              </a:spcBef>
            </a:pPr>
            <a:r>
              <a:rPr lang="en-US" altLang="en-US" sz="2100" dirty="0">
                <a:solidFill>
                  <a:srgbClr val="000000"/>
                </a:solidFill>
              </a:rPr>
              <a:t>A superclass’s </a:t>
            </a:r>
            <a:r>
              <a:rPr lang="en-US" altLang="en-US" sz="2100" b="1" dirty="0">
                <a:solidFill>
                  <a:srgbClr val="000000"/>
                </a:solidFill>
                <a:latin typeface="Consolas" panose="020B0609020204030204" pitchFamily="49" charset="0"/>
              </a:rPr>
              <a:t>protected</a:t>
            </a:r>
            <a:r>
              <a:rPr lang="en-US" altLang="en-US" sz="2100" dirty="0">
                <a:solidFill>
                  <a:srgbClr val="000000"/>
                </a:solidFill>
              </a:rPr>
              <a:t> members can be accessed by members of that superclass, by members of its subclasses and by members of other classes in the </a:t>
            </a:r>
            <a:r>
              <a:rPr lang="en-US" altLang="en-US" sz="2100" i="1" dirty="0">
                <a:solidFill>
                  <a:srgbClr val="000000"/>
                </a:solidFill>
              </a:rPr>
              <a:t>same package</a:t>
            </a:r>
          </a:p>
          <a:p>
            <a:pPr lvl="2" eaLnBrk="1" hangingPunct="1">
              <a:spcBef>
                <a:spcPts val="1200"/>
              </a:spcBef>
            </a:pPr>
            <a:r>
              <a:rPr lang="en-US" altLang="en-US" sz="1900" dirty="0">
                <a:solidFill>
                  <a:srgbClr val="000000"/>
                </a:solidFill>
                <a:latin typeface="Consolas" panose="020B0609020204030204" pitchFamily="49" charset="0"/>
              </a:rPr>
              <a:t>protected</a:t>
            </a:r>
            <a:r>
              <a:rPr lang="en-US" altLang="en-US" sz="1900" dirty="0">
                <a:solidFill>
                  <a:srgbClr val="000000"/>
                </a:solidFill>
              </a:rPr>
              <a:t> members also have package access.</a:t>
            </a:r>
          </a:p>
          <a:p>
            <a:pPr lvl="1" eaLnBrk="1" hangingPunct="1">
              <a:spcBef>
                <a:spcPts val="1200"/>
              </a:spcBef>
            </a:pPr>
            <a:r>
              <a:rPr lang="en-US" altLang="en-US" sz="2100" dirty="0">
                <a:solidFill>
                  <a:srgbClr val="000000"/>
                </a:solidFill>
              </a:rPr>
              <a:t>All </a:t>
            </a:r>
            <a:r>
              <a:rPr lang="en-US" altLang="en-US" sz="2100" b="1" dirty="0">
                <a:solidFill>
                  <a:srgbClr val="000000"/>
                </a:solidFill>
                <a:latin typeface="Consolas" panose="020B0609020204030204" pitchFamily="49" charset="0"/>
              </a:rPr>
              <a:t>public</a:t>
            </a:r>
            <a:r>
              <a:rPr lang="en-US" altLang="en-US" sz="2100" dirty="0">
                <a:solidFill>
                  <a:srgbClr val="000000"/>
                </a:solidFill>
              </a:rPr>
              <a:t> and </a:t>
            </a:r>
            <a:r>
              <a:rPr lang="en-US" altLang="en-US" sz="2100" b="1" dirty="0">
                <a:solidFill>
                  <a:srgbClr val="000000"/>
                </a:solidFill>
                <a:latin typeface="Consolas" panose="020B0609020204030204" pitchFamily="49" charset="0"/>
              </a:rPr>
              <a:t>protected</a:t>
            </a:r>
            <a:r>
              <a:rPr lang="en-US" altLang="en-US" sz="2100" dirty="0">
                <a:solidFill>
                  <a:srgbClr val="000000"/>
                </a:solidFill>
              </a:rPr>
              <a:t> superclass members retain their original access modifier when they become members of the subclass.</a:t>
            </a:r>
          </a:p>
        </p:txBody>
      </p:sp>
    </p:spTree>
    <p:extLst>
      <p:ext uri="{BB962C8B-B14F-4D97-AF65-F5344CB8AC3E}">
        <p14:creationId xmlns:p14="http://schemas.microsoft.com/office/powerpoint/2010/main" val="4311812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1E409-DDE6-49B8-B625-DAAC371D2D00}"/>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9.3  </a:t>
            </a:r>
            <a:r>
              <a:rPr lang="en-US" dirty="0">
                <a:solidFill>
                  <a:srgbClr val="3380E6"/>
                </a:solidFill>
                <a:latin typeface="Consolas" panose="020B0609020204030204" pitchFamily="49" charset="0"/>
              </a:rPr>
              <a:t>protected</a:t>
            </a:r>
            <a:r>
              <a:rPr lang="en-US" dirty="0">
                <a:solidFill>
                  <a:srgbClr val="3380E6"/>
                </a:solidFill>
                <a:latin typeface="Calibri" panose="020F0502020204030204" pitchFamily="34" charset="0"/>
              </a:rPr>
              <a:t> Members (Cont.)</a:t>
            </a:r>
          </a:p>
        </p:txBody>
      </p:sp>
      <p:sp>
        <p:nvSpPr>
          <p:cNvPr id="26627" name="Text Placeholder 2">
            <a:extLst>
              <a:ext uri="{FF2B5EF4-FFF2-40B4-BE49-F238E27FC236}">
                <a16:creationId xmlns:a16="http://schemas.microsoft.com/office/drawing/2014/main" id="{34152C8B-2E10-41A0-A322-1AA968F32545}"/>
              </a:ext>
            </a:extLst>
          </p:cNvPr>
          <p:cNvSpPr>
            <a:spLocks noGrp="1"/>
          </p:cNvSpPr>
          <p:nvPr>
            <p:ph type="body" idx="1"/>
          </p:nvPr>
        </p:nvSpPr>
        <p:spPr>
          <a:xfrm>
            <a:off x="138545" y="1481137"/>
            <a:ext cx="11707091" cy="4836535"/>
          </a:xfrm>
        </p:spPr>
        <p:txBody>
          <a:bodyPr/>
          <a:lstStyle/>
          <a:p>
            <a:pPr eaLnBrk="1" hangingPunct="1">
              <a:spcBef>
                <a:spcPts val="1200"/>
              </a:spcBef>
            </a:pPr>
            <a:r>
              <a:rPr lang="en-US" altLang="en-US" sz="2800" dirty="0">
                <a:solidFill>
                  <a:srgbClr val="000000"/>
                </a:solidFill>
              </a:rPr>
              <a:t>A superclass’s </a:t>
            </a:r>
            <a:r>
              <a:rPr lang="en-US" altLang="en-US" sz="2800" b="1" dirty="0">
                <a:solidFill>
                  <a:srgbClr val="000000"/>
                </a:solidFill>
                <a:latin typeface="Consolas" panose="020B0609020204030204" pitchFamily="49" charset="0"/>
              </a:rPr>
              <a:t>private</a:t>
            </a:r>
            <a:r>
              <a:rPr lang="en-US" altLang="en-US" sz="2800" dirty="0">
                <a:solidFill>
                  <a:srgbClr val="000000"/>
                </a:solidFill>
              </a:rPr>
              <a:t> members are </a:t>
            </a:r>
            <a:r>
              <a:rPr lang="en-US" altLang="en-US" sz="2800" i="1" dirty="0">
                <a:solidFill>
                  <a:srgbClr val="000000"/>
                </a:solidFill>
              </a:rPr>
              <a:t>hidden</a:t>
            </a:r>
            <a:r>
              <a:rPr lang="en-US" altLang="en-US" sz="2800" dirty="0">
                <a:solidFill>
                  <a:srgbClr val="000000"/>
                </a:solidFill>
              </a:rPr>
              <a:t> from its subclasses </a:t>
            </a:r>
          </a:p>
          <a:p>
            <a:pPr lvl="1" eaLnBrk="1" hangingPunct="1">
              <a:spcBef>
                <a:spcPts val="1200"/>
              </a:spcBef>
            </a:pPr>
            <a:r>
              <a:rPr lang="en-US" altLang="en-US" sz="2400" dirty="0">
                <a:solidFill>
                  <a:srgbClr val="000000"/>
                </a:solidFill>
              </a:rPr>
              <a:t>They can be accessed only through the </a:t>
            </a:r>
            <a:r>
              <a:rPr lang="en-US" altLang="en-US" sz="2400" b="1" dirty="0">
                <a:solidFill>
                  <a:srgbClr val="000000"/>
                </a:solidFill>
                <a:highlight>
                  <a:srgbClr val="FFFF00"/>
                </a:highlight>
                <a:latin typeface="Consolas" panose="020B0609020204030204" pitchFamily="49" charset="0"/>
              </a:rPr>
              <a:t>public</a:t>
            </a:r>
            <a:r>
              <a:rPr lang="en-US" altLang="en-US" sz="2400" b="1" dirty="0">
                <a:solidFill>
                  <a:srgbClr val="000000"/>
                </a:solidFill>
              </a:rPr>
              <a:t> </a:t>
            </a:r>
            <a:r>
              <a:rPr lang="en-US" altLang="en-US" sz="2400" dirty="0">
                <a:solidFill>
                  <a:srgbClr val="000000"/>
                </a:solidFill>
              </a:rPr>
              <a:t>or </a:t>
            </a:r>
            <a:r>
              <a:rPr lang="en-US" altLang="en-US" sz="2400" b="1" dirty="0">
                <a:solidFill>
                  <a:srgbClr val="000000"/>
                </a:solidFill>
                <a:highlight>
                  <a:srgbClr val="FFFF00"/>
                </a:highlight>
                <a:latin typeface="Consolas" panose="020B0609020204030204" pitchFamily="49" charset="0"/>
              </a:rPr>
              <a:t>protected</a:t>
            </a:r>
            <a:r>
              <a:rPr lang="en-US" altLang="en-US" sz="2400" b="1" dirty="0">
                <a:solidFill>
                  <a:srgbClr val="000000"/>
                </a:solidFill>
              </a:rPr>
              <a:t> </a:t>
            </a:r>
            <a:r>
              <a:rPr lang="en-US" altLang="en-US" sz="2400" dirty="0">
                <a:solidFill>
                  <a:srgbClr val="000000"/>
                </a:solidFill>
              </a:rPr>
              <a:t>methods inherited from the superclass</a:t>
            </a:r>
          </a:p>
          <a:p>
            <a:pPr eaLnBrk="1" hangingPunct="1">
              <a:spcBef>
                <a:spcPts val="1200"/>
              </a:spcBef>
            </a:pPr>
            <a:r>
              <a:rPr lang="en-US" altLang="en-US" sz="2800" b="1" dirty="0">
                <a:solidFill>
                  <a:srgbClr val="000000"/>
                </a:solidFill>
              </a:rPr>
              <a:t>Subclass</a:t>
            </a:r>
            <a:r>
              <a:rPr lang="en-US" altLang="en-US" sz="2800" dirty="0">
                <a:solidFill>
                  <a:srgbClr val="000000"/>
                </a:solidFill>
              </a:rPr>
              <a:t> methods can refer to </a:t>
            </a:r>
            <a:r>
              <a:rPr lang="en-US" altLang="en-US" sz="2800" b="1" dirty="0">
                <a:solidFill>
                  <a:srgbClr val="000000"/>
                </a:solidFill>
                <a:latin typeface="Consolas" panose="020B0609020204030204" pitchFamily="49" charset="0"/>
              </a:rPr>
              <a:t>public</a:t>
            </a:r>
            <a:r>
              <a:rPr lang="en-US" altLang="en-US" sz="2800" b="1" dirty="0">
                <a:solidFill>
                  <a:srgbClr val="000000"/>
                </a:solidFill>
              </a:rPr>
              <a:t> </a:t>
            </a:r>
            <a:r>
              <a:rPr lang="en-US" altLang="en-US" sz="3200" dirty="0">
                <a:solidFill>
                  <a:srgbClr val="000000"/>
                </a:solidFill>
              </a:rPr>
              <a:t>and</a:t>
            </a:r>
            <a:r>
              <a:rPr lang="en-US" altLang="en-US" sz="2800" dirty="0">
                <a:solidFill>
                  <a:srgbClr val="000000"/>
                </a:solidFill>
              </a:rPr>
              <a:t> </a:t>
            </a:r>
            <a:r>
              <a:rPr lang="en-US" altLang="en-US" sz="2800" b="1" dirty="0">
                <a:solidFill>
                  <a:srgbClr val="000000"/>
                </a:solidFill>
                <a:latin typeface="Consolas" panose="020B0609020204030204" pitchFamily="49" charset="0"/>
              </a:rPr>
              <a:t>protected</a:t>
            </a:r>
            <a:r>
              <a:rPr lang="en-US" altLang="en-US" sz="2800" dirty="0">
                <a:solidFill>
                  <a:srgbClr val="000000"/>
                </a:solidFill>
              </a:rPr>
              <a:t> members inherited from the superclass simply by using the member names. </a:t>
            </a:r>
          </a:p>
          <a:p>
            <a:pPr eaLnBrk="1" hangingPunct="1">
              <a:spcBef>
                <a:spcPts val="1200"/>
              </a:spcBef>
            </a:pPr>
            <a:r>
              <a:rPr lang="en-US" altLang="en-US" sz="2800" dirty="0">
                <a:solidFill>
                  <a:srgbClr val="000000"/>
                </a:solidFill>
              </a:rPr>
              <a:t>When a subclass method </a:t>
            </a:r>
            <a:r>
              <a:rPr lang="en-US" altLang="en-US" sz="2800" i="1" dirty="0">
                <a:solidFill>
                  <a:srgbClr val="000000"/>
                </a:solidFill>
              </a:rPr>
              <a:t>overrides</a:t>
            </a:r>
            <a:r>
              <a:rPr lang="en-US" altLang="en-US" sz="2800" dirty="0">
                <a:solidFill>
                  <a:srgbClr val="000000"/>
                </a:solidFill>
              </a:rPr>
              <a:t> an inherited superclass method, the </a:t>
            </a:r>
            <a:r>
              <a:rPr lang="en-US" altLang="en-US" sz="2800" i="1" dirty="0">
                <a:solidFill>
                  <a:srgbClr val="000000"/>
                </a:solidFill>
              </a:rPr>
              <a:t>superclass</a:t>
            </a:r>
            <a:r>
              <a:rPr lang="en-US" altLang="en-US" sz="2800" dirty="0">
                <a:solidFill>
                  <a:srgbClr val="000000"/>
                </a:solidFill>
              </a:rPr>
              <a:t> version of the method can be accessed from the </a:t>
            </a:r>
            <a:r>
              <a:rPr lang="en-US" altLang="en-US" sz="2800" i="1" dirty="0">
                <a:solidFill>
                  <a:srgbClr val="000000"/>
                </a:solidFill>
              </a:rPr>
              <a:t>subclass</a:t>
            </a:r>
            <a:r>
              <a:rPr lang="en-US" altLang="en-US" sz="2800" dirty="0">
                <a:solidFill>
                  <a:srgbClr val="000000"/>
                </a:solidFill>
              </a:rPr>
              <a:t> by preceding the superclass method name with keyword </a:t>
            </a:r>
            <a:r>
              <a:rPr lang="en-US" altLang="en-US" sz="2800" b="1" dirty="0">
                <a:solidFill>
                  <a:srgbClr val="0000FF"/>
                </a:solidFill>
                <a:highlight>
                  <a:srgbClr val="FFFF00"/>
                </a:highlight>
                <a:latin typeface="Consolas" panose="020B0609020204030204" pitchFamily="49" charset="0"/>
              </a:rPr>
              <a:t>super</a:t>
            </a:r>
            <a:r>
              <a:rPr lang="en-US" altLang="en-US" sz="2800" dirty="0">
                <a:solidFill>
                  <a:srgbClr val="000000"/>
                </a:solidFill>
              </a:rPr>
              <a:t> and a dot (</a:t>
            </a:r>
            <a:r>
              <a:rPr lang="en-US" altLang="en-US" sz="2800" dirty="0">
                <a:solidFill>
                  <a:srgbClr val="000000"/>
                </a:solidFill>
                <a:latin typeface="Consolas" panose="020B0609020204030204" pitchFamily="49" charset="0"/>
              </a:rPr>
              <a:t>.</a:t>
            </a:r>
            <a:r>
              <a:rPr lang="en-US" altLang="en-US" sz="2800" dirty="0">
                <a:solidFill>
                  <a:srgbClr val="000000"/>
                </a:solidFill>
              </a:rPr>
              <a:t>) separator. </a:t>
            </a:r>
          </a:p>
        </p:txBody>
      </p:sp>
    </p:spTree>
    <p:extLst>
      <p:ext uri="{BB962C8B-B14F-4D97-AF65-F5344CB8AC3E}">
        <p14:creationId xmlns:p14="http://schemas.microsoft.com/office/powerpoint/2010/main" val="938701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0844-88DC-45B8-B3B4-999315232FD8}"/>
              </a:ext>
            </a:extLst>
          </p:cNvPr>
          <p:cNvSpPr>
            <a:spLocks noGrp="1"/>
          </p:cNvSpPr>
          <p:nvPr>
            <p:ph type="title"/>
          </p:nvPr>
        </p:nvSpPr>
        <p:spPr>
          <a:xfrm>
            <a:off x="559763" y="163550"/>
            <a:ext cx="10972800" cy="424005"/>
          </a:xfrm>
        </p:spPr>
        <p:txBody>
          <a:bodyPr>
            <a:noAutofit/>
          </a:bodyPr>
          <a:lstStyle/>
          <a:p>
            <a:r>
              <a:rPr lang="en-US" sz="4400" dirty="0">
                <a:effectLst/>
              </a:rPr>
              <a:t>The use of </a:t>
            </a:r>
            <a:r>
              <a:rPr lang="en-US" sz="4400" dirty="0">
                <a:effectLst/>
                <a:highlight>
                  <a:srgbClr val="FFFF00"/>
                </a:highlight>
              </a:rPr>
              <a:t>SUPER</a:t>
            </a:r>
            <a:r>
              <a:rPr lang="en-US" sz="4400" dirty="0">
                <a:effectLst/>
              </a:rPr>
              <a:t> keyword</a:t>
            </a:r>
            <a:endParaRPr lang="en-US" sz="4400" dirty="0"/>
          </a:p>
        </p:txBody>
      </p:sp>
      <p:sp>
        <p:nvSpPr>
          <p:cNvPr id="5" name="Rectangle 1">
            <a:extLst>
              <a:ext uri="{FF2B5EF4-FFF2-40B4-BE49-F238E27FC236}">
                <a16:creationId xmlns:a16="http://schemas.microsoft.com/office/drawing/2014/main" id="{C87C48C5-372F-4319-91D1-B19D27A834EF}"/>
              </a:ext>
            </a:extLst>
          </p:cNvPr>
          <p:cNvSpPr>
            <a:spLocks noGrp="1" noChangeArrowheads="1"/>
          </p:cNvSpPr>
          <p:nvPr>
            <p:ph type="body" idx="1"/>
          </p:nvPr>
        </p:nvSpPr>
        <p:spPr bwMode="auto">
          <a:xfrm>
            <a:off x="179619" y="994633"/>
            <a:ext cx="11733088" cy="54784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71500" indent="-571500">
              <a:spcBef>
                <a:spcPts val="1200"/>
              </a:spcBef>
              <a:buClrTx/>
              <a:buSzTx/>
            </a:pPr>
            <a:r>
              <a:rPr kumimoji="0" lang="en-US" altLang="en-US" sz="3200" b="0" i="0" u="none" strike="noStrike" cap="none" normalizeH="0" baseline="0" dirty="0">
                <a:ln>
                  <a:noFill/>
                </a:ln>
                <a:solidFill>
                  <a:srgbClr val="000000"/>
                </a:solidFill>
                <a:effectLst/>
                <a:latin typeface="Verdana" panose="020B0604030504040204" pitchFamily="34" charset="0"/>
              </a:rPr>
              <a:t>The </a:t>
            </a:r>
            <a:r>
              <a:rPr kumimoji="0" lang="en-US" altLang="en-US" sz="3200" b="0" i="0" u="none" strike="noStrike" cap="none" normalizeH="0" baseline="0" dirty="0">
                <a:ln>
                  <a:noFill/>
                </a:ln>
                <a:solidFill>
                  <a:srgbClr val="DC143C"/>
                </a:solidFill>
                <a:effectLst/>
                <a:latin typeface="Consolas" panose="020B0609020204030204" pitchFamily="49" charset="0"/>
              </a:rPr>
              <a:t>super</a:t>
            </a:r>
            <a:r>
              <a:rPr kumimoji="0" lang="en-US" altLang="en-US" sz="3200" b="0" i="0" u="none" strike="noStrike" cap="none" normalizeH="0" baseline="0" dirty="0">
                <a:ln>
                  <a:noFill/>
                </a:ln>
                <a:solidFill>
                  <a:srgbClr val="000000"/>
                </a:solidFill>
                <a:effectLst/>
                <a:latin typeface="Verdana" panose="020B0604030504040204" pitchFamily="34" charset="0"/>
              </a:rPr>
              <a:t> keyword refers to superclass (parent) objects.</a:t>
            </a:r>
            <a:endParaRPr kumimoji="0" lang="en-US" altLang="en-US" sz="3200" b="0" i="0" u="none" strike="noStrike" cap="none" normalizeH="0" baseline="0" dirty="0">
              <a:ln>
                <a:noFill/>
              </a:ln>
              <a:solidFill>
                <a:schemeClr val="tx1"/>
              </a:solidFill>
              <a:effectLst/>
            </a:endParaRPr>
          </a:p>
          <a:p>
            <a:pPr marL="571500" indent="-571500">
              <a:spcBef>
                <a:spcPts val="1200"/>
              </a:spcBef>
              <a:buClrTx/>
              <a:buSzTx/>
            </a:pPr>
            <a:r>
              <a:rPr kumimoji="0" lang="en-US" altLang="en-US" sz="3200" b="0" i="0" u="none" strike="noStrike" cap="none" normalizeH="0" baseline="0" dirty="0">
                <a:ln>
                  <a:noFill/>
                </a:ln>
                <a:solidFill>
                  <a:srgbClr val="000000"/>
                </a:solidFill>
                <a:effectLst/>
                <a:latin typeface="Verdana" panose="020B0604030504040204" pitchFamily="34" charset="0"/>
              </a:rPr>
              <a:t>It is used to call superclass methods, and to access the superclass constructor.</a:t>
            </a:r>
            <a:endParaRPr kumimoji="0" lang="en-US" altLang="en-US" sz="3200" b="0" i="0" u="none" strike="noStrike" cap="none" normalizeH="0" baseline="0" dirty="0">
              <a:ln>
                <a:noFill/>
              </a:ln>
              <a:solidFill>
                <a:schemeClr val="tx1"/>
              </a:solidFill>
              <a:effectLst/>
            </a:endParaRPr>
          </a:p>
          <a:p>
            <a:pPr marL="571500" indent="-571500">
              <a:spcBef>
                <a:spcPts val="1200"/>
              </a:spcBef>
              <a:buClrTx/>
              <a:buSzTx/>
            </a:pPr>
            <a:r>
              <a:rPr kumimoji="0" lang="en-US" altLang="en-US" sz="3200" b="0" i="0" u="none" strike="noStrike" cap="none" normalizeH="0" baseline="0" dirty="0">
                <a:ln>
                  <a:noFill/>
                </a:ln>
                <a:solidFill>
                  <a:srgbClr val="000000"/>
                </a:solidFill>
                <a:effectLst/>
                <a:latin typeface="Verdana" panose="020B0604030504040204" pitchFamily="34" charset="0"/>
              </a:rPr>
              <a:t>The most common use of the </a:t>
            </a:r>
            <a:r>
              <a:rPr kumimoji="0" lang="en-US" altLang="en-US" sz="3200" b="0" i="0" u="none" strike="noStrike" cap="none" normalizeH="0" baseline="0" dirty="0">
                <a:ln>
                  <a:noFill/>
                </a:ln>
                <a:solidFill>
                  <a:srgbClr val="DC143C"/>
                </a:solidFill>
                <a:effectLst/>
                <a:latin typeface="Consolas" panose="020B0609020204030204" pitchFamily="49" charset="0"/>
              </a:rPr>
              <a:t>super</a:t>
            </a:r>
            <a:r>
              <a:rPr kumimoji="0" lang="en-US" altLang="en-US" sz="3200" b="0" i="0" u="none" strike="noStrike" cap="none" normalizeH="0" baseline="0" dirty="0">
                <a:ln>
                  <a:noFill/>
                </a:ln>
                <a:solidFill>
                  <a:srgbClr val="000000"/>
                </a:solidFill>
                <a:effectLst/>
                <a:latin typeface="Verdana" panose="020B0604030504040204" pitchFamily="34" charset="0"/>
              </a:rPr>
              <a:t> keyword is to eliminate the confusion between </a:t>
            </a:r>
            <a:r>
              <a:rPr kumimoji="0" lang="en-US" altLang="en-US" sz="3200" b="1" i="1" u="none" strike="noStrike" cap="none" normalizeH="0" baseline="0" dirty="0" err="1">
                <a:ln>
                  <a:noFill/>
                </a:ln>
                <a:solidFill>
                  <a:srgbClr val="000000"/>
                </a:solidFill>
                <a:effectLst/>
                <a:latin typeface="Verdana" panose="020B0604030504040204" pitchFamily="34" charset="0"/>
              </a:rPr>
              <a:t>superclasses</a:t>
            </a:r>
            <a:r>
              <a:rPr kumimoji="0" lang="en-US" altLang="en-US" sz="3200" b="0" i="0" u="none" strike="noStrike" cap="none" normalizeH="0" baseline="0" dirty="0">
                <a:ln>
                  <a:noFill/>
                </a:ln>
                <a:solidFill>
                  <a:srgbClr val="000000"/>
                </a:solidFill>
                <a:effectLst/>
                <a:latin typeface="Verdana" panose="020B0604030504040204" pitchFamily="34" charset="0"/>
              </a:rPr>
              <a:t> and </a:t>
            </a:r>
            <a:r>
              <a:rPr kumimoji="0" lang="en-US" altLang="en-US" sz="3200" b="1" i="1" u="none" strike="noStrike" cap="none" normalizeH="0" baseline="0" dirty="0">
                <a:ln>
                  <a:noFill/>
                </a:ln>
                <a:solidFill>
                  <a:srgbClr val="000000"/>
                </a:solidFill>
                <a:effectLst/>
                <a:latin typeface="Verdana" panose="020B0604030504040204" pitchFamily="34" charset="0"/>
              </a:rPr>
              <a:t>subclasses</a:t>
            </a:r>
            <a:r>
              <a:rPr kumimoji="0" lang="en-US" altLang="en-US" sz="3200" b="0" i="0" u="none" strike="noStrike" cap="none" normalizeH="0" baseline="0" dirty="0">
                <a:ln>
                  <a:noFill/>
                </a:ln>
                <a:solidFill>
                  <a:srgbClr val="000000"/>
                </a:solidFill>
                <a:effectLst/>
                <a:latin typeface="Verdana" panose="020B0604030504040204" pitchFamily="34" charset="0"/>
              </a:rPr>
              <a:t> that have methods with the same name.</a:t>
            </a:r>
            <a:endParaRPr kumimoji="0" lang="en-US" altLang="en-US" sz="3200" b="0" i="0" u="none" strike="noStrike" cap="none" normalizeH="0" baseline="0" dirty="0">
              <a:ln>
                <a:noFill/>
              </a:ln>
              <a:solidFill>
                <a:schemeClr val="tx1"/>
              </a:solidFill>
              <a:effectLst/>
            </a:endParaRPr>
          </a:p>
          <a:p>
            <a:pPr marL="571500" indent="-571500">
              <a:spcBef>
                <a:spcPts val="1200"/>
              </a:spcBef>
              <a:buClrTx/>
              <a:buSzTx/>
            </a:pPr>
            <a:r>
              <a:rPr kumimoji="0" lang="en-US" altLang="en-US" sz="3200" b="0" i="0" u="none" strike="noStrike" cap="none" normalizeH="0" baseline="0" dirty="0">
                <a:ln>
                  <a:noFill/>
                </a:ln>
                <a:solidFill>
                  <a:srgbClr val="000000"/>
                </a:solidFill>
                <a:effectLst/>
                <a:latin typeface="Verdana" panose="020B0604030504040204" pitchFamily="34" charset="0"/>
              </a:rPr>
              <a:t>To understand the </a:t>
            </a:r>
            <a:r>
              <a:rPr kumimoji="0" lang="en-US" altLang="en-US" sz="3200" b="0" i="0" u="none" strike="noStrike" cap="none" normalizeH="0" baseline="0" dirty="0">
                <a:ln>
                  <a:noFill/>
                </a:ln>
                <a:solidFill>
                  <a:srgbClr val="DC143C"/>
                </a:solidFill>
                <a:effectLst/>
                <a:latin typeface="Consolas" panose="020B0609020204030204" pitchFamily="49" charset="0"/>
              </a:rPr>
              <a:t>super</a:t>
            </a:r>
            <a:r>
              <a:rPr kumimoji="0" lang="en-US" altLang="en-US" sz="3200" b="0" i="0" u="none" strike="noStrike" cap="none" normalizeH="0" baseline="0" dirty="0">
                <a:ln>
                  <a:noFill/>
                </a:ln>
                <a:solidFill>
                  <a:srgbClr val="000000"/>
                </a:solidFill>
                <a:effectLst/>
                <a:latin typeface="Verdana" panose="020B0604030504040204" pitchFamily="34" charset="0"/>
              </a:rPr>
              <a:t> keyword, you should have a basic understanding of </a:t>
            </a:r>
            <a:r>
              <a:rPr kumimoji="0" lang="en-US" altLang="en-US" sz="3200" b="0" i="0" u="none" strike="noStrike" cap="none" normalizeH="0" baseline="0" dirty="0">
                <a:ln>
                  <a:noFill/>
                </a:ln>
                <a:solidFill>
                  <a:srgbClr val="000000"/>
                </a:solidFill>
                <a:effectLst/>
                <a:latin typeface="Verdana" panose="020B0604030504040204" pitchFamily="34" charset="0"/>
                <a:hlinkClick r:id="rId2"/>
              </a:rPr>
              <a:t>Inheritance</a:t>
            </a:r>
            <a:r>
              <a:rPr kumimoji="0" lang="en-US" altLang="en-US" sz="3200" b="0" i="0" u="none" strike="noStrike" cap="none" normalizeH="0" baseline="0" dirty="0">
                <a:ln>
                  <a:noFill/>
                </a:ln>
                <a:solidFill>
                  <a:srgbClr val="000000"/>
                </a:solidFill>
                <a:effectLst/>
                <a:latin typeface="Verdana" panose="020B0604030504040204" pitchFamily="34" charset="0"/>
              </a:rPr>
              <a:t> and </a:t>
            </a:r>
            <a:r>
              <a:rPr kumimoji="0" lang="en-US" altLang="en-US" sz="3200" b="0" i="0" u="none" strike="noStrike" cap="none" normalizeH="0" baseline="0" dirty="0">
                <a:ln>
                  <a:noFill/>
                </a:ln>
                <a:solidFill>
                  <a:srgbClr val="000000"/>
                </a:solidFill>
                <a:effectLst/>
                <a:latin typeface="Verdana" panose="020B0604030504040204" pitchFamily="34" charset="0"/>
                <a:hlinkClick r:id="rId3"/>
              </a:rPr>
              <a:t>Polymorphism</a:t>
            </a:r>
            <a:r>
              <a:rPr kumimoji="0" lang="en-US" altLang="en-US" sz="3200" b="0" i="0" u="none" strike="noStrike" cap="none" normalizeH="0" baseline="0" dirty="0">
                <a:ln>
                  <a:noFill/>
                </a:ln>
                <a:solidFill>
                  <a:srgbClr val="000000"/>
                </a:solidFill>
                <a:effectLst/>
                <a:latin typeface="Verdana" panose="020B0604030504040204" pitchFamily="34" charset="0"/>
              </a:rPr>
              <a:t>.</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360022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0844-88DC-45B8-B3B4-999315232FD8}"/>
              </a:ext>
            </a:extLst>
          </p:cNvPr>
          <p:cNvSpPr>
            <a:spLocks noGrp="1"/>
          </p:cNvSpPr>
          <p:nvPr>
            <p:ph type="title"/>
          </p:nvPr>
        </p:nvSpPr>
        <p:spPr/>
        <p:txBody>
          <a:bodyPr/>
          <a:lstStyle/>
          <a:p>
            <a:r>
              <a:rPr lang="en-US" dirty="0">
                <a:effectLst/>
              </a:rPr>
              <a:t>Example 9. The use of </a:t>
            </a:r>
            <a:r>
              <a:rPr lang="en-US" dirty="0">
                <a:effectLst/>
                <a:highlight>
                  <a:srgbClr val="FFFF00"/>
                </a:highlight>
              </a:rPr>
              <a:t>SUPER</a:t>
            </a:r>
            <a:r>
              <a:rPr lang="en-US" dirty="0">
                <a:effectLst/>
              </a:rPr>
              <a:t> keyword</a:t>
            </a:r>
            <a:endParaRPr lang="en-US" dirty="0"/>
          </a:p>
        </p:txBody>
      </p:sp>
      <p:sp>
        <p:nvSpPr>
          <p:cNvPr id="3" name="Text Placeholder 2">
            <a:extLst>
              <a:ext uri="{FF2B5EF4-FFF2-40B4-BE49-F238E27FC236}">
                <a16:creationId xmlns:a16="http://schemas.microsoft.com/office/drawing/2014/main" id="{27E1D9CB-7D14-4D4C-A4F7-11B07647A0F3}"/>
              </a:ext>
            </a:extLst>
          </p:cNvPr>
          <p:cNvSpPr>
            <a:spLocks noGrp="1"/>
          </p:cNvSpPr>
          <p:nvPr>
            <p:ph type="body" idx="1"/>
          </p:nvPr>
        </p:nvSpPr>
        <p:spPr/>
        <p:txBody>
          <a:bodyPr/>
          <a:lstStyle/>
          <a:p>
            <a:r>
              <a:rPr lang="en-US" sz="4800" b="1" dirty="0">
                <a:highlight>
                  <a:srgbClr val="FFFF00"/>
                </a:highlight>
              </a:rPr>
              <a:t>Example 9. The use of SUPER keyword</a:t>
            </a:r>
            <a:endParaRPr lang="en-US" sz="4800" dirty="0">
              <a:highlight>
                <a:srgbClr val="FFFF00"/>
              </a:highlight>
            </a:endParaRPr>
          </a:p>
        </p:txBody>
      </p:sp>
      <p:sp>
        <p:nvSpPr>
          <p:cNvPr id="4" name="Footer Placeholder 3">
            <a:extLst>
              <a:ext uri="{FF2B5EF4-FFF2-40B4-BE49-F238E27FC236}">
                <a16:creationId xmlns:a16="http://schemas.microsoft.com/office/drawing/2014/main" id="{2D6A092C-C154-4F4A-988C-E0017784E900}"/>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4235641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C3B42-80DD-4CED-AA82-E4B2593200F3}"/>
              </a:ext>
            </a:extLst>
          </p:cNvPr>
          <p:cNvSpPr>
            <a:spLocks noGrp="1"/>
          </p:cNvSpPr>
          <p:nvPr>
            <p:ph type="title"/>
          </p:nvPr>
        </p:nvSpPr>
        <p:spPr/>
        <p:txBody>
          <a:bodyPr/>
          <a:lstStyle/>
          <a:p>
            <a:r>
              <a:rPr lang="en-US" dirty="0"/>
              <a:t>RE-VISITING </a:t>
            </a:r>
            <a:r>
              <a:rPr lang="en-US" dirty="0" err="1"/>
              <a:t>SuperClass</a:t>
            </a:r>
            <a:r>
              <a:rPr lang="en-US" dirty="0"/>
              <a:t> and </a:t>
            </a:r>
            <a:r>
              <a:rPr lang="en-US" dirty="0" err="1"/>
              <a:t>SubClass</a:t>
            </a:r>
            <a:endParaRPr lang="en-US" dirty="0"/>
          </a:p>
        </p:txBody>
      </p:sp>
      <p:sp>
        <p:nvSpPr>
          <p:cNvPr id="3" name="Text Placeholder 2">
            <a:extLst>
              <a:ext uri="{FF2B5EF4-FFF2-40B4-BE49-F238E27FC236}">
                <a16:creationId xmlns:a16="http://schemas.microsoft.com/office/drawing/2014/main" id="{2E1CB69E-BAC8-4CCD-8E02-8F2EFBE62E22}"/>
              </a:ext>
            </a:extLst>
          </p:cNvPr>
          <p:cNvSpPr>
            <a:spLocks noGrp="1"/>
          </p:cNvSpPr>
          <p:nvPr>
            <p:ph type="body" idx="1"/>
          </p:nvPr>
        </p:nvSpPr>
        <p:spPr>
          <a:xfrm>
            <a:off x="256902" y="514486"/>
            <a:ext cx="10972800" cy="4525962"/>
          </a:xfrm>
        </p:spPr>
        <p:txBody>
          <a:bodyPr/>
          <a:lstStyle/>
          <a:p>
            <a:endParaRPr lang="en-US" dirty="0"/>
          </a:p>
          <a:p>
            <a:r>
              <a:rPr lang="en-US" sz="8000" dirty="0">
                <a:highlight>
                  <a:srgbClr val="FFFF00"/>
                </a:highlight>
              </a:rPr>
              <a:t>EXAMPLE 5</a:t>
            </a:r>
          </a:p>
          <a:p>
            <a:r>
              <a:rPr lang="en-US" sz="3200" dirty="0">
                <a:highlight>
                  <a:srgbClr val="FFFF00"/>
                </a:highlight>
              </a:rPr>
              <a:t>Change the following access modifiers to </a:t>
            </a:r>
            <a:r>
              <a:rPr lang="en-US" sz="3200" b="1" i="1" dirty="0">
                <a:highlight>
                  <a:srgbClr val="FFFF00"/>
                </a:highlight>
              </a:rPr>
              <a:t>“private”</a:t>
            </a:r>
          </a:p>
          <a:p>
            <a:pPr lvl="1"/>
            <a:r>
              <a:rPr lang="en-US" sz="2800" b="1" i="1" dirty="0"/>
              <a:t>protected </a:t>
            </a:r>
            <a:r>
              <a:rPr lang="en-US" sz="2800" i="1" dirty="0"/>
              <a:t>String brand = "Ford";</a:t>
            </a:r>
            <a:r>
              <a:rPr lang="en-US" sz="2800" b="1" i="1" dirty="0"/>
              <a:t>        </a:t>
            </a:r>
          </a:p>
          <a:p>
            <a:pPr>
              <a:spcBef>
                <a:spcPts val="600"/>
              </a:spcBef>
            </a:pPr>
            <a:r>
              <a:rPr lang="en-US" sz="2800" dirty="0">
                <a:highlight>
                  <a:srgbClr val="00FFFF"/>
                </a:highlight>
              </a:rPr>
              <a:t>Implement relevant </a:t>
            </a:r>
            <a:r>
              <a:rPr lang="en-US" sz="2800" b="1" i="1" dirty="0">
                <a:highlight>
                  <a:srgbClr val="00FFFF"/>
                </a:highlight>
              </a:rPr>
              <a:t>set</a:t>
            </a:r>
            <a:r>
              <a:rPr lang="en-US" sz="2800" dirty="0">
                <a:highlight>
                  <a:srgbClr val="00FFFF"/>
                </a:highlight>
              </a:rPr>
              <a:t> and</a:t>
            </a:r>
            <a:r>
              <a:rPr lang="en-US" sz="2800" b="1" i="1" dirty="0">
                <a:highlight>
                  <a:srgbClr val="00FFFF"/>
                </a:highlight>
              </a:rPr>
              <a:t> get </a:t>
            </a:r>
            <a:r>
              <a:rPr lang="en-US" sz="2800" dirty="0">
                <a:highlight>
                  <a:srgbClr val="00FFFF"/>
                </a:highlight>
              </a:rPr>
              <a:t>methods.</a:t>
            </a:r>
          </a:p>
          <a:p>
            <a:pPr lvl="1"/>
            <a:endParaRPr lang="en-US" sz="2800" b="1" i="1" dirty="0">
              <a:highlight>
                <a:srgbClr val="FFFF00"/>
              </a:highlight>
            </a:endParaRPr>
          </a:p>
        </p:txBody>
      </p:sp>
      <p:sp>
        <p:nvSpPr>
          <p:cNvPr id="4" name="Footer Placeholder 3">
            <a:extLst>
              <a:ext uri="{FF2B5EF4-FFF2-40B4-BE49-F238E27FC236}">
                <a16:creationId xmlns:a16="http://schemas.microsoft.com/office/drawing/2014/main" id="{B983A306-32B9-4407-B092-4C167C5233D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682887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AAC3F1B-F740-4B37-B827-FC46568B6E56}"/>
              </a:ext>
            </a:extLst>
          </p:cNvPr>
          <p:cNvSpPr>
            <a:spLocks noGrp="1"/>
          </p:cNvSpPr>
          <p:nvPr>
            <p:ph idx="1"/>
          </p:nvPr>
        </p:nvSpPr>
        <p:spPr>
          <a:xfrm>
            <a:off x="380010" y="584200"/>
            <a:ext cx="11067803" cy="5887852"/>
          </a:xfrm>
        </p:spPr>
        <p:txBody>
          <a:bodyPr/>
          <a:lstStyle/>
          <a:p>
            <a:pPr>
              <a:spcBef>
                <a:spcPts val="600"/>
              </a:spcBef>
            </a:pPr>
            <a:r>
              <a:rPr lang="en-US" sz="2400" dirty="0"/>
              <a:t>Improve </a:t>
            </a:r>
            <a:r>
              <a:rPr lang="en-US" sz="2400" b="1" dirty="0"/>
              <a:t>Time2</a:t>
            </a:r>
            <a:r>
              <a:rPr lang="en-US" sz="2400" dirty="0"/>
              <a:t> Class by creating additional variable e.g. </a:t>
            </a:r>
            <a:r>
              <a:rPr lang="en-US" sz="2400" b="1" dirty="0">
                <a:highlight>
                  <a:srgbClr val="FFFF00"/>
                </a:highlight>
              </a:rPr>
              <a:t>month</a:t>
            </a:r>
            <a:r>
              <a:rPr lang="en-US" sz="2400" dirty="0"/>
              <a:t> (in addition to hour, minute and second).</a:t>
            </a:r>
          </a:p>
          <a:p>
            <a:pPr>
              <a:spcBef>
                <a:spcPts val="600"/>
              </a:spcBef>
            </a:pPr>
            <a:r>
              <a:rPr lang="en-US" sz="2400" dirty="0"/>
              <a:t>Implement necessary overloaded constructor to take care of the additional variable that you have just created.</a:t>
            </a:r>
          </a:p>
          <a:p>
            <a:pPr>
              <a:spcBef>
                <a:spcPts val="600"/>
              </a:spcBef>
            </a:pPr>
            <a:r>
              <a:rPr lang="en-US" sz="2400" dirty="0"/>
              <a:t>Implement relevant </a:t>
            </a:r>
            <a:r>
              <a:rPr lang="en-US" sz="2400" b="1" i="1" dirty="0"/>
              <a:t>set</a:t>
            </a:r>
            <a:r>
              <a:rPr lang="en-US" sz="2400" dirty="0"/>
              <a:t> and</a:t>
            </a:r>
            <a:r>
              <a:rPr lang="en-US" sz="2400" b="1" i="1" dirty="0"/>
              <a:t> get </a:t>
            </a:r>
            <a:r>
              <a:rPr lang="en-US" sz="2400" dirty="0"/>
              <a:t>methods.</a:t>
            </a:r>
          </a:p>
          <a:p>
            <a:pPr>
              <a:spcBef>
                <a:spcPts val="600"/>
              </a:spcBef>
            </a:pPr>
            <a:r>
              <a:rPr lang="en-US" sz="2400" dirty="0"/>
              <a:t>In </a:t>
            </a:r>
            <a:r>
              <a:rPr lang="en-US" sz="2400" b="1" dirty="0"/>
              <a:t>Time2Test</a:t>
            </a:r>
            <a:r>
              <a:rPr lang="en-US" sz="2400" dirty="0"/>
              <a:t> class, create an object that print all the </a:t>
            </a:r>
            <a:r>
              <a:rPr lang="en-US" sz="2400" b="1" dirty="0"/>
              <a:t>four variables.</a:t>
            </a:r>
            <a:endParaRPr lang="en-US" sz="2000" b="1" dirty="0"/>
          </a:p>
        </p:txBody>
      </p:sp>
      <p:sp>
        <p:nvSpPr>
          <p:cNvPr id="3" name="Title 2">
            <a:extLst>
              <a:ext uri="{FF2B5EF4-FFF2-40B4-BE49-F238E27FC236}">
                <a16:creationId xmlns:a16="http://schemas.microsoft.com/office/drawing/2014/main" id="{DED2B13A-2C24-4846-8B3F-44031514C3A3}"/>
              </a:ext>
            </a:extLst>
          </p:cNvPr>
          <p:cNvSpPr>
            <a:spLocks noGrp="1"/>
          </p:cNvSpPr>
          <p:nvPr>
            <p:ph type="title"/>
          </p:nvPr>
        </p:nvSpPr>
        <p:spPr>
          <a:xfrm>
            <a:off x="1981200" y="0"/>
            <a:ext cx="8229600" cy="584200"/>
          </a:xfrm>
        </p:spPr>
        <p:txBody>
          <a:bodyPr>
            <a:normAutofit fontScale="90000"/>
          </a:bodyPr>
          <a:lstStyle/>
          <a:p>
            <a:pPr algn="ctr"/>
            <a:r>
              <a:rPr lang="en-US" dirty="0">
                <a:highlight>
                  <a:srgbClr val="00FF00"/>
                </a:highlight>
              </a:rPr>
              <a:t>Class Activities</a:t>
            </a:r>
          </a:p>
        </p:txBody>
      </p:sp>
    </p:spTree>
    <p:extLst>
      <p:ext uri="{BB962C8B-B14F-4D97-AF65-F5344CB8AC3E}">
        <p14:creationId xmlns:p14="http://schemas.microsoft.com/office/powerpoint/2010/main" val="2990778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6CA7D-F8BC-44D2-BB25-1DC6A124FB32}"/>
              </a:ext>
            </a:extLst>
          </p:cNvPr>
          <p:cNvSpPr>
            <a:spLocks noGrp="1"/>
          </p:cNvSpPr>
          <p:nvPr>
            <p:ph type="title"/>
          </p:nvPr>
        </p:nvSpPr>
        <p:spPr>
          <a:xfrm>
            <a:off x="609599" y="274639"/>
            <a:ext cx="11072117" cy="619214"/>
          </a:xfrm>
        </p:spPr>
        <p:txBody>
          <a:bodyPr>
            <a:normAutofit fontScale="90000"/>
          </a:bodyPr>
          <a:lstStyle/>
          <a:p>
            <a:pPr algn="ctr"/>
            <a:r>
              <a:rPr lang="en-US" u="sng" dirty="0">
                <a:effectLst/>
                <a:highlight>
                  <a:srgbClr val="FFFF00"/>
                </a:highlight>
              </a:rPr>
              <a:t>ASSIGNMENT: Reverse Polish Notation Calculator</a:t>
            </a:r>
            <a:endParaRPr lang="en-US" dirty="0">
              <a:highlight>
                <a:srgbClr val="FFFF00"/>
              </a:highlight>
            </a:endParaRPr>
          </a:p>
        </p:txBody>
      </p:sp>
      <p:sp>
        <p:nvSpPr>
          <p:cNvPr id="3" name="Text Placeholder 2">
            <a:extLst>
              <a:ext uri="{FF2B5EF4-FFF2-40B4-BE49-F238E27FC236}">
                <a16:creationId xmlns:a16="http://schemas.microsoft.com/office/drawing/2014/main" id="{DB5FB31F-0821-49F7-8E5B-B5BD4904A6E3}"/>
              </a:ext>
            </a:extLst>
          </p:cNvPr>
          <p:cNvSpPr>
            <a:spLocks noGrp="1"/>
          </p:cNvSpPr>
          <p:nvPr>
            <p:ph type="body" idx="1"/>
          </p:nvPr>
        </p:nvSpPr>
        <p:spPr>
          <a:xfrm>
            <a:off x="301375" y="1080446"/>
            <a:ext cx="10972800" cy="4525962"/>
          </a:xfrm>
        </p:spPr>
        <p:txBody>
          <a:bodyPr/>
          <a:lstStyle/>
          <a:p>
            <a:pPr>
              <a:spcBef>
                <a:spcPts val="1200"/>
              </a:spcBef>
            </a:pPr>
            <a:r>
              <a:rPr lang="en-US" sz="3200" dirty="0"/>
              <a:t>In reverse Polish notation, the </a:t>
            </a:r>
            <a:r>
              <a:rPr lang="en-US" sz="3200" dirty="0">
                <a:hlinkClick r:id="rId3" tooltip="Operation (mathematics)"/>
              </a:rPr>
              <a:t>operators</a:t>
            </a:r>
            <a:r>
              <a:rPr lang="en-US" sz="3200" dirty="0"/>
              <a:t> follow their </a:t>
            </a:r>
            <a:r>
              <a:rPr lang="en-US" sz="3200" dirty="0">
                <a:hlinkClick r:id="rId4" tooltip="Operands"/>
              </a:rPr>
              <a:t>operands</a:t>
            </a:r>
            <a:r>
              <a:rPr lang="en-US" sz="3200" dirty="0"/>
              <a:t>; for instance, to add 3 and 4, one would write 3 4 + rather than 3 + 4. </a:t>
            </a:r>
          </a:p>
          <a:p>
            <a:pPr>
              <a:spcBef>
                <a:spcPts val="1200"/>
              </a:spcBef>
            </a:pPr>
            <a:r>
              <a:rPr lang="en-US" sz="3200" dirty="0"/>
              <a:t>If there are multiple operations, operators are given immediately after their second operands; so the expression written 3 − 4 + 5 in conventional notation would be written 3 4 − 5 + in reverse Polish notation: 4 is first subtracted from 3, then 5 is added to it. </a:t>
            </a:r>
          </a:p>
          <a:p>
            <a:pPr>
              <a:spcBef>
                <a:spcPts val="1200"/>
              </a:spcBef>
            </a:pPr>
            <a:r>
              <a:rPr lang="en-US" sz="3200" dirty="0"/>
              <a:t>An advantage of reverse Polish notation is that it removes the need for parentheses that are required by </a:t>
            </a:r>
            <a:r>
              <a:rPr lang="en-US" sz="3200" dirty="0">
                <a:hlinkClick r:id="rId5" tooltip="Infix notation"/>
              </a:rPr>
              <a:t>infix notation</a:t>
            </a:r>
            <a:r>
              <a:rPr lang="en-US" sz="3200" dirty="0"/>
              <a:t>. </a:t>
            </a:r>
          </a:p>
        </p:txBody>
      </p:sp>
    </p:spTree>
    <p:extLst>
      <p:ext uri="{BB962C8B-B14F-4D97-AF65-F5344CB8AC3E}">
        <p14:creationId xmlns:p14="http://schemas.microsoft.com/office/powerpoint/2010/main" val="3011864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3">
            <a:extLst>
              <a:ext uri="{FF2B5EF4-FFF2-40B4-BE49-F238E27FC236}">
                <a16:creationId xmlns:a16="http://schemas.microsoft.com/office/drawing/2014/main" id="{FC4103BC-0E31-4F61-8723-A76DEDAF86E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78094"/>
            <a:ext cx="12192000" cy="5116531"/>
          </a:xfrm>
          <a:prstGeom prst="rect">
            <a:avLst/>
          </a:prstGeom>
        </p:spPr>
      </p:pic>
    </p:spTree>
    <p:extLst>
      <p:ext uri="{BB962C8B-B14F-4D97-AF65-F5344CB8AC3E}">
        <p14:creationId xmlns:p14="http://schemas.microsoft.com/office/powerpoint/2010/main" val="502407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4">
            <a:extLst>
              <a:ext uri="{FF2B5EF4-FFF2-40B4-BE49-F238E27FC236}">
                <a16:creationId xmlns:a16="http://schemas.microsoft.com/office/drawing/2014/main" id="{14A03269-D3EC-4D89-9966-0784A0AA297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70121" y="-151402"/>
            <a:ext cx="11949960" cy="6063103"/>
          </a:xfrm>
          <a:prstGeom prst="rect">
            <a:avLst/>
          </a:prstGeom>
        </p:spPr>
      </p:pic>
      <p:sp>
        <p:nvSpPr>
          <p:cNvPr id="4" name="Rectangle 3">
            <a:extLst>
              <a:ext uri="{FF2B5EF4-FFF2-40B4-BE49-F238E27FC236}">
                <a16:creationId xmlns:a16="http://schemas.microsoft.com/office/drawing/2014/main" id="{74080D67-8018-4FAB-9B08-248F29D5E24D}"/>
              </a:ext>
            </a:extLst>
          </p:cNvPr>
          <p:cNvSpPr/>
          <p:nvPr/>
        </p:nvSpPr>
        <p:spPr>
          <a:xfrm>
            <a:off x="648250" y="5717102"/>
            <a:ext cx="10751661" cy="646331"/>
          </a:xfrm>
          <a:prstGeom prst="rect">
            <a:avLst/>
          </a:prstGeom>
        </p:spPr>
        <p:txBody>
          <a:bodyPr wrap="none">
            <a:spAutoFit/>
          </a:bodyPr>
          <a:lstStyle/>
          <a:p>
            <a:pPr marL="685800" indent="-685800">
              <a:buFont typeface="Arial" panose="020B0604020202020204" pitchFamily="34" charset="0"/>
              <a:buChar char="•"/>
            </a:pPr>
            <a:r>
              <a:rPr lang="en-US" sz="3600" dirty="0"/>
              <a:t>Information hiding means</a:t>
            </a:r>
            <a:r>
              <a:rPr lang="en-US" sz="3600" b="1" i="1" dirty="0"/>
              <a:t> encapsulation</a:t>
            </a:r>
            <a:r>
              <a:rPr lang="en-US" sz="3600" dirty="0"/>
              <a:t> in java</a:t>
            </a:r>
          </a:p>
        </p:txBody>
      </p:sp>
    </p:spTree>
    <p:extLst>
      <p:ext uri="{BB962C8B-B14F-4D97-AF65-F5344CB8AC3E}">
        <p14:creationId xmlns:p14="http://schemas.microsoft.com/office/powerpoint/2010/main" val="983794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507B0-9C38-4F3A-8EEE-4426597ACAB6}"/>
              </a:ext>
            </a:extLst>
          </p:cNvPr>
          <p:cNvSpPr>
            <a:spLocks noGrp="1"/>
          </p:cNvSpPr>
          <p:nvPr>
            <p:ph type="title"/>
          </p:nvPr>
        </p:nvSpPr>
        <p:spPr/>
        <p:txBody>
          <a:bodyPr>
            <a:normAutofit/>
          </a:bodyPr>
          <a:lstStyle/>
          <a:p>
            <a:pPr fontAlgn="auto">
              <a:spcAft>
                <a:spcPts val="0"/>
              </a:spcAft>
              <a:defRPr/>
            </a:pPr>
            <a:r>
              <a:rPr lang="en-US" dirty="0">
                <a:solidFill>
                  <a:srgbClr val="24B5A1"/>
                </a:solidFill>
                <a:latin typeface="Calibri" panose="020F0502020204030204" pitchFamily="34" charset="0"/>
              </a:rPr>
              <a:t>9.4  </a:t>
            </a:r>
            <a:r>
              <a:rPr lang="en-US" dirty="0">
                <a:solidFill>
                  <a:srgbClr val="3380E6"/>
                </a:solidFill>
                <a:latin typeface="Calibri" panose="020F0502020204030204" pitchFamily="34" charset="0"/>
              </a:rPr>
              <a:t>Relationship Between </a:t>
            </a:r>
            <a:r>
              <a:rPr lang="en-US" dirty="0" err="1">
                <a:solidFill>
                  <a:srgbClr val="3380E6"/>
                </a:solidFill>
                <a:latin typeface="Calibri" panose="020F0502020204030204" pitchFamily="34" charset="0"/>
              </a:rPr>
              <a:t>Superclasses</a:t>
            </a:r>
            <a:r>
              <a:rPr lang="en-US" dirty="0">
                <a:solidFill>
                  <a:srgbClr val="3380E6"/>
                </a:solidFill>
                <a:latin typeface="Calibri" panose="020F0502020204030204" pitchFamily="34" charset="0"/>
              </a:rPr>
              <a:t> and Subclasses</a:t>
            </a:r>
          </a:p>
        </p:txBody>
      </p:sp>
      <p:sp>
        <p:nvSpPr>
          <p:cNvPr id="29699" name="Text Placeholder 2">
            <a:extLst>
              <a:ext uri="{FF2B5EF4-FFF2-40B4-BE49-F238E27FC236}">
                <a16:creationId xmlns:a16="http://schemas.microsoft.com/office/drawing/2014/main" id="{9F7DA2A9-A8CD-4BCF-B667-233EBFD13311}"/>
              </a:ext>
            </a:extLst>
          </p:cNvPr>
          <p:cNvSpPr>
            <a:spLocks noGrp="1"/>
          </p:cNvSpPr>
          <p:nvPr>
            <p:ph type="body" idx="1"/>
          </p:nvPr>
        </p:nvSpPr>
        <p:spPr/>
        <p:txBody>
          <a:bodyPr/>
          <a:lstStyle/>
          <a:p>
            <a:pPr eaLnBrk="1" hangingPunct="1">
              <a:spcBef>
                <a:spcPts val="1200"/>
              </a:spcBef>
            </a:pPr>
            <a:r>
              <a:rPr lang="en-US" altLang="en-US" sz="3600" dirty="0">
                <a:solidFill>
                  <a:srgbClr val="000000"/>
                </a:solidFill>
              </a:rPr>
              <a:t>Inheritance hierarchy containing types of </a:t>
            </a:r>
            <a:r>
              <a:rPr lang="en-US" altLang="en-US" sz="3600" i="1" dirty="0">
                <a:solidFill>
                  <a:srgbClr val="000000"/>
                </a:solidFill>
              </a:rPr>
              <a:t>employees</a:t>
            </a:r>
            <a:r>
              <a:rPr lang="en-US" altLang="en-US" sz="3600" dirty="0">
                <a:solidFill>
                  <a:srgbClr val="000000"/>
                </a:solidFill>
              </a:rPr>
              <a:t> in a company’s payroll application </a:t>
            </a:r>
          </a:p>
          <a:p>
            <a:pPr eaLnBrk="1" hangingPunct="1">
              <a:spcBef>
                <a:spcPts val="1200"/>
              </a:spcBef>
            </a:pPr>
            <a:r>
              <a:rPr lang="en-US" altLang="en-US" sz="3600" i="1" dirty="0">
                <a:solidFill>
                  <a:srgbClr val="000000"/>
                </a:solidFill>
              </a:rPr>
              <a:t>Commission employees </a:t>
            </a:r>
            <a:r>
              <a:rPr lang="en-US" altLang="en-US" sz="3600" dirty="0">
                <a:solidFill>
                  <a:srgbClr val="000000"/>
                </a:solidFill>
              </a:rPr>
              <a:t>are paid a percentage of their sales</a:t>
            </a:r>
          </a:p>
          <a:p>
            <a:pPr eaLnBrk="1" hangingPunct="1">
              <a:spcBef>
                <a:spcPts val="1200"/>
              </a:spcBef>
            </a:pPr>
            <a:r>
              <a:rPr lang="en-US" altLang="en-US" sz="3600" i="1" dirty="0">
                <a:solidFill>
                  <a:srgbClr val="000000"/>
                </a:solidFill>
              </a:rPr>
              <a:t>Base-salaried commission employees </a:t>
            </a:r>
            <a:r>
              <a:rPr lang="en-US" altLang="en-US" sz="3600" dirty="0">
                <a:solidFill>
                  <a:srgbClr val="000000"/>
                </a:solidFill>
              </a:rPr>
              <a:t>receive a base salary plus a percentage of their sales. </a:t>
            </a:r>
          </a:p>
        </p:txBody>
      </p:sp>
      <p:sp>
        <p:nvSpPr>
          <p:cNvPr id="4" name="Footer Placeholder 3">
            <a:extLst>
              <a:ext uri="{FF2B5EF4-FFF2-40B4-BE49-F238E27FC236}">
                <a16:creationId xmlns:a16="http://schemas.microsoft.com/office/drawing/2014/main" id="{62775587-40F3-4B0D-9097-4FDE2FB9A1E0}"/>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881953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D89B3-9B7A-4A9E-88A4-FCFE06BA8340}"/>
              </a:ext>
            </a:extLst>
          </p:cNvPr>
          <p:cNvSpPr>
            <a:spLocks noGrp="1"/>
          </p:cNvSpPr>
          <p:nvPr>
            <p:ph type="title"/>
          </p:nvPr>
        </p:nvSpPr>
        <p:spPr>
          <a:xfrm>
            <a:off x="609600" y="274638"/>
            <a:ext cx="10972800" cy="465101"/>
          </a:xfrm>
        </p:spPr>
        <p:txBody>
          <a:bodyPr>
            <a:normAutofit fontScale="90000"/>
          </a:bodyPr>
          <a:lstStyle/>
          <a:p>
            <a:pPr fontAlgn="auto">
              <a:spcAft>
                <a:spcPts val="0"/>
              </a:spcAft>
              <a:defRPr/>
            </a:pPr>
            <a:r>
              <a:rPr lang="en-US" dirty="0">
                <a:solidFill>
                  <a:srgbClr val="59D9B3"/>
                </a:solidFill>
                <a:latin typeface="Calibri" panose="020F0502020204030204" pitchFamily="34" charset="0"/>
              </a:rPr>
              <a:t>9.4.1 </a:t>
            </a:r>
            <a:r>
              <a:rPr lang="en-US" dirty="0">
                <a:solidFill>
                  <a:srgbClr val="33B38C"/>
                </a:solidFill>
                <a:latin typeface="Calibri" panose="020F0502020204030204" pitchFamily="34" charset="0"/>
              </a:rPr>
              <a:t>Creating and Using a </a:t>
            </a:r>
            <a:r>
              <a:rPr lang="en-US" dirty="0" err="1">
                <a:solidFill>
                  <a:srgbClr val="33B38C"/>
                </a:solidFill>
                <a:latin typeface="Consolas" panose="020B0609020204030204" pitchFamily="49" charset="0"/>
              </a:rPr>
              <a:t>CommissionEmployee</a:t>
            </a:r>
            <a:r>
              <a:rPr lang="en-US" dirty="0">
                <a:solidFill>
                  <a:srgbClr val="33B38C"/>
                </a:solidFill>
                <a:latin typeface="Calibri" panose="020F0502020204030204" pitchFamily="34" charset="0"/>
              </a:rPr>
              <a:t> Class</a:t>
            </a:r>
          </a:p>
        </p:txBody>
      </p:sp>
      <p:sp>
        <p:nvSpPr>
          <p:cNvPr id="30723" name="Text Placeholder 2">
            <a:extLst>
              <a:ext uri="{FF2B5EF4-FFF2-40B4-BE49-F238E27FC236}">
                <a16:creationId xmlns:a16="http://schemas.microsoft.com/office/drawing/2014/main" id="{84F11B10-6495-4572-A406-F15F8F92DCB8}"/>
              </a:ext>
            </a:extLst>
          </p:cNvPr>
          <p:cNvSpPr>
            <a:spLocks noGrp="1"/>
          </p:cNvSpPr>
          <p:nvPr>
            <p:ph type="body" idx="1"/>
          </p:nvPr>
        </p:nvSpPr>
        <p:spPr>
          <a:xfrm>
            <a:off x="0" y="893656"/>
            <a:ext cx="7982465" cy="4525962"/>
          </a:xfrm>
        </p:spPr>
        <p:txBody>
          <a:bodyPr/>
          <a:lstStyle/>
          <a:p>
            <a:pPr>
              <a:spcBef>
                <a:spcPts val="1200"/>
              </a:spcBef>
            </a:pPr>
            <a:r>
              <a:rPr lang="en-US" altLang="en-US" sz="2800" b="1" dirty="0">
                <a:solidFill>
                  <a:srgbClr val="000000"/>
                </a:solidFill>
                <a:highlight>
                  <a:srgbClr val="FFFF00"/>
                </a:highlight>
              </a:rPr>
              <a:t>RECALL THAT</a:t>
            </a:r>
            <a:r>
              <a:rPr lang="en-US" altLang="en-US" sz="2800" dirty="0">
                <a:solidFill>
                  <a:srgbClr val="000000"/>
                </a:solidFill>
                <a:highlight>
                  <a:srgbClr val="FFFF00"/>
                </a:highlight>
              </a:rPr>
              <a:t>: </a:t>
            </a:r>
            <a:r>
              <a:rPr lang="en-US" altLang="en-US" sz="2800" dirty="0">
                <a:solidFill>
                  <a:srgbClr val="000000"/>
                </a:solidFill>
              </a:rPr>
              <a:t>The Java class hierarchy begins with class </a:t>
            </a:r>
            <a:r>
              <a:rPr lang="en-US" altLang="en-US" sz="2800" b="1" i="1" dirty="0">
                <a:solidFill>
                  <a:srgbClr val="000000"/>
                </a:solidFill>
                <a:latin typeface="Consolas" panose="020B0609020204030204" pitchFamily="49" charset="0"/>
              </a:rPr>
              <a:t>Object</a:t>
            </a:r>
            <a:r>
              <a:rPr lang="en-US" altLang="en-US" sz="2800" dirty="0">
                <a:solidFill>
                  <a:srgbClr val="000000"/>
                </a:solidFill>
              </a:rPr>
              <a:t> (in package </a:t>
            </a:r>
            <a:r>
              <a:rPr lang="en-US" altLang="en-US" sz="2800" dirty="0" err="1">
                <a:solidFill>
                  <a:srgbClr val="000000"/>
                </a:solidFill>
                <a:latin typeface="Consolas" panose="020B0609020204030204" pitchFamily="49" charset="0"/>
              </a:rPr>
              <a:t>java.lang</a:t>
            </a:r>
            <a:r>
              <a:rPr lang="en-US" altLang="en-US" sz="2800" dirty="0">
                <a:solidFill>
                  <a:srgbClr val="000000"/>
                </a:solidFill>
              </a:rPr>
              <a:t>)</a:t>
            </a:r>
          </a:p>
          <a:p>
            <a:pPr lvl="1">
              <a:spcBef>
                <a:spcPts val="1200"/>
              </a:spcBef>
            </a:pPr>
            <a:r>
              <a:rPr lang="en-US" altLang="en-US" sz="2800" i="1" dirty="0">
                <a:solidFill>
                  <a:srgbClr val="000000"/>
                </a:solidFill>
              </a:rPr>
              <a:t>Every</a:t>
            </a:r>
            <a:r>
              <a:rPr lang="en-US" altLang="en-US" sz="2800" dirty="0">
                <a:solidFill>
                  <a:srgbClr val="000000"/>
                </a:solidFill>
              </a:rPr>
              <a:t> class in Java directly or indirectly </a:t>
            </a:r>
            <a:r>
              <a:rPr lang="en-US" altLang="en-US" sz="2800" dirty="0">
                <a:solidFill>
                  <a:srgbClr val="0000FF"/>
                </a:solidFill>
              </a:rPr>
              <a:t>extends</a:t>
            </a:r>
            <a:r>
              <a:rPr lang="en-US" altLang="en-US" sz="2800" dirty="0">
                <a:solidFill>
                  <a:srgbClr val="000000"/>
                </a:solidFill>
              </a:rPr>
              <a:t> (or “inherits from”) </a:t>
            </a:r>
            <a:r>
              <a:rPr lang="en-US" altLang="en-US" sz="2800" b="1" i="1" dirty="0">
                <a:solidFill>
                  <a:srgbClr val="000000"/>
                </a:solidFill>
                <a:latin typeface="Consolas" panose="020B0609020204030204" pitchFamily="49" charset="0"/>
              </a:rPr>
              <a:t>Object</a:t>
            </a:r>
            <a:r>
              <a:rPr lang="en-US" altLang="en-US" sz="2800" dirty="0">
                <a:solidFill>
                  <a:srgbClr val="000000"/>
                </a:solidFill>
              </a:rPr>
              <a:t>. </a:t>
            </a:r>
          </a:p>
          <a:p>
            <a:pPr eaLnBrk="1" hangingPunct="1">
              <a:spcBef>
                <a:spcPts val="1200"/>
              </a:spcBef>
            </a:pPr>
            <a:r>
              <a:rPr lang="en-US" altLang="en-US" sz="2800" dirty="0">
                <a:solidFill>
                  <a:srgbClr val="000000"/>
                </a:solidFill>
              </a:rPr>
              <a:t>Class </a:t>
            </a:r>
            <a:r>
              <a:rPr lang="en-US" altLang="en-US" sz="2800" dirty="0" err="1">
                <a:solidFill>
                  <a:srgbClr val="000000"/>
                </a:solidFill>
                <a:latin typeface="Consolas" panose="020B0609020204030204" pitchFamily="49" charset="0"/>
              </a:rPr>
              <a:t>CommissionEmployee</a:t>
            </a:r>
            <a:r>
              <a:rPr lang="en-US" altLang="en-US" sz="2800" dirty="0">
                <a:solidFill>
                  <a:srgbClr val="000000"/>
                </a:solidFill>
              </a:rPr>
              <a:t> (Fig. 9.4) </a:t>
            </a:r>
            <a:r>
              <a:rPr lang="en-US" altLang="en-US" sz="2800" dirty="0">
                <a:solidFill>
                  <a:srgbClr val="0000FF"/>
                </a:solidFill>
                <a:latin typeface="Consolas" panose="020B0609020204030204" pitchFamily="49" charset="0"/>
              </a:rPr>
              <a:t>extends</a:t>
            </a:r>
            <a:r>
              <a:rPr lang="en-US" altLang="en-US" sz="2800" dirty="0">
                <a:solidFill>
                  <a:srgbClr val="000000"/>
                </a:solidFill>
              </a:rPr>
              <a:t> class </a:t>
            </a:r>
            <a:r>
              <a:rPr lang="en-US" altLang="en-US" sz="2800" dirty="0">
                <a:solidFill>
                  <a:srgbClr val="0000FF"/>
                </a:solidFill>
                <a:latin typeface="Consolas" panose="020B0609020204030204" pitchFamily="49" charset="0"/>
              </a:rPr>
              <a:t>Object</a:t>
            </a:r>
            <a:r>
              <a:rPr lang="en-US" altLang="en-US" sz="2800" dirty="0">
                <a:solidFill>
                  <a:srgbClr val="000000"/>
                </a:solidFill>
              </a:rPr>
              <a:t> (from package </a:t>
            </a:r>
            <a:r>
              <a:rPr lang="en-US" altLang="en-US" sz="2800" dirty="0" err="1">
                <a:solidFill>
                  <a:srgbClr val="000000"/>
                </a:solidFill>
                <a:latin typeface="Consolas" panose="020B0609020204030204" pitchFamily="49" charset="0"/>
              </a:rPr>
              <a:t>java.lang</a:t>
            </a:r>
            <a:r>
              <a:rPr lang="en-US" altLang="en-US" sz="2800" dirty="0">
                <a:solidFill>
                  <a:srgbClr val="000000"/>
                </a:solidFill>
              </a:rPr>
              <a:t>). </a:t>
            </a:r>
          </a:p>
          <a:p>
            <a:pPr lvl="1" eaLnBrk="1" hangingPunct="1">
              <a:spcBef>
                <a:spcPts val="1200"/>
              </a:spcBef>
            </a:pPr>
            <a:r>
              <a:rPr lang="en-US" altLang="en-US" sz="2800" dirty="0" err="1">
                <a:solidFill>
                  <a:srgbClr val="000000"/>
                </a:solidFill>
                <a:latin typeface="Consolas" panose="020B0609020204030204" pitchFamily="49" charset="0"/>
              </a:rPr>
              <a:t>CommissionEmployee</a:t>
            </a:r>
            <a:r>
              <a:rPr lang="en-US" altLang="en-US" sz="2800" dirty="0">
                <a:solidFill>
                  <a:srgbClr val="000000"/>
                </a:solidFill>
              </a:rPr>
              <a:t> inherits </a:t>
            </a:r>
            <a:r>
              <a:rPr lang="en-US" altLang="en-US" sz="2800" dirty="0">
                <a:solidFill>
                  <a:srgbClr val="000000"/>
                </a:solidFill>
                <a:latin typeface="Consolas" panose="020B0609020204030204" pitchFamily="49" charset="0"/>
              </a:rPr>
              <a:t>Object</a:t>
            </a:r>
            <a:r>
              <a:rPr lang="en-US" altLang="en-US" sz="2800" dirty="0">
                <a:solidFill>
                  <a:srgbClr val="000000"/>
                </a:solidFill>
              </a:rPr>
              <a:t>’s methods.</a:t>
            </a:r>
          </a:p>
          <a:p>
            <a:pPr lvl="1" eaLnBrk="1" hangingPunct="1">
              <a:spcBef>
                <a:spcPts val="1200"/>
              </a:spcBef>
            </a:pPr>
            <a:r>
              <a:rPr lang="en-US" altLang="en-US" sz="2800" dirty="0">
                <a:solidFill>
                  <a:srgbClr val="000000"/>
                </a:solidFill>
              </a:rPr>
              <a:t>If you don’t explicitly specify which class a new class extends, the class extends</a:t>
            </a:r>
            <a:r>
              <a:rPr lang="en-US" altLang="en-US" sz="2800" b="1" i="1" dirty="0">
                <a:solidFill>
                  <a:srgbClr val="000000"/>
                </a:solidFill>
              </a:rPr>
              <a:t> </a:t>
            </a:r>
            <a:r>
              <a:rPr lang="en-US" altLang="en-US" sz="2800" b="1" i="1" dirty="0">
                <a:solidFill>
                  <a:srgbClr val="000000"/>
                </a:solidFill>
                <a:latin typeface="Consolas" panose="020B0609020204030204" pitchFamily="49" charset="0"/>
              </a:rPr>
              <a:t>Object</a:t>
            </a:r>
            <a:r>
              <a:rPr lang="en-US" altLang="en-US" sz="2800" b="1" i="1" dirty="0">
                <a:solidFill>
                  <a:srgbClr val="000000"/>
                </a:solidFill>
              </a:rPr>
              <a:t> </a:t>
            </a:r>
            <a:r>
              <a:rPr lang="en-US" altLang="en-US" sz="2800" dirty="0">
                <a:solidFill>
                  <a:srgbClr val="000000"/>
                </a:solidFill>
              </a:rPr>
              <a:t>implicitly. </a:t>
            </a:r>
          </a:p>
        </p:txBody>
      </p:sp>
      <p:sp>
        <p:nvSpPr>
          <p:cNvPr id="4" name="Footer Placeholder 3">
            <a:extLst>
              <a:ext uri="{FF2B5EF4-FFF2-40B4-BE49-F238E27FC236}">
                <a16:creationId xmlns:a16="http://schemas.microsoft.com/office/drawing/2014/main" id="{E36459B6-2D59-4905-9463-A450F97FE481}"/>
              </a:ext>
            </a:extLst>
          </p:cNvPr>
          <p:cNvSpPr>
            <a:spLocks noGrp="1"/>
          </p:cNvSpPr>
          <p:nvPr>
            <p:ph type="ftr" sz="quarter" idx="11"/>
          </p:nvPr>
        </p:nvSpPr>
        <p:spPr/>
        <p:txBody>
          <a:bodyPr/>
          <a:lstStyle/>
          <a:p>
            <a:pPr>
              <a:defRPr/>
            </a:pPr>
            <a:r>
              <a:rPr lang="en-US"/>
              <a:t>© Copyright 1992-2018 by Pearson Education, Inc. All Rights Reserved.</a:t>
            </a:r>
          </a:p>
        </p:txBody>
      </p:sp>
      <p:pic>
        <p:nvPicPr>
          <p:cNvPr id="1026" name="Picture 2" descr="OOP: Class Hierarchy">
            <a:extLst>
              <a:ext uri="{FF2B5EF4-FFF2-40B4-BE49-F238E27FC236}">
                <a16:creationId xmlns:a16="http://schemas.microsoft.com/office/drawing/2014/main" id="{6FEB3FE2-C40A-4BF9-8DFA-3489784E4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465" y="1504843"/>
            <a:ext cx="4209535" cy="391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123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D89B3-9B7A-4A9E-88A4-FCFE06BA8340}"/>
              </a:ext>
            </a:extLst>
          </p:cNvPr>
          <p:cNvSpPr>
            <a:spLocks noGrp="1"/>
          </p:cNvSpPr>
          <p:nvPr>
            <p:ph type="title"/>
          </p:nvPr>
        </p:nvSpPr>
        <p:spPr/>
        <p:txBody>
          <a:bodyPr>
            <a:normAutofit/>
          </a:bodyPr>
          <a:lstStyle/>
          <a:p>
            <a:pPr fontAlgn="auto">
              <a:spcAft>
                <a:spcPts val="0"/>
              </a:spcAft>
              <a:defRPr/>
            </a:pPr>
            <a:r>
              <a:rPr lang="en-US" dirty="0">
                <a:solidFill>
                  <a:srgbClr val="59D9B3"/>
                </a:solidFill>
                <a:latin typeface="Calibri" panose="020F0502020204030204" pitchFamily="34" charset="0"/>
              </a:rPr>
              <a:t>OBJECT CLASS</a:t>
            </a:r>
            <a:endParaRPr lang="en-US" dirty="0">
              <a:solidFill>
                <a:srgbClr val="33B38C"/>
              </a:solidFill>
              <a:latin typeface="Calibri" panose="020F0502020204030204" pitchFamily="34" charset="0"/>
            </a:endParaRPr>
          </a:p>
        </p:txBody>
      </p:sp>
      <p:sp>
        <p:nvSpPr>
          <p:cNvPr id="30723" name="Text Placeholder 2">
            <a:extLst>
              <a:ext uri="{FF2B5EF4-FFF2-40B4-BE49-F238E27FC236}">
                <a16:creationId xmlns:a16="http://schemas.microsoft.com/office/drawing/2014/main" id="{84F11B10-6495-4572-A406-F15F8F92DCB8}"/>
              </a:ext>
            </a:extLst>
          </p:cNvPr>
          <p:cNvSpPr>
            <a:spLocks noGrp="1"/>
          </p:cNvSpPr>
          <p:nvPr>
            <p:ph type="body" idx="1"/>
          </p:nvPr>
        </p:nvSpPr>
        <p:spPr>
          <a:xfrm>
            <a:off x="0" y="1399102"/>
            <a:ext cx="7587049" cy="4525962"/>
          </a:xfrm>
        </p:spPr>
        <p:txBody>
          <a:bodyPr/>
          <a:lstStyle/>
          <a:p>
            <a:pPr>
              <a:spcBef>
                <a:spcPts val="1200"/>
              </a:spcBef>
            </a:pPr>
            <a:r>
              <a:rPr lang="en-US" b="1" dirty="0"/>
              <a:t>Object</a:t>
            </a:r>
            <a:r>
              <a:rPr lang="en-US" dirty="0"/>
              <a:t> class is present in </a:t>
            </a:r>
            <a:r>
              <a:rPr lang="en-US" b="1" dirty="0" err="1"/>
              <a:t>java.lang</a:t>
            </a:r>
            <a:r>
              <a:rPr lang="en-US" dirty="0"/>
              <a:t> package. </a:t>
            </a:r>
          </a:p>
          <a:p>
            <a:pPr>
              <a:spcBef>
                <a:spcPts val="1200"/>
              </a:spcBef>
            </a:pPr>
            <a:r>
              <a:rPr lang="en-US" dirty="0"/>
              <a:t>Every class in Java is directly or indirectly derived from the </a:t>
            </a:r>
            <a:r>
              <a:rPr lang="en-US" b="1" dirty="0"/>
              <a:t>Object</a:t>
            </a:r>
            <a:r>
              <a:rPr lang="en-US" dirty="0"/>
              <a:t> class. </a:t>
            </a:r>
          </a:p>
          <a:p>
            <a:pPr>
              <a:spcBef>
                <a:spcPts val="1200"/>
              </a:spcBef>
            </a:pPr>
            <a:r>
              <a:rPr lang="en-US" dirty="0"/>
              <a:t>If a Class does not extend any other class then it is direct child class of </a:t>
            </a:r>
            <a:r>
              <a:rPr lang="en-US" b="1" dirty="0"/>
              <a:t>Object</a:t>
            </a:r>
            <a:r>
              <a:rPr lang="en-US" dirty="0"/>
              <a:t> and if extends other class then it is an indirectly derived.</a:t>
            </a:r>
          </a:p>
          <a:p>
            <a:pPr>
              <a:spcBef>
                <a:spcPts val="1200"/>
              </a:spcBef>
            </a:pPr>
            <a:r>
              <a:rPr lang="en-US" dirty="0"/>
              <a:t>Therefore, the </a:t>
            </a:r>
            <a:r>
              <a:rPr lang="en-US" b="1" dirty="0"/>
              <a:t>Object</a:t>
            </a:r>
            <a:r>
              <a:rPr lang="en-US" dirty="0"/>
              <a:t> class methods are available to all Java classes.</a:t>
            </a:r>
          </a:p>
          <a:p>
            <a:pPr>
              <a:spcBef>
                <a:spcPts val="1200"/>
              </a:spcBef>
            </a:pPr>
            <a:r>
              <a:rPr lang="en-US" dirty="0"/>
              <a:t>Hence Object class acts as a root of inheritance hierarchy in any Java Program.</a:t>
            </a:r>
            <a:endParaRPr lang="en-US" altLang="en-US" sz="3200" dirty="0">
              <a:solidFill>
                <a:srgbClr val="000000"/>
              </a:solidFill>
            </a:endParaRPr>
          </a:p>
        </p:txBody>
      </p:sp>
      <p:pic>
        <p:nvPicPr>
          <p:cNvPr id="2050" name="Picture 2" descr="Inheritance (The Java™ Tutorials &amp;gt; Learning the Java Language &amp;gt; Interfaces  and Inheritance)">
            <a:extLst>
              <a:ext uri="{FF2B5EF4-FFF2-40B4-BE49-F238E27FC236}">
                <a16:creationId xmlns:a16="http://schemas.microsoft.com/office/drawing/2014/main" id="{5046FBA6-E09A-4DF5-9F8F-F72AE532D2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8195" y="2295246"/>
            <a:ext cx="4703805" cy="3629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1419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5">
            <a:extLst>
              <a:ext uri="{FF2B5EF4-FFF2-40B4-BE49-F238E27FC236}">
                <a16:creationId xmlns:a16="http://schemas.microsoft.com/office/drawing/2014/main" id="{8E9E3EAD-29D1-4727-9135-364A43B7D7C3}"/>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0" y="876300"/>
            <a:ext cx="12192000" cy="5103813"/>
          </a:xfrm>
          <a:prstGeom prst="rect">
            <a:avLst/>
          </a:prstGeom>
        </p:spPr>
      </p:pic>
      <p:sp>
        <p:nvSpPr>
          <p:cNvPr id="2" name="Footer Placeholder 1">
            <a:extLst>
              <a:ext uri="{FF2B5EF4-FFF2-40B4-BE49-F238E27FC236}">
                <a16:creationId xmlns:a16="http://schemas.microsoft.com/office/drawing/2014/main" id="{362FF857-637B-45D6-A921-78CAAB425A19}"/>
              </a:ext>
            </a:extLst>
          </p:cNvPr>
          <p:cNvSpPr>
            <a:spLocks noGrp="1"/>
          </p:cNvSpPr>
          <p:nvPr>
            <p:ph type="ftr" sz="quarter" idx="11"/>
          </p:nvPr>
        </p:nvSpPr>
        <p:spPr/>
        <p:txBody>
          <a:bodyPr/>
          <a:lstStyle/>
          <a:p>
            <a:r>
              <a:rPr lang="en-US"/>
              <a:t>© Copyright 1992-2018 by Pearson Education, Inc. All Rights Reserved.</a:t>
            </a:r>
          </a:p>
        </p:txBody>
      </p:sp>
      <p:sp>
        <p:nvSpPr>
          <p:cNvPr id="4" name="Rectangle 3">
            <a:extLst>
              <a:ext uri="{FF2B5EF4-FFF2-40B4-BE49-F238E27FC236}">
                <a16:creationId xmlns:a16="http://schemas.microsoft.com/office/drawing/2014/main" id="{6C7E0AA5-AA76-4F9D-8E70-9AE75E7ACD70}"/>
              </a:ext>
            </a:extLst>
          </p:cNvPr>
          <p:cNvSpPr/>
          <p:nvPr/>
        </p:nvSpPr>
        <p:spPr>
          <a:xfrm>
            <a:off x="3485560" y="292655"/>
            <a:ext cx="3108543" cy="830997"/>
          </a:xfrm>
          <a:prstGeom prst="rect">
            <a:avLst/>
          </a:prstGeom>
        </p:spPr>
        <p:txBody>
          <a:bodyPr wrap="none">
            <a:spAutoFit/>
          </a:bodyPr>
          <a:lstStyle/>
          <a:p>
            <a:r>
              <a:rPr lang="en-US" sz="4800" b="1" dirty="0">
                <a:highlight>
                  <a:srgbClr val="FFFF00"/>
                </a:highlight>
                <a:latin typeface="Calibri" panose="020F0502020204030204" pitchFamily="34" charset="0"/>
                <a:ea typeface="Calibri" panose="020F0502020204030204" pitchFamily="34" charset="0"/>
                <a:cs typeface="Times New Roman" panose="02020603050405020304" pitchFamily="18" charset="0"/>
              </a:rPr>
              <a:t>Example 8a</a:t>
            </a:r>
            <a:endParaRPr lang="en-US" sz="4800" dirty="0">
              <a:highlight>
                <a:srgbClr val="FFFF00"/>
              </a:highlight>
            </a:endParaRPr>
          </a:p>
        </p:txBody>
      </p:sp>
    </p:spTree>
    <p:extLst>
      <p:ext uri="{BB962C8B-B14F-4D97-AF65-F5344CB8AC3E}">
        <p14:creationId xmlns:p14="http://schemas.microsoft.com/office/powerpoint/2010/main" val="8033822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6">
            <a:extLst>
              <a:ext uri="{FF2B5EF4-FFF2-40B4-BE49-F238E27FC236}">
                <a16:creationId xmlns:a16="http://schemas.microsoft.com/office/drawing/2014/main" id="{9C9D16B9-0251-4F06-B56A-BBA4C8832AA6}"/>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384300" y="0"/>
            <a:ext cx="9421813" cy="6858000"/>
          </a:xfrm>
          <a:prstGeom prst="rect">
            <a:avLst/>
          </a:prstGeom>
        </p:spPr>
      </p:pic>
      <p:sp>
        <p:nvSpPr>
          <p:cNvPr id="2" name="Footer Placeholder 1">
            <a:extLst>
              <a:ext uri="{FF2B5EF4-FFF2-40B4-BE49-F238E27FC236}">
                <a16:creationId xmlns:a16="http://schemas.microsoft.com/office/drawing/2014/main" id="{C4F9969A-B7C9-4F00-AAA9-1317DDBEB06B}"/>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7728219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7">
            <a:extLst>
              <a:ext uri="{FF2B5EF4-FFF2-40B4-BE49-F238E27FC236}">
                <a16:creationId xmlns:a16="http://schemas.microsoft.com/office/drawing/2014/main" id="{F7B02E47-3365-482F-963E-A0FFE212520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63550" y="0"/>
            <a:ext cx="11264900" cy="6858000"/>
          </a:xfrm>
          <a:prstGeom prst="rect">
            <a:avLst/>
          </a:prstGeom>
        </p:spPr>
      </p:pic>
      <p:sp>
        <p:nvSpPr>
          <p:cNvPr id="2" name="Footer Placeholder 1">
            <a:extLst>
              <a:ext uri="{FF2B5EF4-FFF2-40B4-BE49-F238E27FC236}">
                <a16:creationId xmlns:a16="http://schemas.microsoft.com/office/drawing/2014/main" id="{A0F3E3FE-9332-481D-82A5-2ABD628B18A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814765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8">
            <a:extLst>
              <a:ext uri="{FF2B5EF4-FFF2-40B4-BE49-F238E27FC236}">
                <a16:creationId xmlns:a16="http://schemas.microsoft.com/office/drawing/2014/main" id="{FD02D7E1-A5FB-4B94-9F34-1A1B9FDBAE8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36538" y="0"/>
            <a:ext cx="11717337" cy="6858000"/>
          </a:xfrm>
          <a:prstGeom prst="rect">
            <a:avLst/>
          </a:prstGeom>
        </p:spPr>
      </p:pic>
      <p:sp>
        <p:nvSpPr>
          <p:cNvPr id="2" name="Footer Placeholder 1">
            <a:extLst>
              <a:ext uri="{FF2B5EF4-FFF2-40B4-BE49-F238E27FC236}">
                <a16:creationId xmlns:a16="http://schemas.microsoft.com/office/drawing/2014/main" id="{EFB6F6C2-B9AB-4AF3-A22F-1D273A4ADE43}"/>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176176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19">
            <a:extLst>
              <a:ext uri="{FF2B5EF4-FFF2-40B4-BE49-F238E27FC236}">
                <a16:creationId xmlns:a16="http://schemas.microsoft.com/office/drawing/2014/main" id="{E02B939E-A65F-4CB3-B8F9-B4DB104DC54E}"/>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43706"/>
            <a:ext cx="12192000" cy="5970587"/>
          </a:xfrm>
          <a:prstGeom prst="rect">
            <a:avLst/>
          </a:prstGeom>
        </p:spPr>
      </p:pic>
      <p:sp>
        <p:nvSpPr>
          <p:cNvPr id="2" name="Footer Placeholder 1">
            <a:extLst>
              <a:ext uri="{FF2B5EF4-FFF2-40B4-BE49-F238E27FC236}">
                <a16:creationId xmlns:a16="http://schemas.microsoft.com/office/drawing/2014/main" id="{20E4387F-8B2E-4DDE-9AE9-7D285766EAC0}"/>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3098792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B2CA3-760A-48C8-BD1B-13B14E1564BD}"/>
              </a:ext>
            </a:extLst>
          </p:cNvPr>
          <p:cNvSpPr>
            <a:spLocks noGrp="1"/>
          </p:cNvSpPr>
          <p:nvPr>
            <p:ph type="title"/>
          </p:nvPr>
        </p:nvSpPr>
        <p:spPr>
          <a:xfrm>
            <a:off x="609600" y="274638"/>
            <a:ext cx="10972800" cy="691133"/>
          </a:xfrm>
        </p:spPr>
        <p:txBody>
          <a:bodyPr>
            <a:normAutofit fontScale="90000"/>
          </a:bodyPr>
          <a:lstStyle/>
          <a:p>
            <a:pPr fontAlgn="auto">
              <a:spcAft>
                <a:spcPts val="0"/>
              </a:spcAft>
              <a:defRPr/>
            </a:pPr>
            <a:r>
              <a:rPr lang="en-US" dirty="0">
                <a:solidFill>
                  <a:srgbClr val="59D9B3"/>
                </a:solidFill>
                <a:latin typeface="Calibri" panose="020F0502020204030204" pitchFamily="34" charset="0"/>
              </a:rPr>
              <a:t>9.4.1 </a:t>
            </a:r>
            <a:r>
              <a:rPr lang="en-US" dirty="0">
                <a:solidFill>
                  <a:srgbClr val="33B38C"/>
                </a:solidFill>
                <a:latin typeface="Calibri" panose="020F0502020204030204" pitchFamily="34" charset="0"/>
              </a:rPr>
              <a:t>Creating and Using a </a:t>
            </a:r>
            <a:r>
              <a:rPr lang="en-US" dirty="0" err="1">
                <a:solidFill>
                  <a:srgbClr val="33B38C"/>
                </a:solidFill>
                <a:latin typeface="Consolas" panose="020B0609020204030204" pitchFamily="49" charset="0"/>
              </a:rPr>
              <a:t>CommissionEmployee</a:t>
            </a:r>
            <a:r>
              <a:rPr lang="en-US" dirty="0">
                <a:solidFill>
                  <a:srgbClr val="33B38C"/>
                </a:solidFill>
                <a:latin typeface="Calibri" panose="020F0502020204030204" pitchFamily="34" charset="0"/>
              </a:rPr>
              <a:t> Class (Cont.)</a:t>
            </a:r>
          </a:p>
        </p:txBody>
      </p:sp>
      <p:sp>
        <p:nvSpPr>
          <p:cNvPr id="36867" name="Text Placeholder 2">
            <a:extLst>
              <a:ext uri="{FF2B5EF4-FFF2-40B4-BE49-F238E27FC236}">
                <a16:creationId xmlns:a16="http://schemas.microsoft.com/office/drawing/2014/main" id="{2511B4B7-B271-4126-A9D1-730EF2B66E5A}"/>
              </a:ext>
            </a:extLst>
          </p:cNvPr>
          <p:cNvSpPr>
            <a:spLocks noGrp="1"/>
          </p:cNvSpPr>
          <p:nvPr>
            <p:ph type="body" idx="1"/>
          </p:nvPr>
        </p:nvSpPr>
        <p:spPr>
          <a:xfrm>
            <a:off x="609600" y="965771"/>
            <a:ext cx="10972800" cy="4525962"/>
          </a:xfrm>
        </p:spPr>
        <p:txBody>
          <a:bodyPr/>
          <a:lstStyle/>
          <a:p>
            <a:pPr eaLnBrk="1" hangingPunct="1">
              <a:spcBef>
                <a:spcPts val="1200"/>
              </a:spcBef>
            </a:pPr>
            <a:r>
              <a:rPr lang="en-US" altLang="en-US" sz="3200" dirty="0">
                <a:solidFill>
                  <a:srgbClr val="000000"/>
                </a:solidFill>
              </a:rPr>
              <a:t>Constructors are </a:t>
            </a:r>
            <a:r>
              <a:rPr lang="en-US" altLang="en-US" sz="3200" i="1" dirty="0">
                <a:solidFill>
                  <a:srgbClr val="000000"/>
                </a:solidFill>
              </a:rPr>
              <a:t>not</a:t>
            </a:r>
            <a:r>
              <a:rPr lang="en-US" altLang="en-US" sz="3200" dirty="0">
                <a:solidFill>
                  <a:srgbClr val="000000"/>
                </a:solidFill>
              </a:rPr>
              <a:t> inherited.</a:t>
            </a:r>
          </a:p>
          <a:p>
            <a:pPr eaLnBrk="1" hangingPunct="1">
              <a:spcBef>
                <a:spcPts val="1200"/>
              </a:spcBef>
            </a:pPr>
            <a:r>
              <a:rPr lang="en-US" altLang="en-US" sz="3200" i="1" dirty="0">
                <a:solidFill>
                  <a:srgbClr val="000000"/>
                </a:solidFill>
              </a:rPr>
              <a:t>The first task of a subclass constructor is to call its direct superclass’s constructor </a:t>
            </a:r>
            <a:r>
              <a:rPr lang="en-US" altLang="en-US" sz="3200" dirty="0">
                <a:solidFill>
                  <a:srgbClr val="000000"/>
                </a:solidFill>
              </a:rPr>
              <a:t>explicitly or implicitly</a:t>
            </a:r>
          </a:p>
          <a:p>
            <a:pPr lvl="1" eaLnBrk="1" hangingPunct="1">
              <a:spcBef>
                <a:spcPts val="1200"/>
              </a:spcBef>
            </a:pPr>
            <a:r>
              <a:rPr lang="en-US" altLang="en-US" sz="3200" dirty="0">
                <a:solidFill>
                  <a:srgbClr val="000000"/>
                </a:solidFill>
              </a:rPr>
              <a:t>Ensures that the instance variables inherited from the superclass are initialized properly. </a:t>
            </a:r>
          </a:p>
          <a:p>
            <a:pPr eaLnBrk="1" hangingPunct="1">
              <a:spcBef>
                <a:spcPts val="1200"/>
              </a:spcBef>
            </a:pPr>
            <a:r>
              <a:rPr lang="en-US" altLang="en-US" sz="3200" dirty="0">
                <a:solidFill>
                  <a:srgbClr val="000000"/>
                </a:solidFill>
              </a:rPr>
              <a:t>If the code does not include an explicit call to the superclass constructor, Java implicitly calls the superclass’s default or no-argument constructor. </a:t>
            </a:r>
          </a:p>
          <a:p>
            <a:pPr eaLnBrk="1" hangingPunct="1">
              <a:spcBef>
                <a:spcPts val="1200"/>
              </a:spcBef>
            </a:pPr>
            <a:r>
              <a:rPr lang="en-US" altLang="en-US" sz="3200" dirty="0">
                <a:solidFill>
                  <a:srgbClr val="000000"/>
                </a:solidFill>
              </a:rPr>
              <a:t>A class’s default constructor calls the superclass’s default or no-argument constructor.</a:t>
            </a:r>
          </a:p>
        </p:txBody>
      </p:sp>
    </p:spTree>
    <p:extLst>
      <p:ext uri="{BB962C8B-B14F-4D97-AF65-F5344CB8AC3E}">
        <p14:creationId xmlns:p14="http://schemas.microsoft.com/office/powerpoint/2010/main" val="27298456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62FCC-56F8-4D61-9856-7F283B95B863}"/>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9.4.1 </a:t>
            </a:r>
            <a:r>
              <a:rPr lang="en-US" dirty="0">
                <a:solidFill>
                  <a:srgbClr val="33B38C"/>
                </a:solidFill>
                <a:latin typeface="Calibri" panose="020F0502020204030204" pitchFamily="34" charset="0"/>
              </a:rPr>
              <a:t>Creating and Using a </a:t>
            </a:r>
            <a:r>
              <a:rPr lang="en-US" dirty="0" err="1">
                <a:solidFill>
                  <a:srgbClr val="33B38C"/>
                </a:solidFill>
                <a:latin typeface="Consolas" panose="020B0609020204030204" pitchFamily="49" charset="0"/>
              </a:rPr>
              <a:t>CommissionEmployee</a:t>
            </a:r>
            <a:r>
              <a:rPr lang="en-US" dirty="0">
                <a:solidFill>
                  <a:srgbClr val="33B38C"/>
                </a:solidFill>
                <a:latin typeface="Calibri" panose="020F0502020204030204" pitchFamily="34" charset="0"/>
              </a:rPr>
              <a:t> Class (Cont.)</a:t>
            </a:r>
          </a:p>
        </p:txBody>
      </p:sp>
      <p:sp>
        <p:nvSpPr>
          <p:cNvPr id="37891" name="Text Placeholder 2">
            <a:extLst>
              <a:ext uri="{FF2B5EF4-FFF2-40B4-BE49-F238E27FC236}">
                <a16:creationId xmlns:a16="http://schemas.microsoft.com/office/drawing/2014/main" id="{C397B6BC-3613-45BA-8871-13096C2DAB78}"/>
              </a:ext>
            </a:extLst>
          </p:cNvPr>
          <p:cNvSpPr>
            <a:spLocks noGrp="1"/>
          </p:cNvSpPr>
          <p:nvPr>
            <p:ph type="body" idx="1"/>
          </p:nvPr>
        </p:nvSpPr>
        <p:spPr>
          <a:xfrm>
            <a:off x="318499" y="1481138"/>
            <a:ext cx="11263901" cy="4525962"/>
          </a:xfrm>
        </p:spPr>
        <p:txBody>
          <a:bodyPr/>
          <a:lstStyle/>
          <a:p>
            <a:pPr eaLnBrk="1" hangingPunct="1"/>
            <a:r>
              <a:rPr lang="en-US" altLang="en-US" sz="3200" b="1" dirty="0" err="1">
                <a:solidFill>
                  <a:srgbClr val="000000"/>
                </a:solidFill>
                <a:latin typeface="Consolas" panose="020B0609020204030204" pitchFamily="49" charset="0"/>
              </a:rPr>
              <a:t>toString</a:t>
            </a:r>
            <a:r>
              <a:rPr lang="en-US" altLang="en-US" sz="3200" dirty="0">
                <a:solidFill>
                  <a:srgbClr val="000000"/>
                </a:solidFill>
              </a:rPr>
              <a:t> is one of the methods that </a:t>
            </a:r>
            <a:r>
              <a:rPr lang="en-US" altLang="en-US" sz="3200" i="1" dirty="0">
                <a:solidFill>
                  <a:srgbClr val="000000"/>
                </a:solidFill>
              </a:rPr>
              <a:t>every</a:t>
            </a:r>
            <a:r>
              <a:rPr lang="en-US" altLang="en-US" sz="3200" dirty="0">
                <a:solidFill>
                  <a:srgbClr val="000000"/>
                </a:solidFill>
              </a:rPr>
              <a:t> class inherits directly or indirectly from class </a:t>
            </a:r>
            <a:r>
              <a:rPr lang="en-US" altLang="en-US" sz="3200" b="1" i="1" dirty="0">
                <a:solidFill>
                  <a:srgbClr val="000000"/>
                </a:solidFill>
                <a:latin typeface="Consolas" panose="020B0609020204030204" pitchFamily="49" charset="0"/>
              </a:rPr>
              <a:t>Object</a:t>
            </a:r>
            <a:r>
              <a:rPr lang="en-US" altLang="en-US" sz="3200" dirty="0">
                <a:solidFill>
                  <a:srgbClr val="000000"/>
                </a:solidFill>
              </a:rPr>
              <a:t>. </a:t>
            </a:r>
          </a:p>
          <a:p>
            <a:pPr lvl="1" eaLnBrk="1" hangingPunct="1"/>
            <a:r>
              <a:rPr lang="en-US" altLang="en-US" sz="3200" dirty="0">
                <a:solidFill>
                  <a:srgbClr val="000000"/>
                </a:solidFill>
              </a:rPr>
              <a:t>Returns a </a:t>
            </a:r>
            <a:r>
              <a:rPr lang="en-US" altLang="en-US" sz="3200" b="1" dirty="0">
                <a:solidFill>
                  <a:srgbClr val="000000"/>
                </a:solidFill>
                <a:latin typeface="Consolas" panose="020B0609020204030204" pitchFamily="49" charset="0"/>
              </a:rPr>
              <a:t>String</a:t>
            </a:r>
            <a:r>
              <a:rPr lang="en-US" altLang="en-US" sz="3200" b="1" dirty="0">
                <a:solidFill>
                  <a:srgbClr val="000000"/>
                </a:solidFill>
              </a:rPr>
              <a:t> </a:t>
            </a:r>
            <a:r>
              <a:rPr lang="en-US" altLang="en-US" sz="3200" dirty="0">
                <a:solidFill>
                  <a:srgbClr val="000000"/>
                </a:solidFill>
              </a:rPr>
              <a:t>representing an object. </a:t>
            </a:r>
          </a:p>
          <a:p>
            <a:pPr lvl="1" eaLnBrk="1" hangingPunct="1"/>
            <a:r>
              <a:rPr lang="en-US" altLang="en-US" sz="3200" dirty="0">
                <a:solidFill>
                  <a:srgbClr val="000000"/>
                </a:solidFill>
              </a:rPr>
              <a:t>Called implicitly whenever an object must be converted to a </a:t>
            </a:r>
            <a:r>
              <a:rPr lang="en-US" altLang="en-US" sz="3200" b="1" i="1" dirty="0">
                <a:solidFill>
                  <a:srgbClr val="000000"/>
                </a:solidFill>
                <a:latin typeface="Consolas" panose="020B0609020204030204" pitchFamily="49" charset="0"/>
              </a:rPr>
              <a:t>String</a:t>
            </a:r>
            <a:r>
              <a:rPr lang="en-US" altLang="en-US" sz="3200" b="1" i="1" dirty="0">
                <a:solidFill>
                  <a:srgbClr val="000000"/>
                </a:solidFill>
              </a:rPr>
              <a:t> </a:t>
            </a:r>
            <a:r>
              <a:rPr lang="en-US" altLang="en-US" sz="3200" dirty="0">
                <a:solidFill>
                  <a:srgbClr val="000000"/>
                </a:solidFill>
              </a:rPr>
              <a:t>representation. </a:t>
            </a:r>
          </a:p>
          <a:p>
            <a:pPr eaLnBrk="1" hangingPunct="1"/>
            <a:r>
              <a:rPr lang="en-US" altLang="en-US" sz="3200" dirty="0">
                <a:solidFill>
                  <a:srgbClr val="000000"/>
                </a:solidFill>
              </a:rPr>
              <a:t>Class </a:t>
            </a:r>
            <a:r>
              <a:rPr lang="en-US" altLang="en-US" sz="3200" b="1" dirty="0">
                <a:solidFill>
                  <a:srgbClr val="000000"/>
                </a:solidFill>
                <a:latin typeface="Consolas" panose="020B0609020204030204" pitchFamily="49" charset="0"/>
              </a:rPr>
              <a:t>Object</a:t>
            </a:r>
            <a:r>
              <a:rPr lang="en-US" altLang="en-US" sz="3200" dirty="0">
                <a:solidFill>
                  <a:srgbClr val="000000"/>
                </a:solidFill>
              </a:rPr>
              <a:t>’s </a:t>
            </a:r>
            <a:r>
              <a:rPr lang="en-US" altLang="en-US" sz="3200" b="1" i="1" dirty="0" err="1">
                <a:solidFill>
                  <a:srgbClr val="000000"/>
                </a:solidFill>
                <a:latin typeface="Consolas" panose="020B0609020204030204" pitchFamily="49" charset="0"/>
              </a:rPr>
              <a:t>toString</a:t>
            </a:r>
            <a:r>
              <a:rPr lang="en-US" altLang="en-US" sz="3200" dirty="0">
                <a:solidFill>
                  <a:srgbClr val="000000"/>
                </a:solidFill>
              </a:rPr>
              <a:t> method returns a </a:t>
            </a:r>
            <a:r>
              <a:rPr lang="en-US" altLang="en-US" sz="3200" b="1" dirty="0">
                <a:solidFill>
                  <a:srgbClr val="000000"/>
                </a:solidFill>
                <a:latin typeface="Consolas" panose="020B0609020204030204" pitchFamily="49" charset="0"/>
              </a:rPr>
              <a:t>String</a:t>
            </a:r>
            <a:r>
              <a:rPr lang="en-US" altLang="en-US" sz="3200" dirty="0">
                <a:solidFill>
                  <a:srgbClr val="000000"/>
                </a:solidFill>
              </a:rPr>
              <a:t> that includes the name of the object’s class. </a:t>
            </a:r>
          </a:p>
          <a:p>
            <a:pPr lvl="1" eaLnBrk="1" hangingPunct="1"/>
            <a:r>
              <a:rPr lang="en-US" altLang="en-US" sz="3200" dirty="0">
                <a:solidFill>
                  <a:srgbClr val="000000"/>
                </a:solidFill>
              </a:rPr>
              <a:t>This is primarily a placeholder that can be </a:t>
            </a:r>
            <a:r>
              <a:rPr lang="en-US" altLang="en-US" sz="3200" b="1" i="1" dirty="0">
                <a:solidFill>
                  <a:srgbClr val="000000"/>
                </a:solidFill>
              </a:rPr>
              <a:t>overridden</a:t>
            </a:r>
            <a:r>
              <a:rPr lang="en-US" altLang="en-US" sz="3200" dirty="0">
                <a:solidFill>
                  <a:srgbClr val="000000"/>
                </a:solidFill>
              </a:rPr>
              <a:t> by a subclass to specify an appropriate </a:t>
            </a:r>
            <a:r>
              <a:rPr lang="en-US" altLang="en-US" sz="3200" dirty="0">
                <a:solidFill>
                  <a:srgbClr val="000000"/>
                </a:solidFill>
                <a:latin typeface="Consolas" panose="020B0609020204030204" pitchFamily="49" charset="0"/>
              </a:rPr>
              <a:t>String</a:t>
            </a:r>
            <a:r>
              <a:rPr lang="en-US" altLang="en-US" sz="3200" dirty="0">
                <a:solidFill>
                  <a:srgbClr val="000000"/>
                </a:solidFill>
              </a:rPr>
              <a:t> representation.</a:t>
            </a:r>
          </a:p>
        </p:txBody>
      </p:sp>
      <p:sp>
        <p:nvSpPr>
          <p:cNvPr id="4" name="Footer Placeholder 3">
            <a:extLst>
              <a:ext uri="{FF2B5EF4-FFF2-40B4-BE49-F238E27FC236}">
                <a16:creationId xmlns:a16="http://schemas.microsoft.com/office/drawing/2014/main" id="{1A029F90-7F41-449E-8C61-E0FC46D51403}"/>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457511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32356-74A1-455F-B831-9436757BE915}"/>
              </a:ext>
            </a:extLst>
          </p:cNvPr>
          <p:cNvSpPr>
            <a:spLocks noGrp="1"/>
          </p:cNvSpPr>
          <p:nvPr>
            <p:ph type="title"/>
          </p:nvPr>
        </p:nvSpPr>
        <p:spPr>
          <a:xfrm>
            <a:off x="609600" y="274638"/>
            <a:ext cx="10972800" cy="511175"/>
          </a:xfrm>
        </p:spPr>
        <p:txBody>
          <a:bodyPr>
            <a:normAutofit fontScale="90000"/>
          </a:bodyPr>
          <a:lstStyle/>
          <a:p>
            <a:pPr algn="ctr"/>
            <a:r>
              <a:rPr lang="en-US" altLang="en-US" dirty="0">
                <a:solidFill>
                  <a:srgbClr val="000000"/>
                </a:solidFill>
              </a:rPr>
              <a:t>Class </a:t>
            </a:r>
            <a:r>
              <a:rPr lang="en-US" altLang="en-US" dirty="0">
                <a:solidFill>
                  <a:srgbClr val="000000"/>
                </a:solidFill>
                <a:latin typeface="Consolas" panose="020B0609020204030204" pitchFamily="49" charset="0"/>
              </a:rPr>
              <a:t>Object</a:t>
            </a:r>
            <a:r>
              <a:rPr lang="en-US" altLang="en-US" dirty="0">
                <a:solidFill>
                  <a:srgbClr val="000000"/>
                </a:solidFill>
              </a:rPr>
              <a:t>’s </a:t>
            </a:r>
            <a:r>
              <a:rPr lang="en-US" altLang="en-US" i="1" dirty="0" err="1">
                <a:solidFill>
                  <a:srgbClr val="000000"/>
                </a:solidFill>
                <a:latin typeface="Consolas" panose="020B0609020204030204" pitchFamily="49" charset="0"/>
              </a:rPr>
              <a:t>toString</a:t>
            </a:r>
            <a:r>
              <a:rPr lang="en-US" altLang="en-US" dirty="0">
                <a:solidFill>
                  <a:srgbClr val="000000"/>
                </a:solidFill>
              </a:rPr>
              <a:t> method</a:t>
            </a:r>
            <a:endParaRPr lang="en-US" dirty="0"/>
          </a:p>
        </p:txBody>
      </p:sp>
      <p:sp>
        <p:nvSpPr>
          <p:cNvPr id="4" name="Footer Placeholder 3">
            <a:extLst>
              <a:ext uri="{FF2B5EF4-FFF2-40B4-BE49-F238E27FC236}">
                <a16:creationId xmlns:a16="http://schemas.microsoft.com/office/drawing/2014/main" id="{69EFBC64-D732-4B20-AA9A-A3F62390616E}"/>
              </a:ext>
            </a:extLst>
          </p:cNvPr>
          <p:cNvSpPr>
            <a:spLocks noGrp="1"/>
          </p:cNvSpPr>
          <p:nvPr>
            <p:ph type="ftr" sz="quarter" idx="11"/>
          </p:nvPr>
        </p:nvSpPr>
        <p:spPr/>
        <p:txBody>
          <a:bodyPr/>
          <a:lstStyle/>
          <a:p>
            <a:r>
              <a:rPr lang="en-US"/>
              <a:t>© Copyright 1992-2018 by Pearson Education, Inc. All Rights Reserved.</a:t>
            </a:r>
          </a:p>
        </p:txBody>
      </p:sp>
      <p:pic>
        <p:nvPicPr>
          <p:cNvPr id="5" name="Online Media 4" title="toString Method Java Tutorial">
            <a:hlinkClick r:id="" action="ppaction://media"/>
            <a:extLst>
              <a:ext uri="{FF2B5EF4-FFF2-40B4-BE49-F238E27FC236}">
                <a16:creationId xmlns:a16="http://schemas.microsoft.com/office/drawing/2014/main" id="{2868E0E8-809F-497A-BE32-CE98D3EBBEC4}"/>
              </a:ext>
            </a:extLst>
          </p:cNvPr>
          <p:cNvPicPr>
            <a:picLocks noRot="1" noChangeAspect="1"/>
          </p:cNvPicPr>
          <p:nvPr>
            <a:videoFile r:link="rId1"/>
          </p:nvPr>
        </p:nvPicPr>
        <p:blipFill>
          <a:blip r:embed="rId3"/>
          <a:stretch>
            <a:fillRect/>
          </a:stretch>
        </p:blipFill>
        <p:spPr>
          <a:xfrm>
            <a:off x="900113" y="785813"/>
            <a:ext cx="10829925" cy="5797549"/>
          </a:xfrm>
          <a:prstGeom prst="rect">
            <a:avLst/>
          </a:prstGeom>
        </p:spPr>
      </p:pic>
    </p:spTree>
    <p:extLst>
      <p:ext uri="{BB962C8B-B14F-4D97-AF65-F5344CB8AC3E}">
        <p14:creationId xmlns:p14="http://schemas.microsoft.com/office/powerpoint/2010/main" val="3260829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32356-74A1-455F-B831-9436757BE915}"/>
              </a:ext>
            </a:extLst>
          </p:cNvPr>
          <p:cNvSpPr>
            <a:spLocks noGrp="1"/>
          </p:cNvSpPr>
          <p:nvPr>
            <p:ph type="title"/>
          </p:nvPr>
        </p:nvSpPr>
        <p:spPr>
          <a:xfrm>
            <a:off x="625210" y="84136"/>
            <a:ext cx="10972800" cy="511175"/>
          </a:xfrm>
        </p:spPr>
        <p:txBody>
          <a:bodyPr>
            <a:normAutofit fontScale="90000"/>
          </a:bodyPr>
          <a:lstStyle/>
          <a:p>
            <a:pPr algn="ctr"/>
            <a:r>
              <a:rPr lang="en-US" altLang="en-US" dirty="0">
                <a:solidFill>
                  <a:srgbClr val="000000"/>
                </a:solidFill>
              </a:rPr>
              <a:t>Class </a:t>
            </a:r>
            <a:r>
              <a:rPr lang="en-US" altLang="en-US" dirty="0">
                <a:solidFill>
                  <a:srgbClr val="000000"/>
                </a:solidFill>
                <a:latin typeface="Consolas" panose="020B0609020204030204" pitchFamily="49" charset="0"/>
              </a:rPr>
              <a:t>Object</a:t>
            </a:r>
            <a:r>
              <a:rPr lang="en-US" altLang="en-US" dirty="0">
                <a:solidFill>
                  <a:srgbClr val="000000"/>
                </a:solidFill>
              </a:rPr>
              <a:t>’s </a:t>
            </a:r>
            <a:r>
              <a:rPr lang="en-US" altLang="en-US" i="1" dirty="0" err="1">
                <a:solidFill>
                  <a:srgbClr val="000000"/>
                </a:solidFill>
                <a:latin typeface="Consolas" panose="020B0609020204030204" pitchFamily="49" charset="0"/>
              </a:rPr>
              <a:t>toString</a:t>
            </a:r>
            <a:r>
              <a:rPr lang="en-US" altLang="en-US" dirty="0">
                <a:solidFill>
                  <a:srgbClr val="000000"/>
                </a:solidFill>
              </a:rPr>
              <a:t> method</a:t>
            </a:r>
            <a:endParaRPr lang="en-US" dirty="0"/>
          </a:p>
        </p:txBody>
      </p:sp>
      <p:sp>
        <p:nvSpPr>
          <p:cNvPr id="4" name="Footer Placeholder 3">
            <a:extLst>
              <a:ext uri="{FF2B5EF4-FFF2-40B4-BE49-F238E27FC236}">
                <a16:creationId xmlns:a16="http://schemas.microsoft.com/office/drawing/2014/main" id="{69EFBC64-D732-4B20-AA9A-A3F62390616E}"/>
              </a:ext>
            </a:extLst>
          </p:cNvPr>
          <p:cNvSpPr>
            <a:spLocks noGrp="1"/>
          </p:cNvSpPr>
          <p:nvPr>
            <p:ph type="ftr" sz="quarter" idx="11"/>
          </p:nvPr>
        </p:nvSpPr>
        <p:spPr/>
        <p:txBody>
          <a:bodyPr/>
          <a:lstStyle/>
          <a:p>
            <a:r>
              <a:rPr lang="en-US"/>
              <a:t>© Copyright 1992-2018 by Pearson Education, Inc. All Rights Reserved.</a:t>
            </a:r>
          </a:p>
        </p:txBody>
      </p:sp>
      <p:pic>
        <p:nvPicPr>
          <p:cNvPr id="3" name="Online Media 2" title="Java toString method 🎉">
            <a:hlinkClick r:id="" action="ppaction://media"/>
            <a:extLst>
              <a:ext uri="{FF2B5EF4-FFF2-40B4-BE49-F238E27FC236}">
                <a16:creationId xmlns:a16="http://schemas.microsoft.com/office/drawing/2014/main" id="{1DFA551D-72DE-464F-8CEE-29C88726691F}"/>
              </a:ext>
            </a:extLst>
          </p:cNvPr>
          <p:cNvPicPr>
            <a:picLocks noRot="1" noChangeAspect="1"/>
          </p:cNvPicPr>
          <p:nvPr>
            <a:videoFile r:link="rId1"/>
          </p:nvPr>
        </p:nvPicPr>
        <p:blipFill>
          <a:blip r:embed="rId3"/>
          <a:stretch>
            <a:fillRect/>
          </a:stretch>
        </p:blipFill>
        <p:spPr>
          <a:xfrm>
            <a:off x="321733" y="608374"/>
            <a:ext cx="11579755" cy="6178553"/>
          </a:xfrm>
          <a:prstGeom prst="rect">
            <a:avLst/>
          </a:prstGeom>
        </p:spPr>
      </p:pic>
    </p:spTree>
    <p:extLst>
      <p:ext uri="{BB962C8B-B14F-4D97-AF65-F5344CB8AC3E}">
        <p14:creationId xmlns:p14="http://schemas.microsoft.com/office/powerpoint/2010/main" val="22224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5DB7D-9782-48CA-AEC6-3AE003BD6B0C}"/>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9.4.1 </a:t>
            </a:r>
            <a:r>
              <a:rPr lang="en-US" dirty="0">
                <a:solidFill>
                  <a:srgbClr val="33B38C"/>
                </a:solidFill>
                <a:latin typeface="Calibri" panose="020F0502020204030204" pitchFamily="34" charset="0"/>
              </a:rPr>
              <a:t>Creating and Using a </a:t>
            </a:r>
            <a:r>
              <a:rPr lang="en-US" dirty="0" err="1">
                <a:solidFill>
                  <a:srgbClr val="33B38C"/>
                </a:solidFill>
                <a:latin typeface="Consolas" panose="020B0609020204030204" pitchFamily="49" charset="0"/>
              </a:rPr>
              <a:t>CommissionEmployee</a:t>
            </a:r>
            <a:r>
              <a:rPr lang="en-US" dirty="0">
                <a:solidFill>
                  <a:srgbClr val="33B38C"/>
                </a:solidFill>
                <a:latin typeface="Calibri" panose="020F0502020204030204" pitchFamily="34" charset="0"/>
              </a:rPr>
              <a:t> Class (Cont.)</a:t>
            </a:r>
          </a:p>
        </p:txBody>
      </p:sp>
      <p:sp>
        <p:nvSpPr>
          <p:cNvPr id="38915" name="Text Placeholder 2">
            <a:extLst>
              <a:ext uri="{FF2B5EF4-FFF2-40B4-BE49-F238E27FC236}">
                <a16:creationId xmlns:a16="http://schemas.microsoft.com/office/drawing/2014/main" id="{DAE8A6FC-84C8-4613-8222-898E01F5C117}"/>
              </a:ext>
            </a:extLst>
          </p:cNvPr>
          <p:cNvSpPr>
            <a:spLocks noGrp="1"/>
          </p:cNvSpPr>
          <p:nvPr>
            <p:ph type="body" idx="1"/>
          </p:nvPr>
        </p:nvSpPr>
        <p:spPr/>
        <p:txBody>
          <a:bodyPr/>
          <a:lstStyle/>
          <a:p>
            <a:pPr eaLnBrk="1" hangingPunct="1">
              <a:spcBef>
                <a:spcPts val="1200"/>
              </a:spcBef>
            </a:pPr>
            <a:r>
              <a:rPr lang="en-US" altLang="en-US" sz="3200" dirty="0">
                <a:solidFill>
                  <a:srgbClr val="000000"/>
                </a:solidFill>
              </a:rPr>
              <a:t>To override a superclass method, a subclass must declare a method with the same signature as the superclass method</a:t>
            </a:r>
          </a:p>
          <a:p>
            <a:pPr eaLnBrk="1" hangingPunct="1">
              <a:spcBef>
                <a:spcPts val="1200"/>
              </a:spcBef>
            </a:pPr>
            <a:r>
              <a:rPr lang="en-US" altLang="en-US" sz="3200" dirty="0">
                <a:solidFill>
                  <a:srgbClr val="0000FF"/>
                </a:solidFill>
                <a:latin typeface="Consolas" panose="020B0609020204030204" pitchFamily="49" charset="0"/>
              </a:rPr>
              <a:t>@Override</a:t>
            </a:r>
            <a:r>
              <a:rPr lang="en-US" altLang="en-US" sz="3200" dirty="0">
                <a:solidFill>
                  <a:srgbClr val="0000FF"/>
                </a:solidFill>
              </a:rPr>
              <a:t> annotation</a:t>
            </a:r>
            <a:r>
              <a:rPr lang="en-US" altLang="en-US" sz="3200" dirty="0">
                <a:solidFill>
                  <a:srgbClr val="000000"/>
                </a:solidFill>
              </a:rPr>
              <a:t> </a:t>
            </a:r>
          </a:p>
          <a:p>
            <a:pPr lvl="1" eaLnBrk="1" hangingPunct="1">
              <a:spcBef>
                <a:spcPts val="1200"/>
              </a:spcBef>
            </a:pPr>
            <a:r>
              <a:rPr lang="en-US" altLang="en-US" sz="3200" dirty="0">
                <a:solidFill>
                  <a:srgbClr val="000000"/>
                </a:solidFill>
              </a:rPr>
              <a:t>Indicates that a method should override a superclass method with the same signature.</a:t>
            </a:r>
          </a:p>
          <a:p>
            <a:pPr lvl="1" eaLnBrk="1" hangingPunct="1">
              <a:spcBef>
                <a:spcPts val="1200"/>
              </a:spcBef>
            </a:pPr>
            <a:r>
              <a:rPr lang="en-US" altLang="en-US" sz="3200" dirty="0">
                <a:solidFill>
                  <a:srgbClr val="000000"/>
                </a:solidFill>
              </a:rPr>
              <a:t>If it does not, a compilation error occurs.</a:t>
            </a:r>
          </a:p>
        </p:txBody>
      </p:sp>
      <p:sp>
        <p:nvSpPr>
          <p:cNvPr id="4" name="Footer Placeholder 3">
            <a:extLst>
              <a:ext uri="{FF2B5EF4-FFF2-40B4-BE49-F238E27FC236}">
                <a16:creationId xmlns:a16="http://schemas.microsoft.com/office/drawing/2014/main" id="{41F05E2B-2039-44A0-BC09-7EFE225A0AE7}"/>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760952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EAA82BC-8B39-48EA-9BDE-BABC0590F9B6}"/>
              </a:ext>
            </a:extLst>
          </p:cNvPr>
          <p:cNvSpPr>
            <a:spLocks noGrp="1"/>
          </p:cNvSpPr>
          <p:nvPr>
            <p:ph idx="1"/>
          </p:nvPr>
        </p:nvSpPr>
        <p:spPr>
          <a:xfrm>
            <a:off x="420176" y="984464"/>
            <a:ext cx="11582400" cy="4525962"/>
          </a:xfrm>
        </p:spPr>
        <p:txBody>
          <a:bodyPr/>
          <a:lstStyle/>
          <a:p>
            <a:pPr>
              <a:spcBef>
                <a:spcPts val="1200"/>
              </a:spcBef>
            </a:pPr>
            <a:r>
              <a:rPr lang="en-US" sz="3000" dirty="0"/>
              <a:t>If you want to represent any object as a string, </a:t>
            </a:r>
            <a:r>
              <a:rPr lang="en-US" sz="3000" b="1" dirty="0" err="1"/>
              <a:t>toString</a:t>
            </a:r>
            <a:r>
              <a:rPr lang="en-US" sz="3000" b="1" dirty="0"/>
              <a:t>() method</a:t>
            </a:r>
            <a:r>
              <a:rPr lang="en-US" sz="3000" dirty="0"/>
              <a:t> comes into existence.</a:t>
            </a:r>
          </a:p>
          <a:p>
            <a:pPr>
              <a:spcBef>
                <a:spcPts val="1200"/>
              </a:spcBef>
            </a:pPr>
            <a:r>
              <a:rPr lang="en-US" sz="3000" dirty="0"/>
              <a:t>The </a:t>
            </a:r>
            <a:r>
              <a:rPr lang="en-US" sz="3000" b="1" dirty="0" err="1"/>
              <a:t>toString</a:t>
            </a:r>
            <a:r>
              <a:rPr lang="en-US" sz="3000" b="1" dirty="0"/>
              <a:t>() </a:t>
            </a:r>
            <a:r>
              <a:rPr lang="en-US" sz="3000" dirty="0"/>
              <a:t>method returns string representation of the object.</a:t>
            </a:r>
          </a:p>
          <a:p>
            <a:pPr>
              <a:spcBef>
                <a:spcPts val="1200"/>
              </a:spcBef>
            </a:pPr>
            <a:r>
              <a:rPr lang="en-US" sz="3000" dirty="0"/>
              <a:t>If you print any object, java compiler internally invokes the </a:t>
            </a:r>
            <a:r>
              <a:rPr lang="en-US" sz="3000" b="1" dirty="0" err="1"/>
              <a:t>toString</a:t>
            </a:r>
            <a:r>
              <a:rPr lang="en-US" sz="3000" b="1" dirty="0"/>
              <a:t>() </a:t>
            </a:r>
            <a:r>
              <a:rPr lang="en-US" sz="3000" dirty="0"/>
              <a:t>method on the object. </a:t>
            </a:r>
          </a:p>
          <a:p>
            <a:pPr>
              <a:spcBef>
                <a:spcPts val="1200"/>
              </a:spcBef>
            </a:pPr>
            <a:r>
              <a:rPr lang="en-US" sz="3000" dirty="0"/>
              <a:t>So, overriding the </a:t>
            </a:r>
            <a:r>
              <a:rPr lang="en-US" sz="3000" b="1" dirty="0" err="1"/>
              <a:t>toString</a:t>
            </a:r>
            <a:r>
              <a:rPr lang="en-US" sz="3000" b="1" dirty="0"/>
              <a:t>() method</a:t>
            </a:r>
            <a:r>
              <a:rPr lang="en-US" sz="3000" dirty="0"/>
              <a:t>, returns the desired output, it can be the state of an object etc. depends on your implementation.</a:t>
            </a:r>
          </a:p>
          <a:p>
            <a:pPr>
              <a:spcBef>
                <a:spcPts val="1200"/>
              </a:spcBef>
            </a:pPr>
            <a:r>
              <a:rPr lang="en-US" sz="3000" dirty="0"/>
              <a:t>By overriding the </a:t>
            </a:r>
            <a:r>
              <a:rPr lang="en-US" sz="3000" b="1" dirty="0" err="1"/>
              <a:t>toString</a:t>
            </a:r>
            <a:r>
              <a:rPr lang="en-US" sz="3000" b="1" dirty="0"/>
              <a:t>()</a:t>
            </a:r>
            <a:r>
              <a:rPr lang="en-US" sz="3000" dirty="0"/>
              <a:t> method of the Object class, we can return values of the object, so we don't need to write much code.</a:t>
            </a:r>
          </a:p>
          <a:p>
            <a:br>
              <a:rPr lang="en-US" dirty="0"/>
            </a:br>
            <a:endParaRPr lang="en-US" dirty="0"/>
          </a:p>
        </p:txBody>
      </p:sp>
      <p:sp>
        <p:nvSpPr>
          <p:cNvPr id="3" name="Title 2">
            <a:extLst>
              <a:ext uri="{FF2B5EF4-FFF2-40B4-BE49-F238E27FC236}">
                <a16:creationId xmlns:a16="http://schemas.microsoft.com/office/drawing/2014/main" id="{909E0677-6548-40D9-966A-6FEAE5D19C62}"/>
              </a:ext>
            </a:extLst>
          </p:cNvPr>
          <p:cNvSpPr>
            <a:spLocks noGrp="1"/>
          </p:cNvSpPr>
          <p:nvPr>
            <p:ph type="title"/>
          </p:nvPr>
        </p:nvSpPr>
        <p:spPr>
          <a:xfrm>
            <a:off x="609600" y="141074"/>
            <a:ext cx="11582400" cy="576262"/>
          </a:xfrm>
        </p:spPr>
        <p:txBody>
          <a:bodyPr>
            <a:normAutofit fontScale="90000"/>
          </a:bodyPr>
          <a:lstStyle/>
          <a:p>
            <a:r>
              <a:rPr lang="en-US" dirty="0">
                <a:effectLst/>
              </a:rPr>
              <a:t>Understanding problem without </a:t>
            </a:r>
            <a:r>
              <a:rPr lang="en-US" dirty="0" err="1">
                <a:effectLst/>
              </a:rPr>
              <a:t>toString</a:t>
            </a:r>
            <a:r>
              <a:rPr lang="en-US" dirty="0">
                <a:effectLst/>
              </a:rPr>
              <a:t>() method</a:t>
            </a:r>
            <a:endParaRPr lang="en-US" dirty="0"/>
          </a:p>
        </p:txBody>
      </p:sp>
    </p:spTree>
    <p:extLst>
      <p:ext uri="{BB962C8B-B14F-4D97-AF65-F5344CB8AC3E}">
        <p14:creationId xmlns:p14="http://schemas.microsoft.com/office/powerpoint/2010/main" val="2057140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EAA82BC-8B39-48EA-9BDE-BABC0590F9B6}"/>
              </a:ext>
            </a:extLst>
          </p:cNvPr>
          <p:cNvSpPr>
            <a:spLocks noGrp="1"/>
          </p:cNvSpPr>
          <p:nvPr>
            <p:ph idx="1"/>
          </p:nvPr>
        </p:nvSpPr>
        <p:spPr>
          <a:xfrm>
            <a:off x="609600" y="850900"/>
            <a:ext cx="11413524" cy="4525962"/>
          </a:xfrm>
        </p:spPr>
        <p:txBody>
          <a:bodyPr/>
          <a:lstStyle/>
          <a:p>
            <a:r>
              <a:rPr lang="en-US" dirty="0"/>
              <a:t>Let's see the simple code that prints reference.</a:t>
            </a:r>
          </a:p>
          <a:p>
            <a:r>
              <a:rPr lang="en-US" sz="2800" dirty="0">
                <a:highlight>
                  <a:srgbClr val="FFFF00"/>
                </a:highlight>
              </a:rPr>
              <a:t>EXAMPLE 6</a:t>
            </a:r>
          </a:p>
          <a:p>
            <a:br>
              <a:rPr lang="en-US" dirty="0"/>
            </a:br>
            <a:endParaRPr lang="en-US" dirty="0"/>
          </a:p>
        </p:txBody>
      </p:sp>
      <p:sp>
        <p:nvSpPr>
          <p:cNvPr id="3" name="Title 2">
            <a:extLst>
              <a:ext uri="{FF2B5EF4-FFF2-40B4-BE49-F238E27FC236}">
                <a16:creationId xmlns:a16="http://schemas.microsoft.com/office/drawing/2014/main" id="{909E0677-6548-40D9-966A-6FEAE5D19C62}"/>
              </a:ext>
            </a:extLst>
          </p:cNvPr>
          <p:cNvSpPr>
            <a:spLocks noGrp="1"/>
          </p:cNvSpPr>
          <p:nvPr>
            <p:ph type="title"/>
          </p:nvPr>
        </p:nvSpPr>
        <p:spPr>
          <a:xfrm>
            <a:off x="609600" y="274638"/>
            <a:ext cx="11582400" cy="576262"/>
          </a:xfrm>
        </p:spPr>
        <p:txBody>
          <a:bodyPr>
            <a:normAutofit fontScale="90000"/>
          </a:bodyPr>
          <a:lstStyle/>
          <a:p>
            <a:r>
              <a:rPr lang="en-US" dirty="0">
                <a:effectLst/>
              </a:rPr>
              <a:t>Understanding</a:t>
            </a:r>
            <a:r>
              <a:rPr lang="en-US" b="0" dirty="0">
                <a:effectLst/>
              </a:rPr>
              <a:t> problem without </a:t>
            </a:r>
            <a:r>
              <a:rPr lang="en-US" dirty="0" err="1">
                <a:effectLst/>
              </a:rPr>
              <a:t>toString</a:t>
            </a:r>
            <a:r>
              <a:rPr lang="en-US" dirty="0">
                <a:effectLst/>
              </a:rPr>
              <a:t>() </a:t>
            </a:r>
            <a:r>
              <a:rPr lang="en-US" b="0" dirty="0">
                <a:effectLst/>
              </a:rPr>
              <a:t>method</a:t>
            </a:r>
            <a:br>
              <a:rPr lang="en-US" dirty="0">
                <a:effectLst/>
              </a:rPr>
            </a:br>
            <a:endParaRPr lang="en-US" dirty="0"/>
          </a:p>
        </p:txBody>
      </p:sp>
      <p:sp>
        <p:nvSpPr>
          <p:cNvPr id="2" name="Rectangle 1">
            <a:extLst>
              <a:ext uri="{FF2B5EF4-FFF2-40B4-BE49-F238E27FC236}">
                <a16:creationId xmlns:a16="http://schemas.microsoft.com/office/drawing/2014/main" id="{B0EC1222-F2DF-4055-ADA5-21132A67D34E}"/>
              </a:ext>
            </a:extLst>
          </p:cNvPr>
          <p:cNvSpPr>
            <a:spLocks noChangeArrowheads="1"/>
          </p:cNvSpPr>
          <p:nvPr/>
        </p:nvSpPr>
        <p:spPr bwMode="auto">
          <a:xfrm>
            <a:off x="2075379" y="2207384"/>
            <a:ext cx="3289683"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rPr>
              <a:t>Output: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rPr>
              <a:t>Student@1fee6fc </a:t>
            </a:r>
            <a:endParaRPr lang="en-US" altLang="en-US" sz="2800" dirty="0">
              <a:solidFill>
                <a:srgbClr val="000000"/>
              </a:solidFill>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rPr>
              <a:t>Student@1eed786</a:t>
            </a:r>
            <a:r>
              <a:rPr kumimoji="0" lang="en-US" altLang="en-US" sz="280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C4AD3153-8F2C-430E-B9BF-3AFB9E14B05A}"/>
              </a:ext>
            </a:extLst>
          </p:cNvPr>
          <p:cNvSpPr/>
          <p:nvPr/>
        </p:nvSpPr>
        <p:spPr>
          <a:xfrm>
            <a:off x="609600" y="3861994"/>
            <a:ext cx="11226229" cy="3200876"/>
          </a:xfrm>
          <a:prstGeom prst="rect">
            <a:avLst/>
          </a:prstGeom>
        </p:spPr>
        <p:txBody>
          <a:bodyPr wrap="square">
            <a:spAutoFit/>
          </a:bodyPr>
          <a:lstStyle/>
          <a:p>
            <a:pPr marL="285750" indent="-285750">
              <a:spcBef>
                <a:spcPts val="1200"/>
              </a:spcBef>
              <a:buFont typeface="Arial" panose="020B0604020202020204" pitchFamily="34" charset="0"/>
              <a:buChar char="•"/>
            </a:pPr>
            <a:r>
              <a:rPr lang="en-US" sz="2400" dirty="0">
                <a:solidFill>
                  <a:srgbClr val="000000"/>
                </a:solidFill>
                <a:latin typeface="verdana" panose="020B0604030504040204" pitchFamily="34" charset="0"/>
              </a:rPr>
              <a:t>As you can see in the above example, printing s1 and s2 prints the </a:t>
            </a:r>
            <a:r>
              <a:rPr lang="en-US" sz="2400" b="1" dirty="0" err="1">
                <a:solidFill>
                  <a:srgbClr val="000000"/>
                </a:solidFill>
                <a:latin typeface="verdana" panose="020B0604030504040204" pitchFamily="34" charset="0"/>
              </a:rPr>
              <a:t>hashcode</a:t>
            </a:r>
            <a:r>
              <a:rPr lang="en-US" sz="2400" b="1" dirty="0">
                <a:solidFill>
                  <a:srgbClr val="000000"/>
                </a:solidFill>
                <a:latin typeface="verdana" panose="020B0604030504040204" pitchFamily="34" charset="0"/>
              </a:rPr>
              <a:t> </a:t>
            </a:r>
            <a:r>
              <a:rPr lang="en-US" sz="2400" dirty="0">
                <a:solidFill>
                  <a:srgbClr val="000000"/>
                </a:solidFill>
                <a:latin typeface="verdana" panose="020B0604030504040204" pitchFamily="34" charset="0"/>
              </a:rPr>
              <a:t>values of the objects but I want to print the values of these objects. </a:t>
            </a:r>
          </a:p>
          <a:p>
            <a:pPr marL="285750" indent="-285750">
              <a:spcBef>
                <a:spcPts val="1200"/>
              </a:spcBef>
              <a:buFont typeface="Arial" panose="020B0604020202020204" pitchFamily="34" charset="0"/>
              <a:buChar char="•"/>
            </a:pPr>
            <a:r>
              <a:rPr lang="en-US" sz="2400" dirty="0">
                <a:solidFill>
                  <a:srgbClr val="000000"/>
                </a:solidFill>
                <a:latin typeface="verdana" panose="020B0604030504040204" pitchFamily="34" charset="0"/>
              </a:rPr>
              <a:t>Since java compiler internally calls </a:t>
            </a:r>
            <a:r>
              <a:rPr lang="en-US" sz="2400" b="1" dirty="0" err="1">
                <a:solidFill>
                  <a:srgbClr val="000000"/>
                </a:solidFill>
                <a:latin typeface="verdana" panose="020B0604030504040204" pitchFamily="34" charset="0"/>
              </a:rPr>
              <a:t>toString</a:t>
            </a:r>
            <a:r>
              <a:rPr lang="en-US" sz="2400" b="1" dirty="0">
                <a:solidFill>
                  <a:srgbClr val="000000"/>
                </a:solidFill>
                <a:latin typeface="verdana" panose="020B0604030504040204" pitchFamily="34" charset="0"/>
              </a:rPr>
              <a:t>() method, </a:t>
            </a:r>
            <a:r>
              <a:rPr lang="en-US" sz="2400" dirty="0">
                <a:solidFill>
                  <a:srgbClr val="000000"/>
                </a:solidFill>
                <a:latin typeface="verdana" panose="020B0604030504040204" pitchFamily="34" charset="0"/>
              </a:rPr>
              <a:t>overriding this method will return the specified values. </a:t>
            </a:r>
          </a:p>
          <a:p>
            <a:pPr marL="285750" indent="-285750">
              <a:spcBef>
                <a:spcPts val="1200"/>
              </a:spcBef>
              <a:buFont typeface="Arial" panose="020B0604020202020204" pitchFamily="34" charset="0"/>
              <a:buChar char="•"/>
            </a:pPr>
            <a:r>
              <a:rPr lang="en-US" sz="2400" dirty="0">
                <a:solidFill>
                  <a:srgbClr val="000000"/>
                </a:solidFill>
                <a:latin typeface="verdana" panose="020B0604030504040204" pitchFamily="34" charset="0"/>
              </a:rPr>
              <a:t>Let's understand it with the </a:t>
            </a:r>
            <a:r>
              <a:rPr lang="en-US" sz="2400" dirty="0">
                <a:highlight>
                  <a:srgbClr val="FFFF00"/>
                </a:highlight>
              </a:rPr>
              <a:t>EXAMPLE 7</a:t>
            </a:r>
          </a:p>
          <a:p>
            <a:pPr marL="285750" indent="-285750">
              <a:spcBef>
                <a:spcPts val="1200"/>
              </a:spcBef>
              <a:buFont typeface="Arial" panose="020B0604020202020204" pitchFamily="34" charset="0"/>
              <a:buChar char="•"/>
            </a:pPr>
            <a:endParaRPr lang="en-US" sz="2400" dirty="0"/>
          </a:p>
        </p:txBody>
      </p:sp>
    </p:spTree>
    <p:extLst>
      <p:ext uri="{BB962C8B-B14F-4D97-AF65-F5344CB8AC3E}">
        <p14:creationId xmlns:p14="http://schemas.microsoft.com/office/powerpoint/2010/main" val="27092973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EAA82BC-8B39-48EA-9BDE-BABC0590F9B6}"/>
              </a:ext>
            </a:extLst>
          </p:cNvPr>
          <p:cNvSpPr>
            <a:spLocks noGrp="1"/>
          </p:cNvSpPr>
          <p:nvPr>
            <p:ph idx="1"/>
          </p:nvPr>
        </p:nvSpPr>
        <p:spPr>
          <a:xfrm>
            <a:off x="609600" y="850900"/>
            <a:ext cx="11413524" cy="4525962"/>
          </a:xfrm>
        </p:spPr>
        <p:txBody>
          <a:bodyPr/>
          <a:lstStyle/>
          <a:p>
            <a:pPr>
              <a:spcBef>
                <a:spcPts val="1200"/>
              </a:spcBef>
            </a:pPr>
            <a:r>
              <a:rPr lang="en-US" sz="3600" dirty="0"/>
              <a:t>So, there are many ways to print object</a:t>
            </a:r>
          </a:p>
          <a:p>
            <a:pPr marL="906463" lvl="1" indent="-514350">
              <a:spcBef>
                <a:spcPts val="1200"/>
              </a:spcBef>
              <a:buFont typeface="+mj-lt"/>
              <a:buAutoNum type="arabicPeriod"/>
            </a:pPr>
            <a:r>
              <a:rPr lang="en-US" sz="3200" dirty="0"/>
              <a:t>By explicitly override </a:t>
            </a:r>
            <a:r>
              <a:rPr lang="en-US" sz="3200" b="1" dirty="0" err="1"/>
              <a:t>toString</a:t>
            </a:r>
            <a:r>
              <a:rPr lang="en-US" sz="3200" b="1" dirty="0"/>
              <a:t>() </a:t>
            </a:r>
            <a:r>
              <a:rPr lang="en-US" sz="3200" dirty="0"/>
              <a:t>method in class Object</a:t>
            </a:r>
          </a:p>
          <a:p>
            <a:pPr marL="906463" lvl="1" indent="-514350">
              <a:spcBef>
                <a:spcPts val="1200"/>
              </a:spcBef>
              <a:buFont typeface="+mj-lt"/>
              <a:buAutoNum type="arabicPeriod"/>
            </a:pPr>
            <a:r>
              <a:rPr lang="en-US" sz="3200" dirty="0"/>
              <a:t>By using </a:t>
            </a:r>
            <a:r>
              <a:rPr lang="en-US" sz="3200" b="1" dirty="0" err="1"/>
              <a:t>System.out.printf</a:t>
            </a:r>
            <a:r>
              <a:rPr lang="en-US" sz="3200" b="1" dirty="0"/>
              <a:t>() </a:t>
            </a:r>
            <a:r>
              <a:rPr lang="en-US" sz="3200" dirty="0"/>
              <a:t>and  specify the format that object should be printed.</a:t>
            </a:r>
          </a:p>
          <a:p>
            <a:pPr marL="906463" lvl="1" indent="-514350">
              <a:spcBef>
                <a:spcPts val="1200"/>
              </a:spcBef>
              <a:buFont typeface="+mj-lt"/>
              <a:buAutoNum type="arabicPeriod"/>
            </a:pPr>
            <a:r>
              <a:rPr lang="en-US" sz="3200" dirty="0"/>
              <a:t>By using the </a:t>
            </a:r>
            <a:r>
              <a:rPr lang="en-US" sz="3200" b="1" dirty="0" err="1"/>
              <a:t>fommatter</a:t>
            </a:r>
            <a:r>
              <a:rPr lang="en-US" sz="3200" dirty="0"/>
              <a:t> class which function in similar way as</a:t>
            </a:r>
            <a:r>
              <a:rPr lang="en-US" sz="3200" b="1" dirty="0"/>
              <a:t> </a:t>
            </a:r>
            <a:r>
              <a:rPr lang="en-US" sz="3200" b="1" dirty="0" err="1"/>
              <a:t>System.out.printf</a:t>
            </a:r>
            <a:r>
              <a:rPr lang="en-US" sz="3200" b="1" dirty="0"/>
              <a:t>()</a:t>
            </a:r>
            <a:endParaRPr lang="en-US" sz="3200" dirty="0"/>
          </a:p>
          <a:p>
            <a:pPr lvl="1">
              <a:spcBef>
                <a:spcPts val="1200"/>
              </a:spcBef>
            </a:pPr>
            <a:endParaRPr lang="en-US" sz="3200" dirty="0"/>
          </a:p>
          <a:p>
            <a:pPr lvl="1"/>
            <a:endParaRPr lang="en-US" dirty="0"/>
          </a:p>
        </p:txBody>
      </p:sp>
      <p:sp>
        <p:nvSpPr>
          <p:cNvPr id="3" name="Title 2">
            <a:extLst>
              <a:ext uri="{FF2B5EF4-FFF2-40B4-BE49-F238E27FC236}">
                <a16:creationId xmlns:a16="http://schemas.microsoft.com/office/drawing/2014/main" id="{909E0677-6548-40D9-966A-6FEAE5D19C62}"/>
              </a:ext>
            </a:extLst>
          </p:cNvPr>
          <p:cNvSpPr>
            <a:spLocks noGrp="1"/>
          </p:cNvSpPr>
          <p:nvPr>
            <p:ph type="title"/>
          </p:nvPr>
        </p:nvSpPr>
        <p:spPr>
          <a:xfrm>
            <a:off x="609600" y="274638"/>
            <a:ext cx="11582400" cy="576262"/>
          </a:xfrm>
        </p:spPr>
        <p:txBody>
          <a:bodyPr>
            <a:normAutofit fontScale="90000"/>
          </a:bodyPr>
          <a:lstStyle/>
          <a:p>
            <a:r>
              <a:rPr lang="en-US" b="0" dirty="0">
                <a:effectLst/>
              </a:rPr>
              <a:t>Understanding problem without </a:t>
            </a:r>
            <a:r>
              <a:rPr lang="en-US" dirty="0" err="1">
                <a:effectLst/>
              </a:rPr>
              <a:t>toString</a:t>
            </a:r>
            <a:r>
              <a:rPr lang="en-US" dirty="0">
                <a:effectLst/>
              </a:rPr>
              <a:t>() </a:t>
            </a:r>
            <a:r>
              <a:rPr lang="en-US" b="0" dirty="0">
                <a:effectLst/>
              </a:rPr>
              <a:t>method</a:t>
            </a:r>
            <a:br>
              <a:rPr lang="en-US" dirty="0">
                <a:effectLst/>
              </a:rPr>
            </a:br>
            <a:endParaRPr lang="en-US" dirty="0"/>
          </a:p>
        </p:txBody>
      </p:sp>
    </p:spTree>
    <p:extLst>
      <p:ext uri="{BB962C8B-B14F-4D97-AF65-F5344CB8AC3E}">
        <p14:creationId xmlns:p14="http://schemas.microsoft.com/office/powerpoint/2010/main" val="4282898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jhtp_09_OOPInheritance_Page_21">
            <a:extLst>
              <a:ext uri="{FF2B5EF4-FFF2-40B4-BE49-F238E27FC236}">
                <a16:creationId xmlns:a16="http://schemas.microsoft.com/office/drawing/2014/main" id="{A933D8D2-366C-4A62-961F-512C2C787A5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09600" y="0"/>
            <a:ext cx="11349519" cy="6585735"/>
          </a:xfrm>
          <a:prstGeom prst="rect">
            <a:avLst/>
          </a:prstGeom>
        </p:spPr>
      </p:pic>
      <p:sp>
        <p:nvSpPr>
          <p:cNvPr id="2" name="Footer Placeholder 1">
            <a:extLst>
              <a:ext uri="{FF2B5EF4-FFF2-40B4-BE49-F238E27FC236}">
                <a16:creationId xmlns:a16="http://schemas.microsoft.com/office/drawing/2014/main" id="{31685A70-1521-4C32-8656-F12EE579B8B9}"/>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0225223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22">
            <a:extLst>
              <a:ext uri="{FF2B5EF4-FFF2-40B4-BE49-F238E27FC236}">
                <a16:creationId xmlns:a16="http://schemas.microsoft.com/office/drawing/2014/main" id="{B65EFFC6-75C5-4D41-AD1D-B3BE6598ECAD}"/>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47700" y="11017"/>
            <a:ext cx="10896600" cy="6858000"/>
          </a:xfrm>
          <a:prstGeom prst="rect">
            <a:avLst/>
          </a:prstGeom>
        </p:spPr>
      </p:pic>
      <p:sp>
        <p:nvSpPr>
          <p:cNvPr id="2" name="Footer Placeholder 1">
            <a:extLst>
              <a:ext uri="{FF2B5EF4-FFF2-40B4-BE49-F238E27FC236}">
                <a16:creationId xmlns:a16="http://schemas.microsoft.com/office/drawing/2014/main" id="{36A98BA1-8D47-46C5-B6B4-269B906DAC4F}"/>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6735962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23">
            <a:extLst>
              <a:ext uri="{FF2B5EF4-FFF2-40B4-BE49-F238E27FC236}">
                <a16:creationId xmlns:a16="http://schemas.microsoft.com/office/drawing/2014/main" id="{55E52127-8692-46E1-ACFA-DB8A902F6269}"/>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212850" y="0"/>
            <a:ext cx="9766300" cy="6858000"/>
          </a:xfrm>
          <a:prstGeom prst="rect">
            <a:avLst/>
          </a:prstGeom>
        </p:spPr>
      </p:pic>
      <p:sp>
        <p:nvSpPr>
          <p:cNvPr id="2" name="Footer Placeholder 1">
            <a:extLst>
              <a:ext uri="{FF2B5EF4-FFF2-40B4-BE49-F238E27FC236}">
                <a16:creationId xmlns:a16="http://schemas.microsoft.com/office/drawing/2014/main" id="{4454BA0C-592A-403E-B043-E8A1EEF34375}"/>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9505903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C8758-44FA-4D44-B0DE-A3DC50A433CB}"/>
              </a:ext>
            </a:extLst>
          </p:cNvPr>
          <p:cNvSpPr>
            <a:spLocks noGrp="1"/>
          </p:cNvSpPr>
          <p:nvPr>
            <p:ph type="title"/>
          </p:nvPr>
        </p:nvSpPr>
        <p:spPr/>
        <p:txBody>
          <a:bodyPr>
            <a:normAutofit/>
          </a:bodyPr>
          <a:lstStyle/>
          <a:p>
            <a:pPr algn="ctr"/>
            <a:r>
              <a:rPr lang="en-US" dirty="0">
                <a:highlight>
                  <a:srgbClr val="00FF00"/>
                </a:highlight>
              </a:rPr>
              <a:t>ACTIVITY</a:t>
            </a:r>
          </a:p>
        </p:txBody>
      </p:sp>
      <p:sp>
        <p:nvSpPr>
          <p:cNvPr id="3" name="Text Placeholder 2">
            <a:extLst>
              <a:ext uri="{FF2B5EF4-FFF2-40B4-BE49-F238E27FC236}">
                <a16:creationId xmlns:a16="http://schemas.microsoft.com/office/drawing/2014/main" id="{84EA6A86-584A-4E4D-8595-B7C9C1A0D995}"/>
              </a:ext>
            </a:extLst>
          </p:cNvPr>
          <p:cNvSpPr>
            <a:spLocks noGrp="1"/>
          </p:cNvSpPr>
          <p:nvPr>
            <p:ph type="body" idx="1"/>
          </p:nvPr>
        </p:nvSpPr>
        <p:spPr>
          <a:xfrm>
            <a:off x="609600" y="1166019"/>
            <a:ext cx="10972800" cy="4525962"/>
          </a:xfrm>
        </p:spPr>
        <p:txBody>
          <a:bodyPr/>
          <a:lstStyle/>
          <a:p>
            <a:r>
              <a:rPr lang="en-US" sz="3200" dirty="0"/>
              <a:t>Remove </a:t>
            </a:r>
            <a:r>
              <a:rPr lang="en-US" sz="3200" b="1" i="1" dirty="0">
                <a:highlight>
                  <a:srgbClr val="00FFFF"/>
                </a:highlight>
              </a:rPr>
              <a:t>extends Object </a:t>
            </a:r>
            <a:r>
              <a:rPr lang="en-US" sz="3200" dirty="0"/>
              <a:t> in class </a:t>
            </a:r>
            <a:r>
              <a:rPr lang="en-US" sz="3200" dirty="0" err="1"/>
              <a:t>CommissionEmployee</a:t>
            </a:r>
            <a:r>
              <a:rPr lang="en-US" sz="3200" dirty="0"/>
              <a:t>.</a:t>
            </a:r>
          </a:p>
          <a:p>
            <a:r>
              <a:rPr lang="en-US" sz="3200" dirty="0"/>
              <a:t>i.e. change the class from:</a:t>
            </a:r>
          </a:p>
          <a:p>
            <a:pPr lvl="1"/>
            <a:r>
              <a:rPr lang="en-US" sz="2800" dirty="0"/>
              <a:t>public class </a:t>
            </a:r>
            <a:r>
              <a:rPr lang="en-US" sz="2800" dirty="0" err="1"/>
              <a:t>CommissionEmployee</a:t>
            </a:r>
            <a:r>
              <a:rPr lang="en-US" sz="2800" dirty="0"/>
              <a:t> extends Object </a:t>
            </a:r>
          </a:p>
          <a:p>
            <a:endParaRPr lang="en-US" sz="3200" dirty="0"/>
          </a:p>
          <a:p>
            <a:r>
              <a:rPr lang="en-US" sz="3200" dirty="0"/>
              <a:t>TO:</a:t>
            </a:r>
          </a:p>
          <a:p>
            <a:endParaRPr lang="en-US" sz="3200" dirty="0"/>
          </a:p>
          <a:p>
            <a:pPr lvl="1"/>
            <a:r>
              <a:rPr lang="en-US" sz="2800" dirty="0"/>
              <a:t>public class </a:t>
            </a:r>
            <a:r>
              <a:rPr lang="en-US" sz="2800" b="1" dirty="0" err="1"/>
              <a:t>CommissionEmployee</a:t>
            </a:r>
            <a:endParaRPr lang="en-US" sz="2800" b="1" dirty="0"/>
          </a:p>
          <a:p>
            <a:endParaRPr lang="en-US" sz="3200" dirty="0"/>
          </a:p>
          <a:p>
            <a:r>
              <a:rPr lang="en-US" sz="3200" dirty="0"/>
              <a:t>Compile the same classes above and verify that you got same results.</a:t>
            </a:r>
          </a:p>
        </p:txBody>
      </p:sp>
    </p:spTree>
    <p:extLst>
      <p:ext uri="{BB962C8B-B14F-4D97-AF65-F5344CB8AC3E}">
        <p14:creationId xmlns:p14="http://schemas.microsoft.com/office/powerpoint/2010/main" val="2315589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AAC3F1B-F740-4B37-B827-FC46568B6E56}"/>
              </a:ext>
            </a:extLst>
          </p:cNvPr>
          <p:cNvSpPr>
            <a:spLocks noGrp="1"/>
          </p:cNvSpPr>
          <p:nvPr>
            <p:ph idx="1"/>
          </p:nvPr>
        </p:nvSpPr>
        <p:spPr>
          <a:xfrm>
            <a:off x="247650" y="584200"/>
            <a:ext cx="11944350" cy="5887852"/>
          </a:xfrm>
        </p:spPr>
        <p:txBody>
          <a:bodyPr/>
          <a:lstStyle/>
          <a:p>
            <a:pPr>
              <a:spcBef>
                <a:spcPts val="600"/>
              </a:spcBef>
            </a:pPr>
            <a:r>
              <a:rPr lang="en-US" sz="1800" b="1" dirty="0">
                <a:highlight>
                  <a:srgbClr val="FFFF00"/>
                </a:highlight>
              </a:rPr>
              <a:t>IMPROVE YOUR CHAPTER 7 CLASS ACTIVITIES BASED ON YOUR NEW KNOWLEDGE OF </a:t>
            </a:r>
            <a:r>
              <a:rPr lang="en-US" sz="2400" b="1" dirty="0" err="1">
                <a:highlight>
                  <a:srgbClr val="FF00FF"/>
                </a:highlight>
              </a:rPr>
              <a:t>toString</a:t>
            </a:r>
            <a:r>
              <a:rPr lang="en-US" sz="1800" b="1" dirty="0">
                <a:highlight>
                  <a:srgbClr val="FFFF00"/>
                </a:highlight>
              </a:rPr>
              <a:t> Method</a:t>
            </a:r>
          </a:p>
          <a:p>
            <a:pPr>
              <a:spcBef>
                <a:spcPts val="600"/>
              </a:spcBef>
            </a:pPr>
            <a:r>
              <a:rPr lang="en-US" sz="1800" dirty="0"/>
              <a:t>Improve the program above by adding three more variables in Account.java class (in addition to </a:t>
            </a:r>
            <a:r>
              <a:rPr lang="en-US" sz="1800" b="1" i="1" dirty="0"/>
              <a:t>“Name” </a:t>
            </a:r>
            <a:r>
              <a:rPr lang="en-US" sz="1800" dirty="0"/>
              <a:t>that you already have) e.g.:</a:t>
            </a:r>
          </a:p>
          <a:p>
            <a:pPr lvl="1">
              <a:spcBef>
                <a:spcPts val="600"/>
              </a:spcBef>
            </a:pPr>
            <a:r>
              <a:rPr lang="en-US" sz="1600" dirty="0"/>
              <a:t>SSN</a:t>
            </a:r>
          </a:p>
          <a:p>
            <a:pPr lvl="1">
              <a:spcBef>
                <a:spcPts val="600"/>
              </a:spcBef>
            </a:pPr>
            <a:r>
              <a:rPr lang="en-US" sz="1600" dirty="0"/>
              <a:t> Address</a:t>
            </a:r>
          </a:p>
          <a:p>
            <a:pPr lvl="1">
              <a:spcBef>
                <a:spcPts val="600"/>
              </a:spcBef>
            </a:pPr>
            <a:r>
              <a:rPr lang="en-US" sz="1600" dirty="0"/>
              <a:t>Account balance</a:t>
            </a:r>
          </a:p>
          <a:p>
            <a:pPr lvl="2">
              <a:spcBef>
                <a:spcPts val="600"/>
              </a:spcBef>
            </a:pPr>
            <a:r>
              <a:rPr lang="en-US" sz="1600" dirty="0"/>
              <a:t>Ensure you declare them with necessary variable type and use Set and Get methods as appropriate.</a:t>
            </a:r>
          </a:p>
          <a:p>
            <a:pPr lvl="2">
              <a:spcBef>
                <a:spcPts val="600"/>
              </a:spcBef>
            </a:pPr>
            <a:r>
              <a:rPr lang="en-US" sz="1600" dirty="0"/>
              <a:t>Declare constructors to take care of the new variables.</a:t>
            </a:r>
          </a:p>
          <a:p>
            <a:pPr>
              <a:spcBef>
                <a:spcPts val="600"/>
              </a:spcBef>
            </a:pPr>
            <a:r>
              <a:rPr lang="en-US" sz="1800" dirty="0"/>
              <a:t>In the </a:t>
            </a:r>
            <a:r>
              <a:rPr lang="en-US" sz="1800" b="1" i="1" dirty="0"/>
              <a:t>AccountTest</a:t>
            </a:r>
            <a:r>
              <a:rPr lang="en-US" sz="1800" dirty="0"/>
              <a:t>.java class create objects of the new </a:t>
            </a:r>
            <a:r>
              <a:rPr lang="en-US" sz="1800" b="1" i="1" dirty="0"/>
              <a:t>Account</a:t>
            </a:r>
            <a:r>
              <a:rPr lang="en-US" sz="1800" dirty="0"/>
              <a:t>.java that would include all the additional variables that you have just created.</a:t>
            </a:r>
          </a:p>
          <a:p>
            <a:pPr>
              <a:spcBef>
                <a:spcPts val="600"/>
              </a:spcBef>
            </a:pPr>
            <a:r>
              <a:rPr lang="en-US" sz="1800" dirty="0"/>
              <a:t>Create account objects for at least 4 members of your family in </a:t>
            </a:r>
            <a:r>
              <a:rPr lang="en-US" sz="1800" b="1" i="1" dirty="0"/>
              <a:t>AccountTest</a:t>
            </a:r>
            <a:r>
              <a:rPr lang="en-US" sz="1800" dirty="0"/>
              <a:t>.java class.</a:t>
            </a:r>
          </a:p>
          <a:p>
            <a:pPr marL="109537" indent="0">
              <a:spcBef>
                <a:spcPts val="600"/>
              </a:spcBef>
              <a:buNone/>
            </a:pPr>
            <a:r>
              <a:rPr lang="en-US" sz="1800" dirty="0"/>
              <a:t>				</a:t>
            </a:r>
            <a:r>
              <a:rPr lang="en-US" sz="2400" b="1" dirty="0">
                <a:highlight>
                  <a:srgbClr val="00FFFF"/>
                </a:highlight>
              </a:rPr>
              <a:t>NEW TASKS</a:t>
            </a:r>
          </a:p>
          <a:p>
            <a:pPr>
              <a:spcBef>
                <a:spcPts val="600"/>
              </a:spcBef>
            </a:pPr>
            <a:r>
              <a:rPr lang="en-US" sz="1800" b="1" dirty="0">
                <a:highlight>
                  <a:srgbClr val="FF00FF"/>
                </a:highlight>
              </a:rPr>
              <a:t>Step 1:</a:t>
            </a:r>
            <a:r>
              <a:rPr lang="en-US" sz="1800" dirty="0"/>
              <a:t> Try to print out each object using </a:t>
            </a:r>
            <a:r>
              <a:rPr lang="en-US" sz="1800" dirty="0" err="1"/>
              <a:t>System.out.println</a:t>
            </a:r>
            <a:r>
              <a:rPr lang="en-US" sz="1800" dirty="0"/>
              <a:t>(account1), and the separate statements to print the rest of the objects i.e. account 2, account3, etc.. </a:t>
            </a:r>
          </a:p>
          <a:p>
            <a:pPr>
              <a:spcBef>
                <a:spcPts val="600"/>
              </a:spcBef>
            </a:pPr>
            <a:r>
              <a:rPr lang="en-US" sz="1800" dirty="0">
                <a:highlight>
                  <a:srgbClr val="FF00FF"/>
                </a:highlight>
              </a:rPr>
              <a:t>Step 2:</a:t>
            </a:r>
            <a:r>
              <a:rPr lang="en-US" sz="1800" dirty="0"/>
              <a:t>  Copy the same codes and create another class </a:t>
            </a:r>
          </a:p>
          <a:p>
            <a:pPr lvl="1">
              <a:spcBef>
                <a:spcPts val="600"/>
              </a:spcBef>
            </a:pPr>
            <a:r>
              <a:rPr lang="en-US" sz="1400" dirty="0"/>
              <a:t>Now, try to override the </a:t>
            </a:r>
            <a:r>
              <a:rPr lang="en-US" sz="1400" b="1" dirty="0" err="1">
                <a:highlight>
                  <a:srgbClr val="00FFFF"/>
                </a:highlight>
              </a:rPr>
              <a:t>toString</a:t>
            </a:r>
            <a:r>
              <a:rPr lang="en-US" sz="1400" dirty="0"/>
              <a:t> Method as shown </a:t>
            </a:r>
            <a:r>
              <a:rPr lang="en-US" sz="1400" dirty="0">
                <a:highlight>
                  <a:srgbClr val="00FFFF"/>
                </a:highlight>
              </a:rPr>
              <a:t>in example 6</a:t>
            </a:r>
            <a:r>
              <a:rPr lang="en-US" sz="1400" dirty="0"/>
              <a:t> in the MS Word document and then print out the object again using </a:t>
            </a:r>
            <a:r>
              <a:rPr lang="en-US" sz="1400" dirty="0" err="1"/>
              <a:t>System.out.println</a:t>
            </a:r>
            <a:r>
              <a:rPr lang="en-US" sz="1400" dirty="0"/>
              <a:t>(account1), and the separate statements to print the rest of the objects account 2, account2, etc.. </a:t>
            </a:r>
          </a:p>
          <a:p>
            <a:pPr marL="392113" lvl="1" indent="0">
              <a:spcBef>
                <a:spcPts val="600"/>
              </a:spcBef>
              <a:buNone/>
            </a:pPr>
            <a:r>
              <a:rPr lang="en-US" sz="1400" dirty="0"/>
              <a:t> </a:t>
            </a:r>
          </a:p>
          <a:p>
            <a:pPr lvl="2"/>
            <a:endParaRPr lang="en-US" sz="2400" dirty="0"/>
          </a:p>
        </p:txBody>
      </p:sp>
      <p:sp>
        <p:nvSpPr>
          <p:cNvPr id="3" name="Title 2">
            <a:extLst>
              <a:ext uri="{FF2B5EF4-FFF2-40B4-BE49-F238E27FC236}">
                <a16:creationId xmlns:a16="http://schemas.microsoft.com/office/drawing/2014/main" id="{DED2B13A-2C24-4846-8B3F-44031514C3A3}"/>
              </a:ext>
            </a:extLst>
          </p:cNvPr>
          <p:cNvSpPr>
            <a:spLocks noGrp="1"/>
          </p:cNvSpPr>
          <p:nvPr>
            <p:ph type="title"/>
          </p:nvPr>
        </p:nvSpPr>
        <p:spPr>
          <a:xfrm>
            <a:off x="1981200" y="0"/>
            <a:ext cx="8229600" cy="584200"/>
          </a:xfrm>
        </p:spPr>
        <p:txBody>
          <a:bodyPr>
            <a:normAutofit fontScale="90000"/>
          </a:bodyPr>
          <a:lstStyle/>
          <a:p>
            <a:pPr algn="ctr"/>
            <a:r>
              <a:rPr lang="en-US" dirty="0">
                <a:highlight>
                  <a:srgbClr val="00FF00"/>
                </a:highlight>
              </a:rPr>
              <a:t>Class Activities</a:t>
            </a:r>
          </a:p>
        </p:txBody>
      </p:sp>
    </p:spTree>
    <p:extLst>
      <p:ext uri="{BB962C8B-B14F-4D97-AF65-F5344CB8AC3E}">
        <p14:creationId xmlns:p14="http://schemas.microsoft.com/office/powerpoint/2010/main" val="36394421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DC5D2-F86E-484F-89D0-574FEBB2CF07}"/>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9.4.2 </a:t>
            </a:r>
            <a:r>
              <a:rPr lang="en-US" dirty="0">
                <a:solidFill>
                  <a:srgbClr val="33B38C"/>
                </a:solidFill>
                <a:latin typeface="Calibri" panose="020F0502020204030204" pitchFamily="34" charset="0"/>
              </a:rPr>
              <a:t>Creating and Using a </a:t>
            </a:r>
            <a:r>
              <a:rPr lang="en-US" dirty="0" err="1">
                <a:solidFill>
                  <a:srgbClr val="33B38C"/>
                </a:solidFill>
                <a:latin typeface="Consolas" panose="020B0609020204030204" pitchFamily="49" charset="0"/>
              </a:rPr>
              <a:t>BasePlus-CommissionEmployee</a:t>
            </a:r>
            <a:r>
              <a:rPr lang="en-US" dirty="0">
                <a:solidFill>
                  <a:srgbClr val="33B38C"/>
                </a:solidFill>
                <a:latin typeface="Calibri" panose="020F0502020204030204" pitchFamily="34" charset="0"/>
              </a:rPr>
              <a:t> Class</a:t>
            </a:r>
          </a:p>
        </p:txBody>
      </p:sp>
      <p:sp>
        <p:nvSpPr>
          <p:cNvPr id="44035" name="Text Placeholder 2">
            <a:extLst>
              <a:ext uri="{FF2B5EF4-FFF2-40B4-BE49-F238E27FC236}">
                <a16:creationId xmlns:a16="http://schemas.microsoft.com/office/drawing/2014/main" id="{597D08C3-C05E-462D-A9B9-89A0ED711A12}"/>
              </a:ext>
            </a:extLst>
          </p:cNvPr>
          <p:cNvSpPr>
            <a:spLocks noGrp="1"/>
          </p:cNvSpPr>
          <p:nvPr>
            <p:ph type="body" idx="1"/>
          </p:nvPr>
        </p:nvSpPr>
        <p:spPr/>
        <p:txBody>
          <a:bodyPr/>
          <a:lstStyle/>
          <a:p>
            <a:pPr eaLnBrk="1" hangingPunct="1"/>
            <a:r>
              <a:rPr lang="en-US" altLang="en-US" dirty="0">
                <a:solidFill>
                  <a:srgbClr val="000000"/>
                </a:solidFill>
              </a:rPr>
              <a:t>Class </a:t>
            </a:r>
            <a:r>
              <a:rPr lang="en-US" altLang="en-US" dirty="0" err="1">
                <a:solidFill>
                  <a:srgbClr val="000000"/>
                </a:solidFill>
                <a:latin typeface="Consolas" panose="020B0609020204030204" pitchFamily="49" charset="0"/>
              </a:rPr>
              <a:t>BasePlusCommissionEmployee</a:t>
            </a:r>
            <a:r>
              <a:rPr lang="en-US" altLang="en-US" dirty="0">
                <a:solidFill>
                  <a:srgbClr val="000000"/>
                </a:solidFill>
              </a:rPr>
              <a:t> (Fig. 9.6) contains a first name, last name, social security number, gross sales amount, commission rate </a:t>
            </a:r>
            <a:r>
              <a:rPr lang="en-US" altLang="en-US" i="1" dirty="0">
                <a:solidFill>
                  <a:srgbClr val="000000"/>
                </a:solidFill>
              </a:rPr>
              <a:t>and</a:t>
            </a:r>
            <a:r>
              <a:rPr lang="en-US" altLang="en-US" dirty="0">
                <a:solidFill>
                  <a:srgbClr val="000000"/>
                </a:solidFill>
              </a:rPr>
              <a:t> base salary. </a:t>
            </a:r>
          </a:p>
          <a:p>
            <a:pPr lvl="1" eaLnBrk="1" hangingPunct="1"/>
            <a:r>
              <a:rPr lang="en-US" altLang="en-US" dirty="0">
                <a:solidFill>
                  <a:srgbClr val="000000"/>
                </a:solidFill>
              </a:rPr>
              <a:t>All but the base salary are in common with class </a:t>
            </a:r>
            <a:r>
              <a:rPr lang="en-US" altLang="en-US" dirty="0" err="1">
                <a:solidFill>
                  <a:srgbClr val="000000"/>
                </a:solidFill>
                <a:latin typeface="Consolas" panose="020B0609020204030204" pitchFamily="49" charset="0"/>
              </a:rPr>
              <a:t>CommissionEmployee</a:t>
            </a:r>
            <a:r>
              <a:rPr lang="en-US" altLang="en-US" dirty="0">
                <a:solidFill>
                  <a:srgbClr val="000000"/>
                </a:solidFill>
              </a:rPr>
              <a:t>.</a:t>
            </a:r>
          </a:p>
          <a:p>
            <a:pPr eaLnBrk="1" hangingPunct="1"/>
            <a:r>
              <a:rPr lang="en-US" altLang="en-US" dirty="0">
                <a:solidFill>
                  <a:srgbClr val="000000"/>
                </a:solidFill>
              </a:rPr>
              <a:t>Class </a:t>
            </a:r>
            <a:r>
              <a:rPr lang="en-US" altLang="en-US" dirty="0" err="1">
                <a:solidFill>
                  <a:srgbClr val="000000"/>
                </a:solidFill>
                <a:latin typeface="Consolas" panose="020B0609020204030204" pitchFamily="49" charset="0"/>
              </a:rPr>
              <a:t>BasePlusCommissionEmployee</a:t>
            </a:r>
            <a:r>
              <a:rPr lang="en-US" altLang="en-US" dirty="0" err="1">
                <a:solidFill>
                  <a:srgbClr val="000000"/>
                </a:solidFill>
              </a:rPr>
              <a:t>’s</a:t>
            </a:r>
            <a:r>
              <a:rPr lang="en-US" altLang="en-US" dirty="0">
                <a:solidFill>
                  <a:srgbClr val="000000"/>
                </a:solidFill>
              </a:rPr>
              <a:t> </a:t>
            </a:r>
            <a:r>
              <a:rPr lang="en-US" altLang="en-US" dirty="0">
                <a:solidFill>
                  <a:srgbClr val="000000"/>
                </a:solidFill>
                <a:latin typeface="Consolas" panose="020B0609020204030204" pitchFamily="49" charset="0"/>
              </a:rPr>
              <a:t>public</a:t>
            </a:r>
            <a:r>
              <a:rPr lang="en-US" altLang="en-US" dirty="0">
                <a:solidFill>
                  <a:srgbClr val="000000"/>
                </a:solidFill>
              </a:rPr>
              <a:t> services include a constructor, and methods </a:t>
            </a:r>
            <a:r>
              <a:rPr lang="en-US" altLang="en-US" dirty="0">
                <a:solidFill>
                  <a:srgbClr val="000000"/>
                </a:solidFill>
                <a:latin typeface="Consolas" panose="020B0609020204030204" pitchFamily="49" charset="0"/>
              </a:rPr>
              <a:t>earnings</a:t>
            </a:r>
            <a:r>
              <a:rPr lang="en-US" altLang="en-US" dirty="0">
                <a:solidFill>
                  <a:srgbClr val="000000"/>
                </a:solidFill>
              </a:rPr>
              <a:t>, </a:t>
            </a:r>
            <a:r>
              <a:rPr lang="en-US" altLang="en-US" dirty="0" err="1">
                <a:solidFill>
                  <a:srgbClr val="000000"/>
                </a:solidFill>
                <a:latin typeface="Consolas" panose="020B0609020204030204" pitchFamily="49" charset="0"/>
              </a:rPr>
              <a:t>toString</a:t>
            </a:r>
            <a:r>
              <a:rPr lang="en-US" altLang="en-US" dirty="0">
                <a:solidFill>
                  <a:srgbClr val="000000"/>
                </a:solidFill>
              </a:rPr>
              <a:t> and </a:t>
            </a:r>
            <a:r>
              <a:rPr lang="en-US" altLang="en-US" i="1" dirty="0">
                <a:solidFill>
                  <a:srgbClr val="000000"/>
                </a:solidFill>
              </a:rPr>
              <a:t>get </a:t>
            </a:r>
            <a:r>
              <a:rPr lang="en-US" altLang="en-US" dirty="0">
                <a:solidFill>
                  <a:srgbClr val="000000"/>
                </a:solidFill>
              </a:rPr>
              <a:t>and</a:t>
            </a:r>
            <a:r>
              <a:rPr lang="en-US" altLang="en-US" i="1" dirty="0">
                <a:solidFill>
                  <a:srgbClr val="000000"/>
                </a:solidFill>
              </a:rPr>
              <a:t> set</a:t>
            </a:r>
            <a:r>
              <a:rPr lang="en-US" altLang="en-US" dirty="0">
                <a:solidFill>
                  <a:srgbClr val="000000"/>
                </a:solidFill>
              </a:rPr>
              <a:t> for each instance variable</a:t>
            </a:r>
          </a:p>
          <a:p>
            <a:pPr lvl="1" eaLnBrk="1" hangingPunct="1"/>
            <a:r>
              <a:rPr lang="en-US" altLang="en-US" dirty="0">
                <a:solidFill>
                  <a:srgbClr val="000000"/>
                </a:solidFill>
              </a:rPr>
              <a:t>Most of these are in common with class </a:t>
            </a:r>
            <a:r>
              <a:rPr lang="en-US" altLang="en-US" dirty="0" err="1">
                <a:solidFill>
                  <a:srgbClr val="000000"/>
                </a:solidFill>
                <a:latin typeface="Consolas" panose="020B0609020204030204" pitchFamily="49" charset="0"/>
              </a:rPr>
              <a:t>CommissionEmployee</a:t>
            </a:r>
            <a:r>
              <a:rPr lang="en-US" altLang="en-US" dirty="0">
                <a:solidFill>
                  <a:srgbClr val="000000"/>
                </a:solidFill>
              </a:rPr>
              <a:t>.</a:t>
            </a:r>
          </a:p>
        </p:txBody>
      </p:sp>
      <p:sp>
        <p:nvSpPr>
          <p:cNvPr id="4" name="Footer Placeholder 3">
            <a:extLst>
              <a:ext uri="{FF2B5EF4-FFF2-40B4-BE49-F238E27FC236}">
                <a16:creationId xmlns:a16="http://schemas.microsoft.com/office/drawing/2014/main" id="{AD30BC8F-65EE-46CC-A01E-5016B02D762C}"/>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512872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24">
            <a:extLst>
              <a:ext uri="{FF2B5EF4-FFF2-40B4-BE49-F238E27FC236}">
                <a16:creationId xmlns:a16="http://schemas.microsoft.com/office/drawing/2014/main" id="{D8903B32-1B68-4A2A-90B8-DC9F48C51FE3}"/>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0" y="633413"/>
            <a:ext cx="12192000" cy="5391150"/>
          </a:xfrm>
          <a:prstGeom prst="rect">
            <a:avLst/>
          </a:prstGeom>
        </p:spPr>
      </p:pic>
      <p:sp>
        <p:nvSpPr>
          <p:cNvPr id="2" name="Footer Placeholder 1">
            <a:extLst>
              <a:ext uri="{FF2B5EF4-FFF2-40B4-BE49-F238E27FC236}">
                <a16:creationId xmlns:a16="http://schemas.microsoft.com/office/drawing/2014/main" id="{AF3035AD-0D3D-4D09-8D55-9B25FFACD625}"/>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733548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25">
            <a:extLst>
              <a:ext uri="{FF2B5EF4-FFF2-40B4-BE49-F238E27FC236}">
                <a16:creationId xmlns:a16="http://schemas.microsoft.com/office/drawing/2014/main" id="{22F643D2-B368-4AA0-AA5F-3FDE9DC8F61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74663" y="-84136"/>
            <a:ext cx="11717337" cy="6858000"/>
          </a:xfrm>
          <a:prstGeom prst="rect">
            <a:avLst/>
          </a:prstGeom>
        </p:spPr>
      </p:pic>
      <p:sp>
        <p:nvSpPr>
          <p:cNvPr id="2" name="Footer Placeholder 1">
            <a:extLst>
              <a:ext uri="{FF2B5EF4-FFF2-40B4-BE49-F238E27FC236}">
                <a16:creationId xmlns:a16="http://schemas.microsoft.com/office/drawing/2014/main" id="{B0398CD8-37D2-4F65-989F-0F41877C250F}"/>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4728482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26">
            <a:extLst>
              <a:ext uri="{FF2B5EF4-FFF2-40B4-BE49-F238E27FC236}">
                <a16:creationId xmlns:a16="http://schemas.microsoft.com/office/drawing/2014/main" id="{9512EFF6-591B-47C3-B249-5D4D8F076F9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676275" y="0"/>
            <a:ext cx="10837863" cy="6858000"/>
          </a:xfrm>
          <a:prstGeom prst="rect">
            <a:avLst/>
          </a:prstGeom>
        </p:spPr>
      </p:pic>
      <p:sp>
        <p:nvSpPr>
          <p:cNvPr id="2" name="Footer Placeholder 1">
            <a:extLst>
              <a:ext uri="{FF2B5EF4-FFF2-40B4-BE49-F238E27FC236}">
                <a16:creationId xmlns:a16="http://schemas.microsoft.com/office/drawing/2014/main" id="{1718F81F-7568-48FF-AC44-93D4D7A28B03}"/>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5628290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27">
            <a:extLst>
              <a:ext uri="{FF2B5EF4-FFF2-40B4-BE49-F238E27FC236}">
                <a16:creationId xmlns:a16="http://schemas.microsoft.com/office/drawing/2014/main" id="{BCD76BDF-BB2E-41EF-BA15-48FA2417F7F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50813"/>
            <a:ext cx="12192000" cy="6556375"/>
          </a:xfrm>
          <a:prstGeom prst="rect">
            <a:avLst/>
          </a:prstGeom>
        </p:spPr>
      </p:pic>
      <p:sp>
        <p:nvSpPr>
          <p:cNvPr id="2" name="Footer Placeholder 1">
            <a:extLst>
              <a:ext uri="{FF2B5EF4-FFF2-40B4-BE49-F238E27FC236}">
                <a16:creationId xmlns:a16="http://schemas.microsoft.com/office/drawing/2014/main" id="{D6F72967-D86C-4DE6-A530-4F71AF7D2756}"/>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6329719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28">
            <a:extLst>
              <a:ext uri="{FF2B5EF4-FFF2-40B4-BE49-F238E27FC236}">
                <a16:creationId xmlns:a16="http://schemas.microsoft.com/office/drawing/2014/main" id="{A7C65DCB-5C62-4687-B8F3-E3642C8CAA1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42913"/>
            <a:ext cx="12192000" cy="5970587"/>
          </a:xfrm>
          <a:prstGeom prst="rect">
            <a:avLst/>
          </a:prstGeom>
        </p:spPr>
      </p:pic>
      <p:sp>
        <p:nvSpPr>
          <p:cNvPr id="2" name="Footer Placeholder 1">
            <a:extLst>
              <a:ext uri="{FF2B5EF4-FFF2-40B4-BE49-F238E27FC236}">
                <a16:creationId xmlns:a16="http://schemas.microsoft.com/office/drawing/2014/main" id="{8613E5A2-80B9-4ABC-ACA3-6A1EF23E46B0}"/>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3989084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29">
            <a:extLst>
              <a:ext uri="{FF2B5EF4-FFF2-40B4-BE49-F238E27FC236}">
                <a16:creationId xmlns:a16="http://schemas.microsoft.com/office/drawing/2014/main" id="{7A0FB892-8FD4-4360-94AB-D0210125AB7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587375"/>
            <a:ext cx="12192000" cy="5683250"/>
          </a:xfrm>
          <a:prstGeom prst="rect">
            <a:avLst/>
          </a:prstGeom>
        </p:spPr>
      </p:pic>
      <p:sp>
        <p:nvSpPr>
          <p:cNvPr id="2" name="Footer Placeholder 1">
            <a:extLst>
              <a:ext uri="{FF2B5EF4-FFF2-40B4-BE49-F238E27FC236}">
                <a16:creationId xmlns:a16="http://schemas.microsoft.com/office/drawing/2014/main" id="{6E518207-4EDC-4C6E-8A64-8BFF9349DD25}"/>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7676085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0">
            <a:extLst>
              <a:ext uri="{FF2B5EF4-FFF2-40B4-BE49-F238E27FC236}">
                <a16:creationId xmlns:a16="http://schemas.microsoft.com/office/drawing/2014/main" id="{CA7AF5EF-DA45-4708-A5CD-8A6A928F83E5}"/>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0" y="6350"/>
            <a:ext cx="12192000" cy="6843713"/>
          </a:xfrm>
          <a:prstGeom prst="rect">
            <a:avLst/>
          </a:prstGeom>
        </p:spPr>
      </p:pic>
      <p:sp>
        <p:nvSpPr>
          <p:cNvPr id="2" name="Footer Placeholder 1">
            <a:extLst>
              <a:ext uri="{FF2B5EF4-FFF2-40B4-BE49-F238E27FC236}">
                <a16:creationId xmlns:a16="http://schemas.microsoft.com/office/drawing/2014/main" id="{3267F39D-A38F-45C2-A185-39968B7CBD29}"/>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4274976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807D6-D38A-41CF-A464-09CC1B6610A2}"/>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9.4.2 </a:t>
            </a:r>
            <a:r>
              <a:rPr lang="en-US" dirty="0">
                <a:solidFill>
                  <a:srgbClr val="33B38C"/>
                </a:solidFill>
                <a:latin typeface="Calibri" panose="020F0502020204030204" pitchFamily="34" charset="0"/>
              </a:rPr>
              <a:t>Creating and Using a </a:t>
            </a:r>
            <a:r>
              <a:rPr lang="en-US" dirty="0" err="1">
                <a:solidFill>
                  <a:srgbClr val="33B38C"/>
                </a:solidFill>
                <a:latin typeface="Consolas" panose="020B0609020204030204" pitchFamily="49" charset="0"/>
              </a:rPr>
              <a:t>BasePlus-CommissionEmployee</a:t>
            </a:r>
            <a:r>
              <a:rPr lang="en-US" dirty="0">
                <a:solidFill>
                  <a:srgbClr val="33B38C"/>
                </a:solidFill>
                <a:latin typeface="Calibri" panose="020F0502020204030204" pitchFamily="34" charset="0"/>
              </a:rPr>
              <a:t> Class (Cont.)</a:t>
            </a:r>
          </a:p>
        </p:txBody>
      </p:sp>
      <p:sp>
        <p:nvSpPr>
          <p:cNvPr id="51203" name="Text Placeholder 2">
            <a:extLst>
              <a:ext uri="{FF2B5EF4-FFF2-40B4-BE49-F238E27FC236}">
                <a16:creationId xmlns:a16="http://schemas.microsoft.com/office/drawing/2014/main" id="{8C643C8A-269B-49AA-819D-D4744D0A6381}"/>
              </a:ext>
            </a:extLst>
          </p:cNvPr>
          <p:cNvSpPr>
            <a:spLocks noGrp="1"/>
          </p:cNvSpPr>
          <p:nvPr>
            <p:ph type="body" idx="1"/>
          </p:nvPr>
        </p:nvSpPr>
        <p:spPr/>
        <p:txBody>
          <a:bodyPr/>
          <a:lstStyle/>
          <a:p>
            <a:pPr eaLnBrk="1" hangingPunct="1"/>
            <a:r>
              <a:rPr lang="en-US" altLang="en-US" dirty="0">
                <a:solidFill>
                  <a:srgbClr val="000000"/>
                </a:solidFill>
              </a:rPr>
              <a:t>Class </a:t>
            </a:r>
            <a:r>
              <a:rPr lang="en-US" altLang="en-US" dirty="0" err="1">
                <a:solidFill>
                  <a:srgbClr val="000000"/>
                </a:solidFill>
                <a:latin typeface="Consolas" panose="020B0609020204030204" pitchFamily="49" charset="0"/>
              </a:rPr>
              <a:t>BasePlusCommissionEmployee</a:t>
            </a:r>
            <a:r>
              <a:rPr lang="en-US" altLang="en-US" dirty="0">
                <a:solidFill>
                  <a:srgbClr val="000000"/>
                </a:solidFill>
              </a:rPr>
              <a:t> does </a:t>
            </a:r>
            <a:r>
              <a:rPr lang="en-US" altLang="en-US" i="1" dirty="0">
                <a:solidFill>
                  <a:srgbClr val="000000"/>
                </a:solidFill>
              </a:rPr>
              <a:t>not</a:t>
            </a:r>
            <a:r>
              <a:rPr lang="en-US" altLang="en-US" dirty="0">
                <a:solidFill>
                  <a:srgbClr val="000000"/>
                </a:solidFill>
              </a:rPr>
              <a:t> specify “</a:t>
            </a:r>
            <a:r>
              <a:rPr lang="en-US" altLang="en-US" dirty="0">
                <a:solidFill>
                  <a:srgbClr val="000000"/>
                </a:solidFill>
                <a:latin typeface="Consolas" panose="020B0609020204030204" pitchFamily="49" charset="0"/>
              </a:rPr>
              <a:t>extends</a:t>
            </a:r>
            <a:r>
              <a:rPr lang="en-US" altLang="en-US" dirty="0">
                <a:solidFill>
                  <a:srgbClr val="000000"/>
                </a:solidFill>
              </a:rPr>
              <a:t> </a:t>
            </a:r>
            <a:r>
              <a:rPr lang="en-US" altLang="en-US" dirty="0">
                <a:solidFill>
                  <a:srgbClr val="000000"/>
                </a:solidFill>
                <a:latin typeface="Consolas" panose="020B0609020204030204" pitchFamily="49" charset="0"/>
              </a:rPr>
              <a:t>Object</a:t>
            </a:r>
            <a:r>
              <a:rPr lang="en-US" altLang="en-US" dirty="0">
                <a:solidFill>
                  <a:srgbClr val="000000"/>
                </a:solidFill>
              </a:rPr>
              <a:t>” </a:t>
            </a:r>
          </a:p>
          <a:p>
            <a:pPr lvl="1" eaLnBrk="1" hangingPunct="1"/>
            <a:r>
              <a:rPr lang="en-US" altLang="en-US" dirty="0">
                <a:solidFill>
                  <a:srgbClr val="000000"/>
                </a:solidFill>
              </a:rPr>
              <a:t>Implicitly extends </a:t>
            </a:r>
            <a:r>
              <a:rPr lang="en-US" altLang="en-US" dirty="0">
                <a:solidFill>
                  <a:srgbClr val="000000"/>
                </a:solidFill>
                <a:latin typeface="Consolas" panose="020B0609020204030204" pitchFamily="49" charset="0"/>
              </a:rPr>
              <a:t>Object</a:t>
            </a:r>
            <a:r>
              <a:rPr lang="en-US" altLang="en-US" dirty="0">
                <a:solidFill>
                  <a:srgbClr val="000000"/>
                </a:solidFill>
              </a:rPr>
              <a:t>. </a:t>
            </a:r>
          </a:p>
          <a:p>
            <a:pPr eaLnBrk="1" hangingPunct="1"/>
            <a:r>
              <a:rPr lang="en-US" altLang="en-US" dirty="0" err="1">
                <a:solidFill>
                  <a:srgbClr val="000000"/>
                </a:solidFill>
                <a:latin typeface="Consolas" panose="020B0609020204030204" pitchFamily="49" charset="0"/>
              </a:rPr>
              <a:t>BasePlusCommissionEmployee</a:t>
            </a:r>
            <a:r>
              <a:rPr lang="en-US" altLang="en-US" dirty="0" err="1">
                <a:solidFill>
                  <a:srgbClr val="000000"/>
                </a:solidFill>
              </a:rPr>
              <a:t>’s</a:t>
            </a:r>
            <a:r>
              <a:rPr lang="en-US" altLang="en-US" dirty="0">
                <a:solidFill>
                  <a:srgbClr val="000000"/>
                </a:solidFill>
              </a:rPr>
              <a:t> constructor invokes class </a:t>
            </a:r>
            <a:r>
              <a:rPr lang="en-US" altLang="en-US" dirty="0">
                <a:solidFill>
                  <a:srgbClr val="000000"/>
                </a:solidFill>
                <a:latin typeface="Consolas" panose="020B0609020204030204" pitchFamily="49" charset="0"/>
              </a:rPr>
              <a:t>Object</a:t>
            </a:r>
            <a:r>
              <a:rPr lang="en-US" altLang="en-US" dirty="0">
                <a:solidFill>
                  <a:srgbClr val="000000"/>
                </a:solidFill>
              </a:rPr>
              <a:t>’s default constructor </a:t>
            </a:r>
            <a:r>
              <a:rPr lang="en-US" altLang="en-US" i="1" dirty="0">
                <a:solidFill>
                  <a:srgbClr val="000000"/>
                </a:solidFill>
              </a:rPr>
              <a:t>implicitly</a:t>
            </a:r>
            <a:r>
              <a:rPr lang="en-US" altLang="en-US" dirty="0">
                <a:solidFill>
                  <a:srgbClr val="000000"/>
                </a:solidFill>
              </a:rPr>
              <a:t>.</a:t>
            </a:r>
          </a:p>
        </p:txBody>
      </p:sp>
      <p:sp>
        <p:nvSpPr>
          <p:cNvPr id="4" name="Footer Placeholder 3">
            <a:extLst>
              <a:ext uri="{FF2B5EF4-FFF2-40B4-BE49-F238E27FC236}">
                <a16:creationId xmlns:a16="http://schemas.microsoft.com/office/drawing/2014/main" id="{40FB820A-8359-4E95-97CA-9EA56642E01E}"/>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4298138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1">
            <a:extLst>
              <a:ext uri="{FF2B5EF4-FFF2-40B4-BE49-F238E27FC236}">
                <a16:creationId xmlns:a16="http://schemas.microsoft.com/office/drawing/2014/main" id="{B67CC714-6B0D-423C-866F-57BD649BF44E}"/>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0" y="317500"/>
            <a:ext cx="12192000" cy="6221413"/>
          </a:xfrm>
          <a:prstGeom prst="rect">
            <a:avLst/>
          </a:prstGeom>
        </p:spPr>
      </p:pic>
      <p:sp>
        <p:nvSpPr>
          <p:cNvPr id="2" name="Footer Placeholder 1">
            <a:extLst>
              <a:ext uri="{FF2B5EF4-FFF2-40B4-BE49-F238E27FC236}">
                <a16:creationId xmlns:a16="http://schemas.microsoft.com/office/drawing/2014/main" id="{89022A8F-497A-4DEA-BA05-4BC15F979FFC}"/>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42624805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2">
            <a:extLst>
              <a:ext uri="{FF2B5EF4-FFF2-40B4-BE49-F238E27FC236}">
                <a16:creationId xmlns:a16="http://schemas.microsoft.com/office/drawing/2014/main" id="{7DBF053A-0F11-4528-B5FE-7CDAB14E985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01613" y="0"/>
            <a:ext cx="11787187" cy="6858000"/>
          </a:xfrm>
          <a:prstGeom prst="rect">
            <a:avLst/>
          </a:prstGeom>
        </p:spPr>
      </p:pic>
      <p:sp>
        <p:nvSpPr>
          <p:cNvPr id="2" name="Footer Placeholder 1">
            <a:extLst>
              <a:ext uri="{FF2B5EF4-FFF2-40B4-BE49-F238E27FC236}">
                <a16:creationId xmlns:a16="http://schemas.microsoft.com/office/drawing/2014/main" id="{65A2F07A-24E6-4444-9CC7-64F0925829F4}"/>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7772107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3">
            <a:extLst>
              <a:ext uri="{FF2B5EF4-FFF2-40B4-BE49-F238E27FC236}">
                <a16:creationId xmlns:a16="http://schemas.microsoft.com/office/drawing/2014/main" id="{1635F206-8F63-4EB0-9F15-E4BA32ABCD6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209550"/>
            <a:ext cx="12192000" cy="6437313"/>
          </a:xfrm>
          <a:prstGeom prst="rect">
            <a:avLst/>
          </a:prstGeom>
        </p:spPr>
      </p:pic>
      <p:sp>
        <p:nvSpPr>
          <p:cNvPr id="2" name="Footer Placeholder 1">
            <a:extLst>
              <a:ext uri="{FF2B5EF4-FFF2-40B4-BE49-F238E27FC236}">
                <a16:creationId xmlns:a16="http://schemas.microsoft.com/office/drawing/2014/main" id="{EE554153-9FD2-4AA2-AAB7-C7B5A0A19C71}"/>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1750967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BCDF8-06E7-49C8-B061-6F395ED9F161}"/>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9.4.2 </a:t>
            </a:r>
            <a:r>
              <a:rPr lang="en-US" dirty="0">
                <a:solidFill>
                  <a:srgbClr val="33B38C"/>
                </a:solidFill>
                <a:latin typeface="Calibri" panose="020F0502020204030204" pitchFamily="34" charset="0"/>
              </a:rPr>
              <a:t>Creating and Using a </a:t>
            </a:r>
            <a:r>
              <a:rPr lang="en-US" dirty="0" err="1">
                <a:solidFill>
                  <a:srgbClr val="33B38C"/>
                </a:solidFill>
                <a:latin typeface="Consolas" panose="020B0609020204030204" pitchFamily="49" charset="0"/>
              </a:rPr>
              <a:t>BasePlus-CommissionEmployee</a:t>
            </a:r>
            <a:r>
              <a:rPr lang="en-US" dirty="0">
                <a:solidFill>
                  <a:srgbClr val="33B38C"/>
                </a:solidFill>
                <a:latin typeface="Calibri" panose="020F0502020204030204" pitchFamily="34" charset="0"/>
              </a:rPr>
              <a:t> Class (Cont.)</a:t>
            </a:r>
          </a:p>
        </p:txBody>
      </p:sp>
      <p:sp>
        <p:nvSpPr>
          <p:cNvPr id="55299" name="Text Placeholder 2">
            <a:extLst>
              <a:ext uri="{FF2B5EF4-FFF2-40B4-BE49-F238E27FC236}">
                <a16:creationId xmlns:a16="http://schemas.microsoft.com/office/drawing/2014/main" id="{3E587407-969B-4EA2-A90E-D3D1DA14571A}"/>
              </a:ext>
            </a:extLst>
          </p:cNvPr>
          <p:cNvSpPr>
            <a:spLocks noGrp="1"/>
          </p:cNvSpPr>
          <p:nvPr>
            <p:ph type="body" idx="1"/>
          </p:nvPr>
        </p:nvSpPr>
        <p:spPr/>
        <p:txBody>
          <a:bodyPr/>
          <a:lstStyle/>
          <a:p>
            <a:pPr eaLnBrk="1" hangingPunct="1">
              <a:lnSpc>
                <a:spcPct val="90000"/>
              </a:lnSpc>
            </a:pPr>
            <a:r>
              <a:rPr lang="en-US" altLang="en-US" sz="2500" dirty="0">
                <a:solidFill>
                  <a:srgbClr val="000000"/>
                </a:solidFill>
              </a:rPr>
              <a:t>Much of </a:t>
            </a:r>
            <a:r>
              <a:rPr lang="en-US" altLang="en-US" sz="2500" dirty="0" err="1">
                <a:solidFill>
                  <a:srgbClr val="000000"/>
                </a:solidFill>
                <a:latin typeface="Consolas" panose="020B0609020204030204" pitchFamily="49" charset="0"/>
              </a:rPr>
              <a:t>BasePlusCommissionEmployee</a:t>
            </a:r>
            <a:r>
              <a:rPr lang="en-US" altLang="en-US" sz="2500" dirty="0" err="1">
                <a:solidFill>
                  <a:srgbClr val="000000"/>
                </a:solidFill>
              </a:rPr>
              <a:t>’s</a:t>
            </a:r>
            <a:r>
              <a:rPr lang="en-US" altLang="en-US" sz="2500" dirty="0">
                <a:solidFill>
                  <a:srgbClr val="000000"/>
                </a:solidFill>
              </a:rPr>
              <a:t> code is </a:t>
            </a:r>
            <a:r>
              <a:rPr lang="en-US" altLang="en-US" sz="2500" i="1" dirty="0">
                <a:solidFill>
                  <a:srgbClr val="000000"/>
                </a:solidFill>
              </a:rPr>
              <a:t>similar</a:t>
            </a:r>
            <a:r>
              <a:rPr lang="en-US" altLang="en-US" sz="2500" dirty="0">
                <a:solidFill>
                  <a:srgbClr val="000000"/>
                </a:solidFill>
              </a:rPr>
              <a:t>, or </a:t>
            </a:r>
            <a:r>
              <a:rPr lang="en-US" altLang="en-US" sz="2500" i="1" dirty="0">
                <a:solidFill>
                  <a:srgbClr val="000000"/>
                </a:solidFill>
              </a:rPr>
              <a:t>identical</a:t>
            </a:r>
            <a:r>
              <a:rPr lang="en-US" altLang="en-US" sz="2500" dirty="0">
                <a:solidFill>
                  <a:srgbClr val="000000"/>
                </a:solidFill>
              </a:rPr>
              <a:t>, to that of </a:t>
            </a:r>
            <a:r>
              <a:rPr lang="en-US" altLang="en-US" sz="2500" dirty="0" err="1">
                <a:solidFill>
                  <a:srgbClr val="000000"/>
                </a:solidFill>
                <a:latin typeface="Consolas" panose="020B0609020204030204" pitchFamily="49" charset="0"/>
              </a:rPr>
              <a:t>CommissionEmployee</a:t>
            </a:r>
            <a:r>
              <a:rPr lang="en-US" altLang="en-US" sz="2500" dirty="0">
                <a:solidFill>
                  <a:srgbClr val="000000"/>
                </a:solidFill>
              </a:rPr>
              <a:t>.</a:t>
            </a:r>
          </a:p>
          <a:p>
            <a:pPr eaLnBrk="1" hangingPunct="1">
              <a:lnSpc>
                <a:spcPct val="90000"/>
              </a:lnSpc>
            </a:pPr>
            <a:r>
              <a:rPr lang="en-US" altLang="en-US" sz="2500" dirty="0">
                <a:solidFill>
                  <a:srgbClr val="000000"/>
                </a:solidFill>
                <a:latin typeface="Consolas" panose="020B0609020204030204" pitchFamily="49" charset="0"/>
              </a:rPr>
              <a:t>private</a:t>
            </a:r>
            <a:r>
              <a:rPr lang="en-US" altLang="en-US" sz="2500" dirty="0">
                <a:solidFill>
                  <a:srgbClr val="000000"/>
                </a:solidFill>
              </a:rPr>
              <a:t> instance variables </a:t>
            </a:r>
            <a:r>
              <a:rPr lang="en-US" altLang="en-US" sz="2500" dirty="0" err="1">
                <a:solidFill>
                  <a:srgbClr val="000000"/>
                </a:solidFill>
                <a:latin typeface="Consolas" panose="020B0609020204030204" pitchFamily="49" charset="0"/>
              </a:rPr>
              <a:t>firstName</a:t>
            </a:r>
            <a:r>
              <a:rPr lang="en-US" altLang="en-US" sz="2500" dirty="0">
                <a:solidFill>
                  <a:srgbClr val="000000"/>
                </a:solidFill>
              </a:rPr>
              <a:t> and </a:t>
            </a:r>
            <a:r>
              <a:rPr lang="en-US" altLang="en-US" sz="2500" dirty="0" err="1">
                <a:solidFill>
                  <a:srgbClr val="000000"/>
                </a:solidFill>
                <a:latin typeface="Consolas" panose="020B0609020204030204" pitchFamily="49" charset="0"/>
              </a:rPr>
              <a:t>lastName</a:t>
            </a:r>
            <a:r>
              <a:rPr lang="en-US" altLang="en-US" sz="2500" dirty="0">
                <a:solidFill>
                  <a:srgbClr val="000000"/>
                </a:solidFill>
              </a:rPr>
              <a:t> and methods </a:t>
            </a:r>
            <a:r>
              <a:rPr lang="en-US" altLang="en-US" sz="2500" dirty="0" err="1">
                <a:solidFill>
                  <a:srgbClr val="000000"/>
                </a:solidFill>
                <a:latin typeface="Consolas" panose="020B0609020204030204" pitchFamily="49" charset="0"/>
              </a:rPr>
              <a:t>setFirstName</a:t>
            </a:r>
            <a:r>
              <a:rPr lang="en-US" altLang="en-US" sz="2500" dirty="0">
                <a:solidFill>
                  <a:srgbClr val="000000"/>
                </a:solidFill>
              </a:rPr>
              <a:t>, </a:t>
            </a:r>
            <a:r>
              <a:rPr lang="en-US" altLang="en-US" sz="2500" dirty="0" err="1">
                <a:solidFill>
                  <a:srgbClr val="000000"/>
                </a:solidFill>
                <a:latin typeface="Consolas" panose="020B0609020204030204" pitchFamily="49" charset="0"/>
              </a:rPr>
              <a:t>getFirstName</a:t>
            </a:r>
            <a:r>
              <a:rPr lang="en-US" altLang="en-US" sz="2500" dirty="0">
                <a:solidFill>
                  <a:srgbClr val="000000"/>
                </a:solidFill>
              </a:rPr>
              <a:t>, </a:t>
            </a:r>
            <a:r>
              <a:rPr lang="en-US" altLang="en-US" sz="2500" dirty="0" err="1">
                <a:solidFill>
                  <a:srgbClr val="000000"/>
                </a:solidFill>
                <a:latin typeface="Consolas" panose="020B0609020204030204" pitchFamily="49" charset="0"/>
              </a:rPr>
              <a:t>setLastName</a:t>
            </a:r>
            <a:r>
              <a:rPr lang="en-US" altLang="en-US" sz="2500" dirty="0">
                <a:solidFill>
                  <a:srgbClr val="000000"/>
                </a:solidFill>
              </a:rPr>
              <a:t> and </a:t>
            </a:r>
            <a:r>
              <a:rPr lang="en-US" altLang="en-US" sz="2500" dirty="0" err="1">
                <a:solidFill>
                  <a:srgbClr val="000000"/>
                </a:solidFill>
                <a:latin typeface="Consolas" panose="020B0609020204030204" pitchFamily="49" charset="0"/>
              </a:rPr>
              <a:t>getLastName</a:t>
            </a:r>
            <a:r>
              <a:rPr lang="en-US" altLang="en-US" sz="2500" dirty="0">
                <a:solidFill>
                  <a:srgbClr val="000000"/>
                </a:solidFill>
              </a:rPr>
              <a:t> are identical.</a:t>
            </a:r>
          </a:p>
          <a:p>
            <a:pPr lvl="1" eaLnBrk="1" hangingPunct="1">
              <a:lnSpc>
                <a:spcPct val="90000"/>
              </a:lnSpc>
            </a:pPr>
            <a:r>
              <a:rPr lang="en-US" altLang="en-US" sz="2100" dirty="0">
                <a:solidFill>
                  <a:srgbClr val="000000"/>
                </a:solidFill>
              </a:rPr>
              <a:t>Both classes also contain corresponding </a:t>
            </a:r>
            <a:r>
              <a:rPr lang="en-US" altLang="en-US" sz="2100" i="1" dirty="0">
                <a:solidFill>
                  <a:srgbClr val="000000"/>
                </a:solidFill>
              </a:rPr>
              <a:t>get </a:t>
            </a:r>
            <a:r>
              <a:rPr lang="en-US" altLang="en-US" sz="2100" dirty="0">
                <a:solidFill>
                  <a:srgbClr val="000000"/>
                </a:solidFill>
              </a:rPr>
              <a:t>and</a:t>
            </a:r>
            <a:r>
              <a:rPr lang="en-US" altLang="en-US" sz="2100" i="1" dirty="0">
                <a:solidFill>
                  <a:srgbClr val="000000"/>
                </a:solidFill>
              </a:rPr>
              <a:t> set </a:t>
            </a:r>
            <a:r>
              <a:rPr lang="en-US" altLang="en-US" sz="2100" dirty="0">
                <a:solidFill>
                  <a:srgbClr val="000000"/>
                </a:solidFill>
              </a:rPr>
              <a:t>methods</a:t>
            </a:r>
            <a:r>
              <a:rPr lang="en-US" altLang="en-US" sz="2100" i="1" dirty="0">
                <a:solidFill>
                  <a:srgbClr val="000000"/>
                </a:solidFill>
              </a:rPr>
              <a:t>. </a:t>
            </a:r>
          </a:p>
          <a:p>
            <a:pPr eaLnBrk="1" hangingPunct="1">
              <a:lnSpc>
                <a:spcPct val="90000"/>
              </a:lnSpc>
            </a:pPr>
            <a:r>
              <a:rPr lang="en-US" altLang="en-US" sz="2500" dirty="0">
                <a:solidFill>
                  <a:srgbClr val="000000"/>
                </a:solidFill>
              </a:rPr>
              <a:t>The constructors are almost identical</a:t>
            </a:r>
          </a:p>
          <a:p>
            <a:pPr lvl="1" eaLnBrk="1" hangingPunct="1">
              <a:lnSpc>
                <a:spcPct val="90000"/>
              </a:lnSpc>
            </a:pPr>
            <a:r>
              <a:rPr lang="en-US" altLang="en-US" sz="2100" dirty="0" err="1">
                <a:solidFill>
                  <a:srgbClr val="000000"/>
                </a:solidFill>
                <a:latin typeface="Consolas" panose="020B0609020204030204" pitchFamily="49" charset="0"/>
              </a:rPr>
              <a:t>BasePlusCommissionEmployee</a:t>
            </a:r>
            <a:r>
              <a:rPr lang="en-US" altLang="en-US" sz="2100" dirty="0" err="1">
                <a:solidFill>
                  <a:srgbClr val="000000"/>
                </a:solidFill>
              </a:rPr>
              <a:t>’s</a:t>
            </a:r>
            <a:r>
              <a:rPr lang="en-US" altLang="en-US" sz="2100" dirty="0">
                <a:solidFill>
                  <a:srgbClr val="000000"/>
                </a:solidFill>
              </a:rPr>
              <a:t> constructor also sets the </a:t>
            </a:r>
            <a:r>
              <a:rPr lang="en-US" altLang="en-US" sz="2100" dirty="0" err="1">
                <a:solidFill>
                  <a:srgbClr val="000000"/>
                </a:solidFill>
                <a:latin typeface="Consolas" panose="020B0609020204030204" pitchFamily="49" charset="0"/>
              </a:rPr>
              <a:t>baseSalary</a:t>
            </a:r>
            <a:r>
              <a:rPr lang="en-US" altLang="en-US" sz="2100" dirty="0">
                <a:solidFill>
                  <a:srgbClr val="000000"/>
                </a:solidFill>
              </a:rPr>
              <a:t>. </a:t>
            </a:r>
          </a:p>
          <a:p>
            <a:pPr eaLnBrk="1" hangingPunct="1">
              <a:lnSpc>
                <a:spcPct val="90000"/>
              </a:lnSpc>
            </a:pPr>
            <a:r>
              <a:rPr lang="en-US" altLang="en-US" sz="2500" dirty="0">
                <a:solidFill>
                  <a:srgbClr val="000000"/>
                </a:solidFill>
              </a:rPr>
              <a:t>The </a:t>
            </a:r>
            <a:r>
              <a:rPr lang="en-US" altLang="en-US" sz="2500" dirty="0" err="1">
                <a:solidFill>
                  <a:srgbClr val="000000"/>
                </a:solidFill>
                <a:latin typeface="Consolas" panose="020B0609020204030204" pitchFamily="49" charset="0"/>
              </a:rPr>
              <a:t>toString</a:t>
            </a:r>
            <a:r>
              <a:rPr lang="en-US" altLang="en-US" sz="2500" dirty="0">
                <a:solidFill>
                  <a:srgbClr val="000000"/>
                </a:solidFill>
              </a:rPr>
              <a:t> methods are </a:t>
            </a:r>
            <a:r>
              <a:rPr lang="en-US" altLang="en-US" sz="2500" i="1" dirty="0">
                <a:solidFill>
                  <a:srgbClr val="000000"/>
                </a:solidFill>
              </a:rPr>
              <a:t>almost</a:t>
            </a:r>
            <a:r>
              <a:rPr lang="en-US" altLang="en-US" sz="2500" dirty="0">
                <a:solidFill>
                  <a:srgbClr val="000000"/>
                </a:solidFill>
              </a:rPr>
              <a:t> identical</a:t>
            </a:r>
          </a:p>
          <a:p>
            <a:pPr lvl="1" eaLnBrk="1" hangingPunct="1">
              <a:lnSpc>
                <a:spcPct val="90000"/>
              </a:lnSpc>
            </a:pPr>
            <a:r>
              <a:rPr lang="en-US" altLang="en-US" sz="2100" dirty="0" err="1">
                <a:solidFill>
                  <a:srgbClr val="000000"/>
                </a:solidFill>
                <a:latin typeface="Consolas" panose="020B0609020204030204" pitchFamily="49" charset="0"/>
              </a:rPr>
              <a:t>BasePlusCommissionEmployee</a:t>
            </a:r>
            <a:r>
              <a:rPr lang="en-US" altLang="en-US" sz="2100" dirty="0" err="1">
                <a:solidFill>
                  <a:srgbClr val="000000"/>
                </a:solidFill>
              </a:rPr>
              <a:t>’s</a:t>
            </a:r>
            <a:r>
              <a:rPr lang="en-US" altLang="en-US" sz="2100" dirty="0">
                <a:solidFill>
                  <a:srgbClr val="000000"/>
                </a:solidFill>
              </a:rPr>
              <a:t> </a:t>
            </a:r>
            <a:r>
              <a:rPr lang="en-US" altLang="en-US" sz="2100" dirty="0" err="1">
                <a:solidFill>
                  <a:srgbClr val="000000"/>
                </a:solidFill>
                <a:latin typeface="Consolas" panose="020B0609020204030204" pitchFamily="49" charset="0"/>
              </a:rPr>
              <a:t>toString</a:t>
            </a:r>
            <a:r>
              <a:rPr lang="en-US" altLang="en-US" sz="2100" dirty="0">
                <a:solidFill>
                  <a:srgbClr val="000000"/>
                </a:solidFill>
              </a:rPr>
              <a:t> also outputs instance variable </a:t>
            </a:r>
            <a:r>
              <a:rPr lang="en-US" altLang="en-US" sz="2100" dirty="0" err="1">
                <a:solidFill>
                  <a:srgbClr val="000000"/>
                </a:solidFill>
                <a:latin typeface="Consolas" panose="020B0609020204030204" pitchFamily="49" charset="0"/>
              </a:rPr>
              <a:t>baseSalary</a:t>
            </a:r>
            <a:endParaRPr lang="en-US" altLang="en-US" sz="2100" dirty="0">
              <a:solidFill>
                <a:srgbClr val="000000"/>
              </a:solidFill>
            </a:endParaRPr>
          </a:p>
        </p:txBody>
      </p:sp>
      <p:sp>
        <p:nvSpPr>
          <p:cNvPr id="4" name="Footer Placeholder 3">
            <a:extLst>
              <a:ext uri="{FF2B5EF4-FFF2-40B4-BE49-F238E27FC236}">
                <a16:creationId xmlns:a16="http://schemas.microsoft.com/office/drawing/2014/main" id="{1229B3DA-6AF0-4C99-8D20-A3F04BB6BC35}"/>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8063656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BCB84-7F66-46BE-9686-B06D850BB968}"/>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9.4.2 </a:t>
            </a:r>
            <a:r>
              <a:rPr lang="en-US" dirty="0">
                <a:solidFill>
                  <a:srgbClr val="33B38C"/>
                </a:solidFill>
                <a:latin typeface="Calibri" panose="020F0502020204030204" pitchFamily="34" charset="0"/>
              </a:rPr>
              <a:t>Creating and Using a </a:t>
            </a:r>
            <a:r>
              <a:rPr lang="en-US" dirty="0" err="1">
                <a:solidFill>
                  <a:srgbClr val="33B38C"/>
                </a:solidFill>
                <a:latin typeface="Consolas" panose="020B0609020204030204" pitchFamily="49" charset="0"/>
              </a:rPr>
              <a:t>BasePlus-CommissionEmployee</a:t>
            </a:r>
            <a:r>
              <a:rPr lang="en-US" dirty="0">
                <a:solidFill>
                  <a:srgbClr val="33B38C"/>
                </a:solidFill>
                <a:latin typeface="Calibri" panose="020F0502020204030204" pitchFamily="34" charset="0"/>
              </a:rPr>
              <a:t> Class (Cont.)</a:t>
            </a:r>
          </a:p>
        </p:txBody>
      </p:sp>
      <p:sp>
        <p:nvSpPr>
          <p:cNvPr id="56323" name="Text Placeholder 2">
            <a:extLst>
              <a:ext uri="{FF2B5EF4-FFF2-40B4-BE49-F238E27FC236}">
                <a16:creationId xmlns:a16="http://schemas.microsoft.com/office/drawing/2014/main" id="{42BADA32-B697-4BF8-AA4A-804A3CB4A764}"/>
              </a:ext>
            </a:extLst>
          </p:cNvPr>
          <p:cNvSpPr>
            <a:spLocks noGrp="1"/>
          </p:cNvSpPr>
          <p:nvPr>
            <p:ph type="body" idx="1"/>
          </p:nvPr>
        </p:nvSpPr>
        <p:spPr/>
        <p:txBody>
          <a:bodyPr/>
          <a:lstStyle/>
          <a:p>
            <a:pPr eaLnBrk="1" hangingPunct="1"/>
            <a:r>
              <a:rPr lang="en-US" altLang="en-US" dirty="0">
                <a:solidFill>
                  <a:srgbClr val="000000"/>
                </a:solidFill>
              </a:rPr>
              <a:t>We literally </a:t>
            </a:r>
            <a:r>
              <a:rPr lang="en-US" altLang="en-US" i="1" dirty="0">
                <a:solidFill>
                  <a:srgbClr val="000000"/>
                </a:solidFill>
              </a:rPr>
              <a:t>copied </a:t>
            </a:r>
            <a:r>
              <a:rPr lang="en-US" altLang="en-US" dirty="0" err="1">
                <a:solidFill>
                  <a:srgbClr val="000000"/>
                </a:solidFill>
                <a:latin typeface="Consolas" panose="020B0609020204030204" pitchFamily="49" charset="0"/>
              </a:rPr>
              <a:t>CommissionEmployee</a:t>
            </a:r>
            <a:r>
              <a:rPr lang="en-US" altLang="en-US" dirty="0" err="1">
                <a:solidFill>
                  <a:srgbClr val="000000"/>
                </a:solidFill>
              </a:rPr>
              <a:t>’s</a:t>
            </a:r>
            <a:r>
              <a:rPr lang="en-US" altLang="en-US" dirty="0">
                <a:solidFill>
                  <a:srgbClr val="000000"/>
                </a:solidFill>
              </a:rPr>
              <a:t> code, </a:t>
            </a:r>
            <a:r>
              <a:rPr lang="en-US" altLang="en-US" i="1" dirty="0">
                <a:solidFill>
                  <a:srgbClr val="000000"/>
                </a:solidFill>
              </a:rPr>
              <a:t>pasted</a:t>
            </a:r>
            <a:r>
              <a:rPr lang="en-US" altLang="en-US" dirty="0">
                <a:solidFill>
                  <a:srgbClr val="000000"/>
                </a:solidFill>
              </a:rPr>
              <a:t> it into </a:t>
            </a:r>
            <a:r>
              <a:rPr lang="en-US" altLang="en-US" dirty="0" err="1">
                <a:solidFill>
                  <a:srgbClr val="000000"/>
                </a:solidFill>
                <a:latin typeface="Consolas" panose="020B0609020204030204" pitchFamily="49" charset="0"/>
              </a:rPr>
              <a:t>BasePlusCommissionEmployee</a:t>
            </a:r>
            <a:r>
              <a:rPr lang="en-US" altLang="en-US" dirty="0">
                <a:solidFill>
                  <a:srgbClr val="000000"/>
                </a:solidFill>
              </a:rPr>
              <a:t>, then modified the new class to include a base salary and methods that manipulate the base salary. </a:t>
            </a:r>
          </a:p>
          <a:p>
            <a:pPr lvl="1" eaLnBrk="1" hangingPunct="1"/>
            <a:r>
              <a:rPr lang="en-US" altLang="en-US" dirty="0">
                <a:solidFill>
                  <a:srgbClr val="000000"/>
                </a:solidFill>
              </a:rPr>
              <a:t>This “</a:t>
            </a:r>
            <a:r>
              <a:rPr lang="en-US" altLang="en-US" i="1" dirty="0">
                <a:solidFill>
                  <a:srgbClr val="000000"/>
                </a:solidFill>
              </a:rPr>
              <a:t>copy-and-paste</a:t>
            </a:r>
            <a:r>
              <a:rPr lang="en-US" altLang="en-US" dirty="0">
                <a:solidFill>
                  <a:srgbClr val="000000"/>
                </a:solidFill>
              </a:rPr>
              <a:t>” </a:t>
            </a:r>
            <a:r>
              <a:rPr lang="en-US" altLang="en-US" i="1" dirty="0">
                <a:solidFill>
                  <a:srgbClr val="000000"/>
                </a:solidFill>
              </a:rPr>
              <a:t>approach</a:t>
            </a:r>
            <a:r>
              <a:rPr lang="en-US" altLang="en-US" dirty="0">
                <a:solidFill>
                  <a:srgbClr val="000000"/>
                </a:solidFill>
              </a:rPr>
              <a:t> is often error prone and time consuming. </a:t>
            </a:r>
          </a:p>
          <a:p>
            <a:pPr lvl="1" eaLnBrk="1" hangingPunct="1"/>
            <a:r>
              <a:rPr lang="en-US" altLang="en-US" dirty="0">
                <a:solidFill>
                  <a:srgbClr val="000000"/>
                </a:solidFill>
              </a:rPr>
              <a:t>It spreads copies of the same code throughout a system, creating a code-maintenance problems—changes to the code would need to be made in multiple classes. </a:t>
            </a:r>
          </a:p>
        </p:txBody>
      </p:sp>
      <p:sp>
        <p:nvSpPr>
          <p:cNvPr id="4" name="Footer Placeholder 3">
            <a:extLst>
              <a:ext uri="{FF2B5EF4-FFF2-40B4-BE49-F238E27FC236}">
                <a16:creationId xmlns:a16="http://schemas.microsoft.com/office/drawing/2014/main" id="{E9045DB9-4E7F-4C8A-B4FA-B4BAD2D610C4}"/>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42511146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4">
            <a:extLst>
              <a:ext uri="{FF2B5EF4-FFF2-40B4-BE49-F238E27FC236}">
                <a16:creationId xmlns:a16="http://schemas.microsoft.com/office/drawing/2014/main" id="{F50AEFC8-B318-4BE9-A388-826AAFBA828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66750"/>
            <a:ext cx="12192000" cy="5522913"/>
          </a:xfrm>
          <a:prstGeom prst="rect">
            <a:avLst/>
          </a:prstGeom>
        </p:spPr>
      </p:pic>
      <p:sp>
        <p:nvSpPr>
          <p:cNvPr id="2" name="Footer Placeholder 1">
            <a:extLst>
              <a:ext uri="{FF2B5EF4-FFF2-40B4-BE49-F238E27FC236}">
                <a16:creationId xmlns:a16="http://schemas.microsoft.com/office/drawing/2014/main" id="{063E7277-554E-41CF-81FD-7D72C22296EC}"/>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8363827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6351E-7D13-4614-A364-A9A00AD5F3D5}"/>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9.4.3 </a:t>
            </a:r>
            <a:r>
              <a:rPr lang="en-US" dirty="0">
                <a:solidFill>
                  <a:srgbClr val="33B38C"/>
                </a:solidFill>
                <a:latin typeface="Calibri" panose="020F0502020204030204" pitchFamily="34" charset="0"/>
              </a:rPr>
              <a:t>Creating a </a:t>
            </a:r>
            <a:r>
              <a:rPr lang="en-US" dirty="0" err="1">
                <a:solidFill>
                  <a:srgbClr val="33B38C"/>
                </a:solidFill>
                <a:latin typeface="Consolas" panose="020B0609020204030204" pitchFamily="49" charset="0"/>
              </a:rPr>
              <a:t>CommissionEmployee</a:t>
            </a:r>
            <a:r>
              <a:rPr lang="en-US" dirty="0" err="1">
                <a:solidFill>
                  <a:srgbClr val="33B38C"/>
                </a:solidFill>
                <a:latin typeface="Calibri" panose="020F0502020204030204" pitchFamily="34" charset="0"/>
              </a:rPr>
              <a:t>–</a:t>
            </a:r>
            <a:r>
              <a:rPr lang="en-US" dirty="0" err="1">
                <a:solidFill>
                  <a:srgbClr val="33B38C"/>
                </a:solidFill>
                <a:latin typeface="Consolas" panose="020B0609020204030204" pitchFamily="49" charset="0"/>
              </a:rPr>
              <a:t>BasePlusCommissionEmployee</a:t>
            </a:r>
            <a:r>
              <a:rPr lang="en-US" dirty="0">
                <a:solidFill>
                  <a:srgbClr val="33B38C"/>
                </a:solidFill>
                <a:latin typeface="Calibri" panose="020F0502020204030204" pitchFamily="34" charset="0"/>
              </a:rPr>
              <a:t> Inheritance Hierarchy</a:t>
            </a:r>
          </a:p>
        </p:txBody>
      </p:sp>
      <p:sp>
        <p:nvSpPr>
          <p:cNvPr id="58371" name="Text Placeholder 2">
            <a:extLst>
              <a:ext uri="{FF2B5EF4-FFF2-40B4-BE49-F238E27FC236}">
                <a16:creationId xmlns:a16="http://schemas.microsoft.com/office/drawing/2014/main" id="{766FF202-9E3A-472E-B5AE-1EDFC1A8DAF2}"/>
              </a:ext>
            </a:extLst>
          </p:cNvPr>
          <p:cNvSpPr>
            <a:spLocks noGrp="1"/>
          </p:cNvSpPr>
          <p:nvPr>
            <p:ph type="body" idx="1"/>
          </p:nvPr>
        </p:nvSpPr>
        <p:spPr>
          <a:xfrm>
            <a:off x="352697" y="1417638"/>
            <a:ext cx="10972800" cy="4525963"/>
          </a:xfrm>
        </p:spPr>
        <p:txBody>
          <a:bodyPr/>
          <a:lstStyle/>
          <a:p>
            <a:pPr eaLnBrk="1" hangingPunct="1">
              <a:lnSpc>
                <a:spcPct val="90000"/>
              </a:lnSpc>
            </a:pPr>
            <a:r>
              <a:rPr lang="en-US" altLang="en-US" sz="2800" b="1" dirty="0">
                <a:solidFill>
                  <a:srgbClr val="000000"/>
                </a:solidFill>
              </a:rPr>
              <a:t>Class </a:t>
            </a:r>
            <a:r>
              <a:rPr lang="en-US" altLang="en-US" sz="2800" b="1" dirty="0" err="1">
                <a:solidFill>
                  <a:srgbClr val="000000"/>
                </a:solidFill>
                <a:latin typeface="Consolas" panose="020B0609020204030204" pitchFamily="49" charset="0"/>
              </a:rPr>
              <a:t>BasePlusCommissionEmployee</a:t>
            </a:r>
            <a:r>
              <a:rPr lang="en-US" altLang="en-US" sz="2800" b="1" dirty="0">
                <a:solidFill>
                  <a:srgbClr val="000000"/>
                </a:solidFill>
              </a:rPr>
              <a:t> </a:t>
            </a:r>
            <a:r>
              <a:rPr lang="en-US" altLang="en-US" sz="2800" dirty="0">
                <a:solidFill>
                  <a:srgbClr val="000000"/>
                </a:solidFill>
              </a:rPr>
              <a:t>class </a:t>
            </a:r>
            <a:r>
              <a:rPr lang="en-US" altLang="en-US" sz="4400" b="1" i="1" dirty="0">
                <a:solidFill>
                  <a:srgbClr val="000000"/>
                </a:solidFill>
                <a:highlight>
                  <a:srgbClr val="FF0000"/>
                </a:highlight>
              </a:rPr>
              <a:t>extends</a:t>
            </a:r>
            <a:r>
              <a:rPr lang="en-US" altLang="en-US" sz="4400" dirty="0">
                <a:solidFill>
                  <a:srgbClr val="000000"/>
                </a:solidFill>
              </a:rPr>
              <a:t> </a:t>
            </a:r>
            <a:r>
              <a:rPr lang="en-US" altLang="en-US" sz="2800" dirty="0">
                <a:solidFill>
                  <a:srgbClr val="000000"/>
                </a:solidFill>
              </a:rPr>
              <a:t>class </a:t>
            </a:r>
            <a:r>
              <a:rPr lang="en-US" altLang="en-US" sz="2800" b="1" dirty="0" err="1">
                <a:solidFill>
                  <a:srgbClr val="000000"/>
                </a:solidFill>
                <a:latin typeface="Consolas" panose="020B0609020204030204" pitchFamily="49" charset="0"/>
              </a:rPr>
              <a:t>CommissionEmployee</a:t>
            </a:r>
            <a:endParaRPr lang="en-US" altLang="en-US" sz="2800" b="1" dirty="0">
              <a:solidFill>
                <a:srgbClr val="000000"/>
              </a:solidFill>
            </a:endParaRPr>
          </a:p>
          <a:p>
            <a:pPr eaLnBrk="1" hangingPunct="1">
              <a:lnSpc>
                <a:spcPct val="90000"/>
              </a:lnSpc>
            </a:pPr>
            <a:r>
              <a:rPr lang="en-US" altLang="en-US" sz="2800" dirty="0">
                <a:solidFill>
                  <a:srgbClr val="000000"/>
                </a:solidFill>
              </a:rPr>
              <a:t>A </a:t>
            </a:r>
            <a:r>
              <a:rPr lang="en-US" altLang="en-US" sz="2800" dirty="0" err="1">
                <a:solidFill>
                  <a:srgbClr val="000000"/>
                </a:solidFill>
                <a:latin typeface="Consolas" panose="020B0609020204030204" pitchFamily="49" charset="0"/>
              </a:rPr>
              <a:t>BasePlusCommissionEmployee</a:t>
            </a:r>
            <a:r>
              <a:rPr lang="en-US" altLang="en-US" sz="2800" dirty="0">
                <a:solidFill>
                  <a:srgbClr val="000000"/>
                </a:solidFill>
              </a:rPr>
              <a:t> object </a:t>
            </a:r>
            <a:r>
              <a:rPr lang="en-US" altLang="en-US" sz="2800" i="1" dirty="0">
                <a:solidFill>
                  <a:srgbClr val="000000"/>
                </a:solidFill>
              </a:rPr>
              <a:t>is a </a:t>
            </a:r>
            <a:r>
              <a:rPr lang="en-US" altLang="en-US" sz="2800" dirty="0" err="1">
                <a:solidFill>
                  <a:srgbClr val="000000"/>
                </a:solidFill>
                <a:latin typeface="Consolas" panose="020B0609020204030204" pitchFamily="49" charset="0"/>
              </a:rPr>
              <a:t>CommissionEmployee</a:t>
            </a:r>
            <a:endParaRPr lang="en-US" altLang="en-US" sz="2800" dirty="0">
              <a:solidFill>
                <a:srgbClr val="000000"/>
              </a:solidFill>
            </a:endParaRPr>
          </a:p>
          <a:p>
            <a:pPr lvl="1" eaLnBrk="1" hangingPunct="1">
              <a:lnSpc>
                <a:spcPct val="90000"/>
              </a:lnSpc>
            </a:pPr>
            <a:r>
              <a:rPr lang="en-US" altLang="en-US" sz="2400" dirty="0">
                <a:solidFill>
                  <a:srgbClr val="000000"/>
                </a:solidFill>
              </a:rPr>
              <a:t>Inheritance passes on class </a:t>
            </a:r>
            <a:r>
              <a:rPr lang="en-US" altLang="en-US" sz="2400" dirty="0" err="1">
                <a:solidFill>
                  <a:srgbClr val="000000"/>
                </a:solidFill>
                <a:latin typeface="Consolas" panose="020B0609020204030204" pitchFamily="49" charset="0"/>
              </a:rPr>
              <a:t>CommissionEmployee</a:t>
            </a:r>
            <a:r>
              <a:rPr lang="en-US" altLang="en-US" sz="2400" dirty="0" err="1">
                <a:solidFill>
                  <a:srgbClr val="000000"/>
                </a:solidFill>
              </a:rPr>
              <a:t>’s</a:t>
            </a:r>
            <a:r>
              <a:rPr lang="en-US" altLang="en-US" sz="2400" dirty="0">
                <a:solidFill>
                  <a:srgbClr val="000000"/>
                </a:solidFill>
              </a:rPr>
              <a:t> capabilities. </a:t>
            </a:r>
          </a:p>
          <a:p>
            <a:pPr eaLnBrk="1" hangingPunct="1">
              <a:lnSpc>
                <a:spcPct val="90000"/>
              </a:lnSpc>
            </a:pPr>
            <a:r>
              <a:rPr lang="en-US" altLang="en-US" sz="2800" dirty="0">
                <a:solidFill>
                  <a:srgbClr val="000000"/>
                </a:solidFill>
              </a:rPr>
              <a:t>Class </a:t>
            </a:r>
            <a:r>
              <a:rPr lang="en-US" altLang="en-US" sz="2800" dirty="0" err="1">
                <a:solidFill>
                  <a:srgbClr val="000000"/>
                </a:solidFill>
                <a:latin typeface="Consolas" panose="020B0609020204030204" pitchFamily="49" charset="0"/>
              </a:rPr>
              <a:t>BasePlusCommissionEmployee</a:t>
            </a:r>
            <a:r>
              <a:rPr lang="en-US" altLang="en-US" sz="2800" dirty="0">
                <a:solidFill>
                  <a:srgbClr val="000000"/>
                </a:solidFill>
              </a:rPr>
              <a:t> also has instance variable </a:t>
            </a:r>
            <a:r>
              <a:rPr lang="en-US" altLang="en-US" sz="2800" dirty="0" err="1">
                <a:solidFill>
                  <a:srgbClr val="000000"/>
                </a:solidFill>
                <a:latin typeface="Consolas" panose="020B0609020204030204" pitchFamily="49" charset="0"/>
              </a:rPr>
              <a:t>baseSalary</a:t>
            </a:r>
            <a:r>
              <a:rPr lang="en-US" altLang="en-US" sz="2800" dirty="0">
                <a:solidFill>
                  <a:srgbClr val="000000"/>
                </a:solidFill>
              </a:rPr>
              <a:t>.</a:t>
            </a:r>
          </a:p>
          <a:p>
            <a:pPr eaLnBrk="1" hangingPunct="1">
              <a:lnSpc>
                <a:spcPct val="90000"/>
              </a:lnSpc>
            </a:pPr>
            <a:r>
              <a:rPr lang="en-US" altLang="en-US" sz="2800" dirty="0">
                <a:solidFill>
                  <a:srgbClr val="000000"/>
                </a:solidFill>
              </a:rPr>
              <a:t>Subclass </a:t>
            </a:r>
            <a:r>
              <a:rPr lang="en-US" altLang="en-US" sz="2800" dirty="0" err="1">
                <a:solidFill>
                  <a:srgbClr val="000000"/>
                </a:solidFill>
                <a:latin typeface="Consolas" panose="020B0609020204030204" pitchFamily="49" charset="0"/>
              </a:rPr>
              <a:t>BasePlusCommissionEmployee</a:t>
            </a:r>
            <a:r>
              <a:rPr lang="en-US" altLang="en-US" sz="2800" dirty="0">
                <a:solidFill>
                  <a:srgbClr val="000000"/>
                </a:solidFill>
              </a:rPr>
              <a:t> inherits </a:t>
            </a:r>
            <a:r>
              <a:rPr lang="en-US" altLang="en-US" sz="2800" dirty="0" err="1">
                <a:solidFill>
                  <a:srgbClr val="000000"/>
                </a:solidFill>
                <a:latin typeface="Consolas" panose="020B0609020204030204" pitchFamily="49" charset="0"/>
              </a:rPr>
              <a:t>CommissionEmployee</a:t>
            </a:r>
            <a:r>
              <a:rPr lang="en-US" altLang="en-US" sz="2800" dirty="0" err="1">
                <a:solidFill>
                  <a:srgbClr val="000000"/>
                </a:solidFill>
              </a:rPr>
              <a:t>’s</a:t>
            </a:r>
            <a:r>
              <a:rPr lang="en-US" altLang="en-US" sz="2800" dirty="0">
                <a:solidFill>
                  <a:srgbClr val="000000"/>
                </a:solidFill>
              </a:rPr>
              <a:t> instance variables and methods</a:t>
            </a:r>
          </a:p>
          <a:p>
            <a:pPr lvl="1" eaLnBrk="1" hangingPunct="1">
              <a:lnSpc>
                <a:spcPct val="90000"/>
              </a:lnSpc>
            </a:pPr>
            <a:r>
              <a:rPr lang="en-US" altLang="en-US" sz="2400" dirty="0">
                <a:solidFill>
                  <a:srgbClr val="000000"/>
                </a:solidFill>
              </a:rPr>
              <a:t>Only </a:t>
            </a:r>
            <a:r>
              <a:rPr lang="en-US" altLang="en-US" sz="2800" dirty="0" err="1">
                <a:solidFill>
                  <a:srgbClr val="000000"/>
                </a:solidFill>
                <a:latin typeface="Consolas" panose="020B0609020204030204" pitchFamily="49" charset="0"/>
              </a:rPr>
              <a:t>CommissionEmployee</a:t>
            </a:r>
            <a:r>
              <a:rPr lang="en-US" altLang="en-US" sz="2800" dirty="0" err="1">
                <a:solidFill>
                  <a:srgbClr val="000000"/>
                </a:solidFill>
              </a:rPr>
              <a:t>’s</a:t>
            </a:r>
            <a:r>
              <a:rPr lang="en-US" altLang="en-US" sz="2800" dirty="0">
                <a:solidFill>
                  <a:srgbClr val="000000"/>
                </a:solidFill>
              </a:rPr>
              <a:t> </a:t>
            </a:r>
            <a:r>
              <a:rPr lang="en-US" altLang="en-US" sz="2400" dirty="0">
                <a:solidFill>
                  <a:srgbClr val="000000"/>
                </a:solidFill>
                <a:latin typeface="Consolas" panose="020B0609020204030204" pitchFamily="49" charset="0"/>
              </a:rPr>
              <a:t>public</a:t>
            </a:r>
            <a:r>
              <a:rPr lang="en-US" altLang="en-US" sz="2400" dirty="0">
                <a:solidFill>
                  <a:srgbClr val="000000"/>
                </a:solidFill>
              </a:rPr>
              <a:t> and </a:t>
            </a:r>
            <a:r>
              <a:rPr lang="en-US" altLang="en-US" sz="2400" dirty="0">
                <a:solidFill>
                  <a:srgbClr val="000000"/>
                </a:solidFill>
                <a:latin typeface="Consolas" panose="020B0609020204030204" pitchFamily="49" charset="0"/>
              </a:rPr>
              <a:t>protected</a:t>
            </a:r>
            <a:r>
              <a:rPr lang="en-US" altLang="en-US" sz="2400" dirty="0">
                <a:solidFill>
                  <a:srgbClr val="000000"/>
                </a:solidFill>
              </a:rPr>
              <a:t> members are directly accessible in the subclass. </a:t>
            </a:r>
          </a:p>
        </p:txBody>
      </p:sp>
      <p:sp>
        <p:nvSpPr>
          <p:cNvPr id="4" name="Footer Placeholder 3">
            <a:extLst>
              <a:ext uri="{FF2B5EF4-FFF2-40B4-BE49-F238E27FC236}">
                <a16:creationId xmlns:a16="http://schemas.microsoft.com/office/drawing/2014/main" id="{43566957-FF2C-4679-842C-D99F7556768C}"/>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8201514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5">
            <a:extLst>
              <a:ext uri="{FF2B5EF4-FFF2-40B4-BE49-F238E27FC236}">
                <a16:creationId xmlns:a16="http://schemas.microsoft.com/office/drawing/2014/main" id="{442304F1-8969-4695-8ED6-8DFBA257259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68338"/>
            <a:ext cx="12192000" cy="5521325"/>
          </a:xfrm>
          <a:prstGeom prst="rect">
            <a:avLst/>
          </a:prstGeom>
        </p:spPr>
      </p:pic>
      <p:sp>
        <p:nvSpPr>
          <p:cNvPr id="2" name="Footer Placeholder 1">
            <a:extLst>
              <a:ext uri="{FF2B5EF4-FFF2-40B4-BE49-F238E27FC236}">
                <a16:creationId xmlns:a16="http://schemas.microsoft.com/office/drawing/2014/main" id="{D383B7CB-DE53-463A-819E-BCDD2DD21E9A}"/>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7471142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6">
            <a:extLst>
              <a:ext uri="{FF2B5EF4-FFF2-40B4-BE49-F238E27FC236}">
                <a16:creationId xmlns:a16="http://schemas.microsoft.com/office/drawing/2014/main" id="{93393C05-48EA-4B9D-8DBE-B59D22FDDE3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74825"/>
            <a:ext cx="12192000" cy="3306763"/>
          </a:xfrm>
          <a:prstGeom prst="rect">
            <a:avLst/>
          </a:prstGeom>
        </p:spPr>
      </p:pic>
      <p:sp>
        <p:nvSpPr>
          <p:cNvPr id="2" name="Footer Placeholder 1">
            <a:extLst>
              <a:ext uri="{FF2B5EF4-FFF2-40B4-BE49-F238E27FC236}">
                <a16:creationId xmlns:a16="http://schemas.microsoft.com/office/drawing/2014/main" id="{53F9E446-C669-437F-921A-9000455B9B23}"/>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9109671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7">
            <a:extLst>
              <a:ext uri="{FF2B5EF4-FFF2-40B4-BE49-F238E27FC236}">
                <a16:creationId xmlns:a16="http://schemas.microsoft.com/office/drawing/2014/main" id="{A73282EA-2350-478B-9525-10CA0DDB0158}"/>
              </a:ext>
            </a:extLst>
          </p:cNvPr>
          <p:cNvPicPr>
            <a:picLocks noGrp="1" noChangeAspect="1"/>
          </p:cNvPicPr>
          <p:nvPr isPhoto="1"/>
        </p:nvPicPr>
        <p:blipFill>
          <a:blip r:embed="rId3">
            <a:lum/>
            <a:extLst>
              <a:ext uri="{28A0092B-C50C-407E-A947-70E740481C1C}">
                <a14:useLocalDpi xmlns:a14="http://schemas.microsoft.com/office/drawing/2010/main" val="0"/>
              </a:ext>
            </a:extLst>
          </a:blip>
          <a:stretch>
            <a:fillRect/>
          </a:stretch>
        </p:blipFill>
        <p:spPr>
          <a:xfrm>
            <a:off x="647700" y="0"/>
            <a:ext cx="10896600" cy="6858000"/>
          </a:xfrm>
          <a:prstGeom prst="rect">
            <a:avLst/>
          </a:prstGeom>
        </p:spPr>
      </p:pic>
      <p:sp>
        <p:nvSpPr>
          <p:cNvPr id="2" name="Footer Placeholder 1">
            <a:extLst>
              <a:ext uri="{FF2B5EF4-FFF2-40B4-BE49-F238E27FC236}">
                <a16:creationId xmlns:a16="http://schemas.microsoft.com/office/drawing/2014/main" id="{6AD29169-2D3D-457F-8FDC-FC8E1E5500C1}"/>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41946125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8">
            <a:extLst>
              <a:ext uri="{FF2B5EF4-FFF2-40B4-BE49-F238E27FC236}">
                <a16:creationId xmlns:a16="http://schemas.microsoft.com/office/drawing/2014/main" id="{2B81CB4B-FECA-45A3-813F-7B910D422864}"/>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608013"/>
            <a:ext cx="12192000" cy="5641975"/>
          </a:xfrm>
          <a:prstGeom prst="rect">
            <a:avLst/>
          </a:prstGeom>
        </p:spPr>
      </p:pic>
      <p:sp>
        <p:nvSpPr>
          <p:cNvPr id="2" name="Footer Placeholder 1">
            <a:extLst>
              <a:ext uri="{FF2B5EF4-FFF2-40B4-BE49-F238E27FC236}">
                <a16:creationId xmlns:a16="http://schemas.microsoft.com/office/drawing/2014/main" id="{17DC692F-5587-4F0B-BD37-ECA5F5641493}"/>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4707962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39">
            <a:extLst>
              <a:ext uri="{FF2B5EF4-FFF2-40B4-BE49-F238E27FC236}">
                <a16:creationId xmlns:a16="http://schemas.microsoft.com/office/drawing/2014/main" id="{B3952CF6-C528-46DC-837E-D3067FA944E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31800" y="0"/>
            <a:ext cx="11328400" cy="6858000"/>
          </a:xfrm>
          <a:prstGeom prst="rect">
            <a:avLst/>
          </a:prstGeom>
        </p:spPr>
      </p:pic>
      <p:sp>
        <p:nvSpPr>
          <p:cNvPr id="2" name="Footer Placeholder 1">
            <a:extLst>
              <a:ext uri="{FF2B5EF4-FFF2-40B4-BE49-F238E27FC236}">
                <a16:creationId xmlns:a16="http://schemas.microsoft.com/office/drawing/2014/main" id="{58A645DA-0777-40F9-8F6D-A99D03A2442D}"/>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5817798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40">
            <a:extLst>
              <a:ext uri="{FF2B5EF4-FFF2-40B4-BE49-F238E27FC236}">
                <a16:creationId xmlns:a16="http://schemas.microsoft.com/office/drawing/2014/main" id="{0A600CA6-F398-49D2-9E2A-3B0392EBD13C}"/>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1438"/>
            <a:ext cx="12192000" cy="6713537"/>
          </a:xfrm>
          <a:prstGeom prst="rect">
            <a:avLst/>
          </a:prstGeom>
        </p:spPr>
      </p:pic>
      <p:sp>
        <p:nvSpPr>
          <p:cNvPr id="2" name="Footer Placeholder 1">
            <a:extLst>
              <a:ext uri="{FF2B5EF4-FFF2-40B4-BE49-F238E27FC236}">
                <a16:creationId xmlns:a16="http://schemas.microsoft.com/office/drawing/2014/main" id="{ADB7A3A0-4C10-432E-B129-9577A5536AFB}"/>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5836689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41">
            <a:extLst>
              <a:ext uri="{FF2B5EF4-FFF2-40B4-BE49-F238E27FC236}">
                <a16:creationId xmlns:a16="http://schemas.microsoft.com/office/drawing/2014/main" id="{0F0A69CB-4A49-46D2-8867-4F41F215AAC8}"/>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752475"/>
            <a:ext cx="12192000" cy="5353050"/>
          </a:xfrm>
          <a:prstGeom prst="rect">
            <a:avLst/>
          </a:prstGeom>
        </p:spPr>
      </p:pic>
      <p:sp>
        <p:nvSpPr>
          <p:cNvPr id="2" name="Footer Placeholder 1">
            <a:extLst>
              <a:ext uri="{FF2B5EF4-FFF2-40B4-BE49-F238E27FC236}">
                <a16:creationId xmlns:a16="http://schemas.microsoft.com/office/drawing/2014/main" id="{70682E78-2005-49F3-B38E-4B42D035329F}"/>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2880669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0FCA3-CB73-4584-B91B-83390675677E}"/>
              </a:ext>
            </a:extLst>
          </p:cNvPr>
          <p:cNvSpPr>
            <a:spLocks noGrp="1"/>
          </p:cNvSpPr>
          <p:nvPr>
            <p:ph type="title"/>
          </p:nvPr>
        </p:nvSpPr>
        <p:spPr>
          <a:xfrm>
            <a:off x="609600" y="274638"/>
            <a:ext cx="10972800" cy="721955"/>
          </a:xfrm>
        </p:spPr>
        <p:txBody>
          <a:bodyPr>
            <a:normAutofit fontScale="90000"/>
          </a:bodyPr>
          <a:lstStyle/>
          <a:p>
            <a:pPr fontAlgn="auto">
              <a:spcAft>
                <a:spcPts val="0"/>
              </a:spcAft>
              <a:defRPr/>
            </a:pPr>
            <a:r>
              <a:rPr lang="en-US" dirty="0">
                <a:solidFill>
                  <a:srgbClr val="59D9B3"/>
                </a:solidFill>
                <a:latin typeface="Calibri" panose="020F0502020204030204" pitchFamily="34" charset="0"/>
              </a:rPr>
              <a:t>9.4.3 </a:t>
            </a:r>
            <a:r>
              <a:rPr lang="en-US" dirty="0">
                <a:solidFill>
                  <a:srgbClr val="33B38C"/>
                </a:solidFill>
                <a:latin typeface="Calibri" panose="020F0502020204030204" pitchFamily="34" charset="0"/>
              </a:rPr>
              <a:t>Creating a </a:t>
            </a:r>
            <a:r>
              <a:rPr lang="en-US" dirty="0" err="1">
                <a:solidFill>
                  <a:srgbClr val="33B38C"/>
                </a:solidFill>
                <a:latin typeface="Consolas" panose="020B0609020204030204" pitchFamily="49" charset="0"/>
              </a:rPr>
              <a:t>CommissionEmployee</a:t>
            </a:r>
            <a:r>
              <a:rPr lang="en-US" dirty="0" err="1">
                <a:solidFill>
                  <a:srgbClr val="33B38C"/>
                </a:solidFill>
                <a:latin typeface="Calibri" panose="020F0502020204030204" pitchFamily="34" charset="0"/>
              </a:rPr>
              <a:t>–</a:t>
            </a:r>
            <a:r>
              <a:rPr lang="en-US" dirty="0" err="1">
                <a:solidFill>
                  <a:srgbClr val="33B38C"/>
                </a:solidFill>
                <a:latin typeface="Consolas" panose="020B0609020204030204" pitchFamily="49" charset="0"/>
              </a:rPr>
              <a:t>BasePlusCommissionEmployee</a:t>
            </a:r>
            <a:r>
              <a:rPr lang="en-US" dirty="0">
                <a:solidFill>
                  <a:srgbClr val="33B38C"/>
                </a:solidFill>
                <a:latin typeface="Calibri" panose="020F0502020204030204" pitchFamily="34" charset="0"/>
              </a:rPr>
              <a:t> Inheritance Hierarchy (Cont.)</a:t>
            </a:r>
          </a:p>
        </p:txBody>
      </p:sp>
      <p:sp>
        <p:nvSpPr>
          <p:cNvPr id="66563" name="Text Placeholder 2">
            <a:extLst>
              <a:ext uri="{FF2B5EF4-FFF2-40B4-BE49-F238E27FC236}">
                <a16:creationId xmlns:a16="http://schemas.microsoft.com/office/drawing/2014/main" id="{AFC3AB2F-858F-4EB7-8D73-00F987F26384}"/>
              </a:ext>
            </a:extLst>
          </p:cNvPr>
          <p:cNvSpPr>
            <a:spLocks noGrp="1"/>
          </p:cNvSpPr>
          <p:nvPr>
            <p:ph type="body" idx="1"/>
          </p:nvPr>
        </p:nvSpPr>
        <p:spPr>
          <a:xfrm>
            <a:off x="609600" y="1166018"/>
            <a:ext cx="10500188" cy="4525963"/>
          </a:xfrm>
        </p:spPr>
        <p:txBody>
          <a:bodyPr/>
          <a:lstStyle/>
          <a:p>
            <a:pPr eaLnBrk="1" hangingPunct="1">
              <a:spcBef>
                <a:spcPts val="1200"/>
              </a:spcBef>
            </a:pPr>
            <a:r>
              <a:rPr lang="en-US" altLang="en-US" sz="2500" dirty="0">
                <a:solidFill>
                  <a:srgbClr val="000000"/>
                </a:solidFill>
              </a:rPr>
              <a:t>Each subclass constructor must implicitly or explicitly call one of its superclass’s constructors to initialize the instance variables inherited from the superclass. </a:t>
            </a:r>
          </a:p>
          <a:p>
            <a:pPr lvl="1" eaLnBrk="1" hangingPunct="1">
              <a:spcBef>
                <a:spcPts val="1200"/>
              </a:spcBef>
            </a:pPr>
            <a:r>
              <a:rPr lang="en-US" altLang="en-US" sz="2100" dirty="0">
                <a:solidFill>
                  <a:srgbClr val="0000FF"/>
                </a:solidFill>
              </a:rPr>
              <a:t>Superclass constructor call syntax</a:t>
            </a:r>
            <a:r>
              <a:rPr lang="en-US" altLang="en-US" sz="2100" dirty="0">
                <a:solidFill>
                  <a:srgbClr val="000000"/>
                </a:solidFill>
              </a:rPr>
              <a:t>—keyword </a:t>
            </a:r>
            <a:r>
              <a:rPr lang="en-US" altLang="en-US" sz="2100" dirty="0">
                <a:solidFill>
                  <a:srgbClr val="000000"/>
                </a:solidFill>
                <a:latin typeface="Consolas" panose="020B0609020204030204" pitchFamily="49" charset="0"/>
              </a:rPr>
              <a:t>super</a:t>
            </a:r>
            <a:r>
              <a:rPr lang="en-US" altLang="en-US" sz="2100" dirty="0">
                <a:solidFill>
                  <a:srgbClr val="000000"/>
                </a:solidFill>
              </a:rPr>
              <a:t>, followed by a set of parentheses containing the superclass constructor arguments. </a:t>
            </a:r>
          </a:p>
          <a:p>
            <a:pPr lvl="1" eaLnBrk="1" hangingPunct="1">
              <a:spcBef>
                <a:spcPts val="1200"/>
              </a:spcBef>
            </a:pPr>
            <a:r>
              <a:rPr lang="en-US" altLang="en-US" sz="2100" dirty="0">
                <a:solidFill>
                  <a:srgbClr val="000000"/>
                </a:solidFill>
              </a:rPr>
              <a:t>Must be the </a:t>
            </a:r>
            <a:r>
              <a:rPr lang="en-US" altLang="en-US" sz="2100" i="1" dirty="0">
                <a:solidFill>
                  <a:srgbClr val="000000"/>
                </a:solidFill>
              </a:rPr>
              <a:t>first</a:t>
            </a:r>
            <a:r>
              <a:rPr lang="en-US" altLang="en-US" sz="2100" dirty="0">
                <a:solidFill>
                  <a:srgbClr val="000000"/>
                </a:solidFill>
              </a:rPr>
              <a:t> statement in the constructor’s body. </a:t>
            </a:r>
          </a:p>
          <a:p>
            <a:pPr eaLnBrk="1" hangingPunct="1">
              <a:spcBef>
                <a:spcPts val="1200"/>
              </a:spcBef>
            </a:pPr>
            <a:r>
              <a:rPr lang="en-US" altLang="en-US" sz="2500" dirty="0">
                <a:solidFill>
                  <a:srgbClr val="000000"/>
                </a:solidFill>
              </a:rPr>
              <a:t>If the subclass constructor did not invoke the superclass’s constructor explicitly, the compiler would attempt to insert a call to the superclass’s default or no-argument constructor. </a:t>
            </a:r>
          </a:p>
          <a:p>
            <a:pPr lvl="1" eaLnBrk="1" hangingPunct="1">
              <a:spcBef>
                <a:spcPts val="1200"/>
              </a:spcBef>
            </a:pPr>
            <a:r>
              <a:rPr lang="en-US" altLang="en-US" sz="2100" dirty="0">
                <a:solidFill>
                  <a:srgbClr val="000000"/>
                </a:solidFill>
              </a:rPr>
              <a:t>Class </a:t>
            </a:r>
            <a:r>
              <a:rPr lang="en-US" altLang="en-US" sz="2100" dirty="0" err="1">
                <a:solidFill>
                  <a:srgbClr val="000000"/>
                </a:solidFill>
                <a:latin typeface="Consolas" panose="020B0609020204030204" pitchFamily="49" charset="0"/>
              </a:rPr>
              <a:t>CommissionEmployee</a:t>
            </a:r>
            <a:r>
              <a:rPr lang="en-US" altLang="en-US" sz="2100" dirty="0">
                <a:solidFill>
                  <a:srgbClr val="000000"/>
                </a:solidFill>
              </a:rPr>
              <a:t> does not have such a constructor, so the compiler would issue an error. </a:t>
            </a:r>
          </a:p>
          <a:p>
            <a:pPr eaLnBrk="1" hangingPunct="1">
              <a:spcBef>
                <a:spcPts val="1200"/>
              </a:spcBef>
            </a:pPr>
            <a:r>
              <a:rPr lang="en-US" altLang="en-US" sz="2500" dirty="0">
                <a:solidFill>
                  <a:srgbClr val="000000"/>
                </a:solidFill>
              </a:rPr>
              <a:t>You can explicitly use </a:t>
            </a:r>
            <a:r>
              <a:rPr lang="en-US" altLang="en-US" sz="2500" dirty="0">
                <a:solidFill>
                  <a:srgbClr val="000000"/>
                </a:solidFill>
                <a:latin typeface="Consolas" panose="020B0609020204030204" pitchFamily="49" charset="0"/>
              </a:rPr>
              <a:t>super()</a:t>
            </a:r>
            <a:r>
              <a:rPr lang="en-US" altLang="en-US" sz="2500" dirty="0">
                <a:solidFill>
                  <a:srgbClr val="000000"/>
                </a:solidFill>
              </a:rPr>
              <a:t> to call the superclass’s no-argument or default constructor, but this is rarely done.</a:t>
            </a:r>
          </a:p>
        </p:txBody>
      </p:sp>
    </p:spTree>
    <p:extLst>
      <p:ext uri="{BB962C8B-B14F-4D97-AF65-F5344CB8AC3E}">
        <p14:creationId xmlns:p14="http://schemas.microsoft.com/office/powerpoint/2010/main" val="31620239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ECDEC-28FC-4AB8-A902-90E6231AF3B8}"/>
              </a:ext>
            </a:extLst>
          </p:cNvPr>
          <p:cNvSpPr>
            <a:spLocks noGrp="1"/>
          </p:cNvSpPr>
          <p:nvPr>
            <p:ph type="title"/>
          </p:nvPr>
        </p:nvSpPr>
        <p:spPr/>
        <p:txBody>
          <a:bodyPr>
            <a:normAutofit fontScale="90000"/>
          </a:bodyPr>
          <a:lstStyle/>
          <a:p>
            <a:pPr fontAlgn="auto">
              <a:spcAft>
                <a:spcPts val="0"/>
              </a:spcAft>
              <a:defRPr/>
            </a:pPr>
            <a:r>
              <a:rPr lang="en-US" dirty="0">
                <a:solidFill>
                  <a:srgbClr val="59D9B3"/>
                </a:solidFill>
                <a:latin typeface="Calibri" panose="020F0502020204030204" pitchFamily="34" charset="0"/>
              </a:rPr>
              <a:t>9.4.3 </a:t>
            </a:r>
            <a:r>
              <a:rPr lang="en-US" dirty="0">
                <a:solidFill>
                  <a:srgbClr val="33B38C"/>
                </a:solidFill>
                <a:latin typeface="Calibri" panose="020F0502020204030204" pitchFamily="34" charset="0"/>
              </a:rPr>
              <a:t>Creating a </a:t>
            </a:r>
            <a:r>
              <a:rPr lang="en-US" dirty="0" err="1">
                <a:solidFill>
                  <a:srgbClr val="33B38C"/>
                </a:solidFill>
                <a:latin typeface="Consolas" panose="020B0609020204030204" pitchFamily="49" charset="0"/>
              </a:rPr>
              <a:t>CommissionEmployee</a:t>
            </a:r>
            <a:r>
              <a:rPr lang="en-US" dirty="0" err="1">
                <a:solidFill>
                  <a:srgbClr val="33B38C"/>
                </a:solidFill>
                <a:latin typeface="Calibri" panose="020F0502020204030204" pitchFamily="34" charset="0"/>
              </a:rPr>
              <a:t>–</a:t>
            </a:r>
            <a:r>
              <a:rPr lang="en-US" dirty="0" err="1">
                <a:solidFill>
                  <a:srgbClr val="33B38C"/>
                </a:solidFill>
                <a:latin typeface="Consolas" panose="020B0609020204030204" pitchFamily="49" charset="0"/>
              </a:rPr>
              <a:t>BasePlusCommissionEmployee</a:t>
            </a:r>
            <a:r>
              <a:rPr lang="en-US" dirty="0">
                <a:solidFill>
                  <a:srgbClr val="33B38C"/>
                </a:solidFill>
                <a:latin typeface="Calibri" panose="020F0502020204030204" pitchFamily="34" charset="0"/>
              </a:rPr>
              <a:t> Inheritance Hierarchy (Cont.)</a:t>
            </a:r>
          </a:p>
        </p:txBody>
      </p:sp>
      <p:sp>
        <p:nvSpPr>
          <p:cNvPr id="68611" name="Text Placeholder 2">
            <a:extLst>
              <a:ext uri="{FF2B5EF4-FFF2-40B4-BE49-F238E27FC236}">
                <a16:creationId xmlns:a16="http://schemas.microsoft.com/office/drawing/2014/main" id="{B8A5F9D3-1EB6-4513-9E7E-B8B32902A25B}"/>
              </a:ext>
            </a:extLst>
          </p:cNvPr>
          <p:cNvSpPr>
            <a:spLocks noGrp="1"/>
          </p:cNvSpPr>
          <p:nvPr>
            <p:ph type="body" idx="1"/>
          </p:nvPr>
        </p:nvSpPr>
        <p:spPr>
          <a:xfrm>
            <a:off x="1981200" y="1798638"/>
            <a:ext cx="8229600" cy="4525962"/>
          </a:xfrm>
        </p:spPr>
        <p:txBody>
          <a:bodyPr/>
          <a:lstStyle/>
          <a:p>
            <a:pPr eaLnBrk="1" hangingPunct="1"/>
            <a:r>
              <a:rPr lang="en-US" altLang="en-US" dirty="0">
                <a:solidFill>
                  <a:srgbClr val="000000"/>
                </a:solidFill>
              </a:rPr>
              <a:t>Compilation errors occur when the subclass attempts to access the superclass’s </a:t>
            </a:r>
            <a:r>
              <a:rPr lang="en-US" altLang="en-US" dirty="0">
                <a:solidFill>
                  <a:srgbClr val="000000"/>
                </a:solidFill>
                <a:latin typeface="Consolas" panose="020B0609020204030204" pitchFamily="49" charset="0"/>
              </a:rPr>
              <a:t>private</a:t>
            </a:r>
            <a:r>
              <a:rPr lang="en-US" altLang="en-US" dirty="0">
                <a:solidFill>
                  <a:srgbClr val="000000"/>
                </a:solidFill>
              </a:rPr>
              <a:t> instance variables.</a:t>
            </a:r>
          </a:p>
          <a:p>
            <a:pPr eaLnBrk="1" hangingPunct="1"/>
            <a:r>
              <a:rPr lang="en-US" altLang="en-US" dirty="0">
                <a:solidFill>
                  <a:srgbClr val="000000"/>
                </a:solidFill>
              </a:rPr>
              <a:t>These lines could have used appropriate </a:t>
            </a:r>
            <a:r>
              <a:rPr lang="en-US" altLang="en-US" i="1" dirty="0">
                <a:solidFill>
                  <a:srgbClr val="000000"/>
                </a:solidFill>
              </a:rPr>
              <a:t>get </a:t>
            </a:r>
            <a:r>
              <a:rPr lang="en-US" altLang="en-US" dirty="0">
                <a:solidFill>
                  <a:srgbClr val="000000"/>
                </a:solidFill>
              </a:rPr>
              <a:t>methods to retrieve the values of the superclass’s instance variables. </a:t>
            </a:r>
          </a:p>
        </p:txBody>
      </p:sp>
      <p:sp>
        <p:nvSpPr>
          <p:cNvPr id="4" name="Footer Placeholder 3">
            <a:extLst>
              <a:ext uri="{FF2B5EF4-FFF2-40B4-BE49-F238E27FC236}">
                <a16:creationId xmlns:a16="http://schemas.microsoft.com/office/drawing/2014/main" id="{6E7D043F-91BE-49C1-9FA4-1B3C6C4B1DF3}"/>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4114078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75432-227B-4535-864B-4F676F9504ED}"/>
              </a:ext>
            </a:extLst>
          </p:cNvPr>
          <p:cNvSpPr>
            <a:spLocks noGrp="1"/>
          </p:cNvSpPr>
          <p:nvPr>
            <p:ph type="title"/>
          </p:nvPr>
        </p:nvSpPr>
        <p:spPr/>
        <p:txBody>
          <a:bodyPr>
            <a:noAutofit/>
          </a:bodyPr>
          <a:lstStyle/>
          <a:p>
            <a:pPr fontAlgn="auto">
              <a:spcAft>
                <a:spcPts val="0"/>
              </a:spcAft>
              <a:defRPr/>
            </a:pPr>
            <a:r>
              <a:rPr lang="en-US" sz="2800" dirty="0">
                <a:solidFill>
                  <a:srgbClr val="59D9B3"/>
                </a:solidFill>
                <a:latin typeface="Calibri" panose="020F0502020204030204" pitchFamily="34" charset="0"/>
              </a:rPr>
              <a:t>9.4.4 </a:t>
            </a:r>
            <a:r>
              <a:rPr lang="en-US" sz="2800" dirty="0" err="1">
                <a:solidFill>
                  <a:srgbClr val="33B38C"/>
                </a:solidFill>
                <a:latin typeface="Consolas" panose="020B0609020204030204" pitchFamily="49" charset="0"/>
              </a:rPr>
              <a:t>CommissionEmployee</a:t>
            </a:r>
            <a:r>
              <a:rPr lang="en-US" sz="2800" dirty="0" err="1">
                <a:solidFill>
                  <a:srgbClr val="33B38C"/>
                </a:solidFill>
                <a:latin typeface="Calibri" panose="020F0502020204030204" pitchFamily="34" charset="0"/>
              </a:rPr>
              <a:t>–</a:t>
            </a:r>
            <a:r>
              <a:rPr lang="en-US" sz="2800" dirty="0" err="1">
                <a:solidFill>
                  <a:srgbClr val="33B38C"/>
                </a:solidFill>
                <a:latin typeface="Consolas" panose="020B0609020204030204" pitchFamily="49" charset="0"/>
              </a:rPr>
              <a:t>BasePlusCommissionEmployee</a:t>
            </a:r>
            <a:r>
              <a:rPr lang="en-US" sz="2800" dirty="0">
                <a:solidFill>
                  <a:srgbClr val="33B38C"/>
                </a:solidFill>
                <a:latin typeface="Calibri" panose="020F0502020204030204" pitchFamily="34" charset="0"/>
              </a:rPr>
              <a:t> Inheritance Hierarchy Using </a:t>
            </a:r>
            <a:r>
              <a:rPr lang="en-US" sz="2800" dirty="0">
                <a:solidFill>
                  <a:srgbClr val="33B38C"/>
                </a:solidFill>
                <a:latin typeface="Consolas" panose="020B0609020204030204" pitchFamily="49" charset="0"/>
              </a:rPr>
              <a:t>protected</a:t>
            </a:r>
            <a:r>
              <a:rPr lang="en-US" sz="2800" dirty="0">
                <a:solidFill>
                  <a:srgbClr val="33B38C"/>
                </a:solidFill>
                <a:latin typeface="Calibri" panose="020F0502020204030204" pitchFamily="34" charset="0"/>
              </a:rPr>
              <a:t> Instance Variables</a:t>
            </a:r>
          </a:p>
        </p:txBody>
      </p:sp>
      <p:sp>
        <p:nvSpPr>
          <p:cNvPr id="69635" name="Text Placeholder 2">
            <a:extLst>
              <a:ext uri="{FF2B5EF4-FFF2-40B4-BE49-F238E27FC236}">
                <a16:creationId xmlns:a16="http://schemas.microsoft.com/office/drawing/2014/main" id="{5DB44884-ACC4-42DE-BDB9-2FF7654AC1DB}"/>
              </a:ext>
            </a:extLst>
          </p:cNvPr>
          <p:cNvSpPr>
            <a:spLocks noGrp="1"/>
          </p:cNvSpPr>
          <p:nvPr>
            <p:ph type="body" idx="1"/>
          </p:nvPr>
        </p:nvSpPr>
        <p:spPr>
          <a:xfrm>
            <a:off x="609600" y="1646238"/>
            <a:ext cx="10972800" cy="4525962"/>
          </a:xfrm>
        </p:spPr>
        <p:txBody>
          <a:bodyPr/>
          <a:lstStyle/>
          <a:p>
            <a:pPr eaLnBrk="1" hangingPunct="1">
              <a:lnSpc>
                <a:spcPct val="80000"/>
              </a:lnSpc>
            </a:pPr>
            <a:r>
              <a:rPr lang="en-US" altLang="en-US" sz="2500" dirty="0">
                <a:solidFill>
                  <a:srgbClr val="000000"/>
                </a:solidFill>
              </a:rPr>
              <a:t>To enable a subclass to directly access superclass instance variables, we can declare those members as </a:t>
            </a:r>
            <a:r>
              <a:rPr lang="en-US" altLang="en-US" sz="2500" dirty="0">
                <a:solidFill>
                  <a:srgbClr val="000000"/>
                </a:solidFill>
                <a:latin typeface="Consolas" panose="020B0609020204030204" pitchFamily="49" charset="0"/>
              </a:rPr>
              <a:t>protected</a:t>
            </a:r>
            <a:r>
              <a:rPr lang="en-US" altLang="en-US" sz="2500" dirty="0">
                <a:solidFill>
                  <a:srgbClr val="000000"/>
                </a:solidFill>
              </a:rPr>
              <a:t> in the superclass. </a:t>
            </a:r>
          </a:p>
          <a:p>
            <a:pPr eaLnBrk="1" hangingPunct="1">
              <a:lnSpc>
                <a:spcPct val="80000"/>
              </a:lnSpc>
            </a:pPr>
            <a:r>
              <a:rPr lang="en-US" altLang="en-US" sz="2500" dirty="0">
                <a:solidFill>
                  <a:srgbClr val="000000"/>
                </a:solidFill>
              </a:rPr>
              <a:t>New </a:t>
            </a:r>
            <a:r>
              <a:rPr lang="en-US" altLang="en-US" sz="2500" dirty="0" err="1">
                <a:solidFill>
                  <a:srgbClr val="000000"/>
                </a:solidFill>
                <a:latin typeface="Consolas" panose="020B0609020204030204" pitchFamily="49" charset="0"/>
              </a:rPr>
              <a:t>CommissionEmployee</a:t>
            </a:r>
            <a:r>
              <a:rPr lang="en-US" altLang="en-US" sz="2500" dirty="0">
                <a:solidFill>
                  <a:srgbClr val="000000"/>
                </a:solidFill>
              </a:rPr>
              <a:t> class modified only the instance variable declarations of Fig. 9.4 as follows:</a:t>
            </a:r>
          </a:p>
          <a:p>
            <a:pPr lvl="2" eaLnBrk="1" hangingPunct="1">
              <a:lnSpc>
                <a:spcPct val="80000"/>
              </a:lnSpc>
              <a:buFont typeface="Wingdings 2" panose="05020102010507070707" pitchFamily="18" charset="2"/>
              <a:buNone/>
            </a:pPr>
            <a:r>
              <a:rPr lang="en-US" altLang="en-US" sz="1900" dirty="0">
                <a:solidFill>
                  <a:srgbClr val="0000FF"/>
                </a:solidFill>
                <a:latin typeface="Consolas" panose="020B0609020204030204" pitchFamily="49" charset="0"/>
              </a:rPr>
              <a:t>	protected final</a:t>
            </a:r>
            <a:r>
              <a:rPr lang="en-US" altLang="en-US" sz="1900" dirty="0">
                <a:solidFill>
                  <a:srgbClr val="000000"/>
                </a:solidFill>
                <a:latin typeface="Consolas" panose="020B0609020204030204" pitchFamily="49" charset="0"/>
              </a:rPr>
              <a:t> String </a:t>
            </a:r>
            <a:r>
              <a:rPr lang="en-US" altLang="en-US" sz="1900" dirty="0" err="1">
                <a:solidFill>
                  <a:srgbClr val="000000"/>
                </a:solidFill>
                <a:latin typeface="Consolas" panose="020B0609020204030204" pitchFamily="49" charset="0"/>
              </a:rPr>
              <a:t>firstName</a:t>
            </a:r>
            <a:r>
              <a:rPr lang="en-US" altLang="en-US" sz="1900" dirty="0">
                <a:solidFill>
                  <a:srgbClr val="000000"/>
                </a:solidFill>
                <a:latin typeface="Consolas" panose="020B0609020204030204" pitchFamily="49" charset="0"/>
              </a:rPr>
              <a:t>;                              </a:t>
            </a:r>
            <a:br>
              <a:rPr lang="en-US" altLang="en-US" sz="1900" dirty="0">
                <a:solidFill>
                  <a:srgbClr val="000000"/>
                </a:solidFill>
                <a:latin typeface="Consolas" panose="020B0609020204030204" pitchFamily="49" charset="0"/>
              </a:rPr>
            </a:br>
            <a:r>
              <a:rPr lang="en-US" altLang="en-US" sz="1900" dirty="0">
                <a:solidFill>
                  <a:srgbClr val="0000FF"/>
                </a:solidFill>
                <a:latin typeface="Consolas" panose="020B0609020204030204" pitchFamily="49" charset="0"/>
              </a:rPr>
              <a:t>protected final</a:t>
            </a:r>
            <a:r>
              <a:rPr lang="en-US" altLang="en-US" sz="1900" dirty="0">
                <a:solidFill>
                  <a:srgbClr val="000000"/>
                </a:solidFill>
                <a:latin typeface="Consolas" panose="020B0609020204030204" pitchFamily="49" charset="0"/>
              </a:rPr>
              <a:t> String </a:t>
            </a:r>
            <a:r>
              <a:rPr lang="en-US" altLang="en-US" sz="1900" dirty="0" err="1">
                <a:solidFill>
                  <a:srgbClr val="000000"/>
                </a:solidFill>
                <a:latin typeface="Consolas" panose="020B0609020204030204" pitchFamily="49" charset="0"/>
              </a:rPr>
              <a:t>lastName</a:t>
            </a:r>
            <a:r>
              <a:rPr lang="en-US" altLang="en-US" sz="1900" dirty="0">
                <a:solidFill>
                  <a:srgbClr val="000000"/>
                </a:solidFill>
                <a:latin typeface="Consolas" panose="020B0609020204030204" pitchFamily="49" charset="0"/>
              </a:rPr>
              <a:t>;                               </a:t>
            </a:r>
            <a:br>
              <a:rPr lang="en-US" altLang="en-US" sz="1900" dirty="0">
                <a:solidFill>
                  <a:srgbClr val="000000"/>
                </a:solidFill>
                <a:latin typeface="Consolas" panose="020B0609020204030204" pitchFamily="49" charset="0"/>
              </a:rPr>
            </a:br>
            <a:r>
              <a:rPr lang="en-US" altLang="en-US" sz="1900" dirty="0">
                <a:solidFill>
                  <a:srgbClr val="0000FF"/>
                </a:solidFill>
                <a:latin typeface="Consolas" panose="020B0609020204030204" pitchFamily="49" charset="0"/>
              </a:rPr>
              <a:t>protected final</a:t>
            </a:r>
            <a:r>
              <a:rPr lang="en-US" altLang="en-US" sz="1900" dirty="0">
                <a:solidFill>
                  <a:srgbClr val="000000"/>
                </a:solidFill>
                <a:latin typeface="Consolas" panose="020B0609020204030204" pitchFamily="49" charset="0"/>
              </a:rPr>
              <a:t> String </a:t>
            </a:r>
            <a:r>
              <a:rPr lang="en-US" altLang="en-US" sz="1900" dirty="0" err="1">
                <a:solidFill>
                  <a:srgbClr val="000000"/>
                </a:solidFill>
                <a:latin typeface="Consolas" panose="020B0609020204030204" pitchFamily="49" charset="0"/>
              </a:rPr>
              <a:t>socialSecurityNumber</a:t>
            </a:r>
            <a:r>
              <a:rPr lang="en-US" altLang="en-US" sz="1900" dirty="0">
                <a:solidFill>
                  <a:srgbClr val="000000"/>
                </a:solidFill>
                <a:latin typeface="Consolas" panose="020B0609020204030204" pitchFamily="49" charset="0"/>
              </a:rPr>
              <a:t>;                   </a:t>
            </a:r>
            <a:br>
              <a:rPr lang="en-US" altLang="en-US" sz="1900" dirty="0">
                <a:solidFill>
                  <a:srgbClr val="000000"/>
                </a:solidFill>
                <a:latin typeface="Consolas" panose="020B0609020204030204" pitchFamily="49" charset="0"/>
              </a:rPr>
            </a:br>
            <a:r>
              <a:rPr lang="en-US" altLang="en-US" sz="1900" dirty="0">
                <a:solidFill>
                  <a:srgbClr val="0000FF"/>
                </a:solidFill>
                <a:latin typeface="Consolas" panose="020B0609020204030204" pitchFamily="49" charset="0"/>
              </a:rPr>
              <a:t>protected</a:t>
            </a:r>
            <a:r>
              <a:rPr lang="en-US" altLang="en-US" sz="1900" dirty="0">
                <a:solidFill>
                  <a:srgbClr val="000000"/>
                </a:solidFill>
                <a:latin typeface="Consolas" panose="020B0609020204030204" pitchFamily="49" charset="0"/>
              </a:rPr>
              <a:t> </a:t>
            </a:r>
            <a:r>
              <a:rPr lang="en-US" altLang="en-US" sz="1900" dirty="0">
                <a:solidFill>
                  <a:srgbClr val="0000FF"/>
                </a:solidFill>
                <a:latin typeface="Consolas" panose="020B0609020204030204" pitchFamily="49" charset="0"/>
              </a:rPr>
              <a:t>double</a:t>
            </a:r>
            <a:r>
              <a:rPr lang="en-US" altLang="en-US" sz="1900" dirty="0">
                <a:solidFill>
                  <a:srgbClr val="000000"/>
                </a:solidFill>
                <a:latin typeface="Consolas" panose="020B0609020204030204" pitchFamily="49" charset="0"/>
              </a:rPr>
              <a:t> </a:t>
            </a:r>
            <a:r>
              <a:rPr lang="en-US" altLang="en-US" sz="1900" dirty="0" err="1">
                <a:solidFill>
                  <a:srgbClr val="000000"/>
                </a:solidFill>
                <a:latin typeface="Consolas" panose="020B0609020204030204" pitchFamily="49" charset="0"/>
              </a:rPr>
              <a:t>grossSales</a:t>
            </a:r>
            <a:r>
              <a:rPr lang="en-US" altLang="en-US" sz="1900" dirty="0">
                <a:solidFill>
                  <a:srgbClr val="000000"/>
                </a:solidFill>
                <a:latin typeface="Consolas" panose="020B0609020204030204" pitchFamily="49" charset="0"/>
              </a:rPr>
              <a:t>; </a:t>
            </a:r>
            <a:r>
              <a:rPr lang="en-US" altLang="en-US" sz="1900" dirty="0">
                <a:solidFill>
                  <a:srgbClr val="00BF00"/>
                </a:solidFill>
                <a:latin typeface="Consolas" panose="020B0609020204030204" pitchFamily="49" charset="0"/>
              </a:rPr>
              <a:t>     </a:t>
            </a:r>
            <a:br>
              <a:rPr lang="en-US" altLang="en-US" sz="1900" dirty="0">
                <a:solidFill>
                  <a:srgbClr val="00BF00"/>
                </a:solidFill>
                <a:latin typeface="Consolas" panose="020B0609020204030204" pitchFamily="49" charset="0"/>
              </a:rPr>
            </a:br>
            <a:r>
              <a:rPr lang="en-US" altLang="en-US" sz="1900" dirty="0">
                <a:solidFill>
                  <a:srgbClr val="0000FF"/>
                </a:solidFill>
                <a:latin typeface="Consolas" panose="020B0609020204030204" pitchFamily="49" charset="0"/>
              </a:rPr>
              <a:t>protected</a:t>
            </a:r>
            <a:r>
              <a:rPr lang="en-US" altLang="en-US" sz="1900" dirty="0">
                <a:solidFill>
                  <a:srgbClr val="000000"/>
                </a:solidFill>
                <a:latin typeface="Consolas" panose="020B0609020204030204" pitchFamily="49" charset="0"/>
              </a:rPr>
              <a:t> </a:t>
            </a:r>
            <a:r>
              <a:rPr lang="en-US" altLang="en-US" sz="1900" dirty="0">
                <a:solidFill>
                  <a:srgbClr val="0000FF"/>
                </a:solidFill>
                <a:latin typeface="Consolas" panose="020B0609020204030204" pitchFamily="49" charset="0"/>
              </a:rPr>
              <a:t>double</a:t>
            </a:r>
            <a:r>
              <a:rPr lang="en-US" altLang="en-US" sz="1900" dirty="0">
                <a:solidFill>
                  <a:srgbClr val="000000"/>
                </a:solidFill>
                <a:latin typeface="Consolas" panose="020B0609020204030204" pitchFamily="49" charset="0"/>
              </a:rPr>
              <a:t> </a:t>
            </a:r>
            <a:r>
              <a:rPr lang="en-US" altLang="en-US" sz="1900" dirty="0" err="1">
                <a:solidFill>
                  <a:srgbClr val="000000"/>
                </a:solidFill>
                <a:latin typeface="Consolas" panose="020B0609020204030204" pitchFamily="49" charset="0"/>
              </a:rPr>
              <a:t>commissionRate</a:t>
            </a:r>
            <a:r>
              <a:rPr lang="en-US" altLang="en-US" sz="1900" dirty="0">
                <a:solidFill>
                  <a:srgbClr val="000000"/>
                </a:solidFill>
                <a:latin typeface="Consolas" panose="020B0609020204030204" pitchFamily="49" charset="0"/>
              </a:rPr>
              <a:t>; </a:t>
            </a:r>
          </a:p>
          <a:p>
            <a:pPr eaLnBrk="1" hangingPunct="1">
              <a:lnSpc>
                <a:spcPct val="80000"/>
              </a:lnSpc>
            </a:pPr>
            <a:r>
              <a:rPr lang="en-US" altLang="en-US" sz="2500" dirty="0">
                <a:solidFill>
                  <a:srgbClr val="000000"/>
                </a:solidFill>
              </a:rPr>
              <a:t>With </a:t>
            </a:r>
            <a:r>
              <a:rPr lang="en-US" altLang="en-US" sz="2500" dirty="0">
                <a:solidFill>
                  <a:srgbClr val="000000"/>
                </a:solidFill>
                <a:latin typeface="Consolas" panose="020B0609020204030204" pitchFamily="49" charset="0"/>
              </a:rPr>
              <a:t>protected</a:t>
            </a:r>
            <a:r>
              <a:rPr lang="en-US" altLang="en-US" sz="2500" dirty="0">
                <a:solidFill>
                  <a:srgbClr val="000000"/>
                </a:solidFill>
              </a:rPr>
              <a:t> instance variables, the subclass gets access to the instance variables, but classes that are not subclasses and classes that are not in the same package cannot access these variables directly. </a:t>
            </a:r>
          </a:p>
        </p:txBody>
      </p:sp>
      <p:sp>
        <p:nvSpPr>
          <p:cNvPr id="4" name="Footer Placeholder 3">
            <a:extLst>
              <a:ext uri="{FF2B5EF4-FFF2-40B4-BE49-F238E27FC236}">
                <a16:creationId xmlns:a16="http://schemas.microsoft.com/office/drawing/2014/main" id="{B4263633-ADD7-4F53-9D81-30672BC3C8BA}"/>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8553413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3B218-FAE8-48E9-9990-A29BB43694BB}"/>
              </a:ext>
            </a:extLst>
          </p:cNvPr>
          <p:cNvSpPr>
            <a:spLocks noGrp="1"/>
          </p:cNvSpPr>
          <p:nvPr>
            <p:ph type="title"/>
          </p:nvPr>
        </p:nvSpPr>
        <p:spPr/>
        <p:txBody>
          <a:bodyPr>
            <a:noAutofit/>
          </a:bodyPr>
          <a:lstStyle/>
          <a:p>
            <a:pPr fontAlgn="auto">
              <a:spcAft>
                <a:spcPts val="0"/>
              </a:spcAft>
              <a:defRPr/>
            </a:pPr>
            <a:r>
              <a:rPr lang="en-US" sz="2800" dirty="0">
                <a:solidFill>
                  <a:srgbClr val="59D9B3"/>
                </a:solidFill>
                <a:latin typeface="Calibri" panose="020F0502020204030204" pitchFamily="34" charset="0"/>
              </a:rPr>
              <a:t>9.4.4 </a:t>
            </a:r>
            <a:r>
              <a:rPr lang="en-US" sz="2800" dirty="0" err="1">
                <a:solidFill>
                  <a:srgbClr val="33B38C"/>
                </a:solidFill>
                <a:latin typeface="Consolas" panose="020B0609020204030204" pitchFamily="49" charset="0"/>
              </a:rPr>
              <a:t>CommissionEmployee</a:t>
            </a:r>
            <a:r>
              <a:rPr lang="en-US" sz="2800" dirty="0" err="1">
                <a:solidFill>
                  <a:srgbClr val="33B38C"/>
                </a:solidFill>
                <a:latin typeface="Calibri" panose="020F0502020204030204" pitchFamily="34" charset="0"/>
              </a:rPr>
              <a:t>–</a:t>
            </a:r>
            <a:r>
              <a:rPr lang="en-US" sz="2800" dirty="0" err="1">
                <a:solidFill>
                  <a:srgbClr val="33B38C"/>
                </a:solidFill>
                <a:latin typeface="Consolas" panose="020B0609020204030204" pitchFamily="49" charset="0"/>
              </a:rPr>
              <a:t>BasePlus-CommissionEmployee</a:t>
            </a:r>
            <a:r>
              <a:rPr lang="en-US" sz="2800" dirty="0">
                <a:solidFill>
                  <a:srgbClr val="33B38C"/>
                </a:solidFill>
                <a:latin typeface="Calibri" panose="020F0502020204030204" pitchFamily="34" charset="0"/>
              </a:rPr>
              <a:t> Inheritance Hierarchy Using </a:t>
            </a:r>
            <a:r>
              <a:rPr lang="en-US" sz="2800" dirty="0">
                <a:solidFill>
                  <a:srgbClr val="33B38C"/>
                </a:solidFill>
                <a:latin typeface="Consolas" panose="020B0609020204030204" pitchFamily="49" charset="0"/>
              </a:rPr>
              <a:t>protected</a:t>
            </a:r>
            <a:r>
              <a:rPr lang="en-US" sz="2800" dirty="0">
                <a:solidFill>
                  <a:srgbClr val="33B38C"/>
                </a:solidFill>
                <a:latin typeface="Calibri" panose="020F0502020204030204" pitchFamily="34" charset="0"/>
              </a:rPr>
              <a:t> Instance Variables (Cont.)</a:t>
            </a:r>
          </a:p>
        </p:txBody>
      </p:sp>
      <p:sp>
        <p:nvSpPr>
          <p:cNvPr id="70659" name="Text Placeholder 2">
            <a:extLst>
              <a:ext uri="{FF2B5EF4-FFF2-40B4-BE49-F238E27FC236}">
                <a16:creationId xmlns:a16="http://schemas.microsoft.com/office/drawing/2014/main" id="{BB00C676-F3D2-48E6-ABB3-3E3DCDD65A37}"/>
              </a:ext>
            </a:extLst>
          </p:cNvPr>
          <p:cNvSpPr>
            <a:spLocks noGrp="1"/>
          </p:cNvSpPr>
          <p:nvPr>
            <p:ph type="body" idx="1"/>
          </p:nvPr>
        </p:nvSpPr>
        <p:spPr>
          <a:xfrm>
            <a:off x="609599" y="1646238"/>
            <a:ext cx="10922963" cy="4525962"/>
          </a:xfrm>
        </p:spPr>
        <p:txBody>
          <a:bodyPr/>
          <a:lstStyle/>
          <a:p>
            <a:pPr eaLnBrk="1" hangingPunct="1">
              <a:spcBef>
                <a:spcPts val="1200"/>
              </a:spcBef>
            </a:pPr>
            <a:r>
              <a:rPr lang="en-US" altLang="en-US" sz="2300" dirty="0">
                <a:solidFill>
                  <a:srgbClr val="000000"/>
                </a:solidFill>
              </a:rPr>
              <a:t>Class </a:t>
            </a:r>
            <a:r>
              <a:rPr lang="en-US" altLang="en-US" sz="2300" dirty="0" err="1">
                <a:solidFill>
                  <a:srgbClr val="000000"/>
                </a:solidFill>
                <a:latin typeface="Consolas" panose="020B0609020204030204" pitchFamily="49" charset="0"/>
              </a:rPr>
              <a:t>BasePlusCommissionEmployee</a:t>
            </a:r>
            <a:r>
              <a:rPr lang="en-US" altLang="en-US" sz="2300" dirty="0">
                <a:solidFill>
                  <a:srgbClr val="000000"/>
                </a:solidFill>
              </a:rPr>
              <a:t> (Fig. 9.9) extends the new version of class </a:t>
            </a:r>
            <a:r>
              <a:rPr lang="en-US" altLang="en-US" sz="2300" dirty="0" err="1">
                <a:solidFill>
                  <a:srgbClr val="000000"/>
                </a:solidFill>
                <a:latin typeface="Consolas" panose="020B0609020204030204" pitchFamily="49" charset="0"/>
              </a:rPr>
              <a:t>CommissionEmployee</a:t>
            </a:r>
            <a:r>
              <a:rPr lang="en-US" altLang="en-US" sz="2300" dirty="0">
                <a:solidFill>
                  <a:srgbClr val="000000"/>
                </a:solidFill>
              </a:rPr>
              <a:t> with </a:t>
            </a:r>
            <a:r>
              <a:rPr lang="en-US" altLang="en-US" sz="2300" dirty="0">
                <a:solidFill>
                  <a:srgbClr val="000000"/>
                </a:solidFill>
                <a:latin typeface="Consolas" panose="020B0609020204030204" pitchFamily="49" charset="0"/>
              </a:rPr>
              <a:t>protected</a:t>
            </a:r>
            <a:r>
              <a:rPr lang="en-US" altLang="en-US" sz="2300" dirty="0">
                <a:solidFill>
                  <a:srgbClr val="000000"/>
                </a:solidFill>
              </a:rPr>
              <a:t> instance variables.</a:t>
            </a:r>
          </a:p>
          <a:p>
            <a:pPr lvl="1" eaLnBrk="1" hangingPunct="1">
              <a:spcBef>
                <a:spcPts val="1200"/>
              </a:spcBef>
            </a:pPr>
            <a:r>
              <a:rPr lang="en-US" altLang="en-US" sz="2000" dirty="0">
                <a:solidFill>
                  <a:srgbClr val="000000"/>
                </a:solidFill>
              </a:rPr>
              <a:t>These variables are now </a:t>
            </a:r>
            <a:r>
              <a:rPr lang="en-US" altLang="en-US" sz="2000" dirty="0">
                <a:solidFill>
                  <a:srgbClr val="000000"/>
                </a:solidFill>
                <a:latin typeface="Consolas" panose="020B0609020204030204" pitchFamily="49" charset="0"/>
              </a:rPr>
              <a:t>protected</a:t>
            </a:r>
            <a:r>
              <a:rPr lang="en-US" altLang="en-US" sz="2000" dirty="0">
                <a:solidFill>
                  <a:srgbClr val="000000"/>
                </a:solidFill>
              </a:rPr>
              <a:t> members of </a:t>
            </a:r>
            <a:r>
              <a:rPr lang="en-US" altLang="en-US" sz="2000" dirty="0" err="1">
                <a:solidFill>
                  <a:srgbClr val="000000"/>
                </a:solidFill>
                <a:latin typeface="Consolas" panose="020B0609020204030204" pitchFamily="49" charset="0"/>
              </a:rPr>
              <a:t>BasePlusCommissionEmployee</a:t>
            </a:r>
            <a:r>
              <a:rPr lang="en-US" altLang="en-US" sz="2000" dirty="0">
                <a:solidFill>
                  <a:srgbClr val="000000"/>
                </a:solidFill>
              </a:rPr>
              <a:t>. </a:t>
            </a:r>
          </a:p>
          <a:p>
            <a:pPr eaLnBrk="1" hangingPunct="1">
              <a:spcBef>
                <a:spcPts val="1200"/>
              </a:spcBef>
            </a:pPr>
            <a:r>
              <a:rPr lang="en-US" altLang="en-US" sz="2300" dirty="0">
                <a:solidFill>
                  <a:srgbClr val="000000"/>
                </a:solidFill>
              </a:rPr>
              <a:t>If another class extends this version of class </a:t>
            </a:r>
            <a:r>
              <a:rPr lang="en-US" altLang="en-US" sz="2300" dirty="0" err="1">
                <a:solidFill>
                  <a:srgbClr val="000000"/>
                </a:solidFill>
                <a:latin typeface="Consolas" panose="020B0609020204030204" pitchFamily="49" charset="0"/>
              </a:rPr>
              <a:t>BasePlusCommissionEmployee</a:t>
            </a:r>
            <a:r>
              <a:rPr lang="en-US" altLang="en-US" sz="2300" dirty="0">
                <a:solidFill>
                  <a:srgbClr val="000000"/>
                </a:solidFill>
              </a:rPr>
              <a:t>, the new subclass also can access the </a:t>
            </a:r>
            <a:r>
              <a:rPr lang="en-US" altLang="en-US" sz="2300" dirty="0">
                <a:solidFill>
                  <a:srgbClr val="000000"/>
                </a:solidFill>
                <a:latin typeface="Consolas" panose="020B0609020204030204" pitchFamily="49" charset="0"/>
              </a:rPr>
              <a:t>protected</a:t>
            </a:r>
            <a:r>
              <a:rPr lang="en-US" altLang="en-US" sz="2300" dirty="0">
                <a:solidFill>
                  <a:srgbClr val="000000"/>
                </a:solidFill>
              </a:rPr>
              <a:t> members. </a:t>
            </a:r>
          </a:p>
          <a:p>
            <a:pPr eaLnBrk="1" hangingPunct="1">
              <a:spcBef>
                <a:spcPts val="1200"/>
              </a:spcBef>
            </a:pPr>
            <a:r>
              <a:rPr lang="en-US" altLang="en-US" sz="2300" dirty="0">
                <a:solidFill>
                  <a:srgbClr val="000000"/>
                </a:solidFill>
              </a:rPr>
              <a:t>The source code in Fig. 9.9 is considerably shorter than that in Fig. 9.6</a:t>
            </a:r>
          </a:p>
          <a:p>
            <a:pPr lvl="1" eaLnBrk="1" hangingPunct="1">
              <a:spcBef>
                <a:spcPts val="1200"/>
              </a:spcBef>
            </a:pPr>
            <a:r>
              <a:rPr lang="en-US" altLang="en-US" sz="2000" dirty="0">
                <a:solidFill>
                  <a:srgbClr val="000000"/>
                </a:solidFill>
              </a:rPr>
              <a:t>Most of the functionality is now inherited from </a:t>
            </a:r>
            <a:r>
              <a:rPr lang="en-US" altLang="en-US" sz="2000" dirty="0" err="1">
                <a:solidFill>
                  <a:srgbClr val="000000"/>
                </a:solidFill>
                <a:latin typeface="Consolas" panose="020B0609020204030204" pitchFamily="49" charset="0"/>
              </a:rPr>
              <a:t>CommissionEmployee</a:t>
            </a:r>
            <a:endParaRPr lang="en-US" altLang="en-US" sz="2000" dirty="0">
              <a:solidFill>
                <a:srgbClr val="000000"/>
              </a:solidFill>
              <a:latin typeface="Consolas" panose="020B0609020204030204" pitchFamily="49" charset="0"/>
            </a:endParaRPr>
          </a:p>
          <a:p>
            <a:pPr lvl="1" eaLnBrk="1" hangingPunct="1">
              <a:spcBef>
                <a:spcPts val="1200"/>
              </a:spcBef>
            </a:pPr>
            <a:r>
              <a:rPr lang="en-US" altLang="en-US" sz="2000" dirty="0">
                <a:solidFill>
                  <a:srgbClr val="000000"/>
                </a:solidFill>
              </a:rPr>
              <a:t>There is now only one copy of the functionality. </a:t>
            </a:r>
          </a:p>
          <a:p>
            <a:pPr lvl="1" eaLnBrk="1" hangingPunct="1">
              <a:spcBef>
                <a:spcPts val="1200"/>
              </a:spcBef>
            </a:pPr>
            <a:r>
              <a:rPr lang="en-US" altLang="en-US" sz="2000" dirty="0">
                <a:solidFill>
                  <a:srgbClr val="000000"/>
                </a:solidFill>
              </a:rPr>
              <a:t>Code is easier to maintain, modify and debug—the code related to a </a:t>
            </a:r>
            <a:r>
              <a:rPr lang="en-US" altLang="en-US" sz="2000" dirty="0" err="1">
                <a:solidFill>
                  <a:srgbClr val="000000"/>
                </a:solidFill>
                <a:latin typeface="Consolas" panose="020B0609020204030204" pitchFamily="49" charset="0"/>
              </a:rPr>
              <a:t>CommissionEmployee</a:t>
            </a:r>
            <a:r>
              <a:rPr lang="en-US" altLang="en-US" sz="2000" dirty="0">
                <a:solidFill>
                  <a:srgbClr val="000000"/>
                </a:solidFill>
                <a:latin typeface="Consolas" panose="020B0609020204030204" pitchFamily="49" charset="0"/>
              </a:rPr>
              <a:t> </a:t>
            </a:r>
            <a:r>
              <a:rPr lang="en-US" altLang="en-US" sz="2000" dirty="0">
                <a:solidFill>
                  <a:srgbClr val="000000"/>
                </a:solidFill>
              </a:rPr>
              <a:t>exists only in that class. </a:t>
            </a:r>
          </a:p>
        </p:txBody>
      </p:sp>
      <p:sp>
        <p:nvSpPr>
          <p:cNvPr id="4" name="Footer Placeholder 3">
            <a:extLst>
              <a:ext uri="{FF2B5EF4-FFF2-40B4-BE49-F238E27FC236}">
                <a16:creationId xmlns:a16="http://schemas.microsoft.com/office/drawing/2014/main" id="{B210F8C1-BDE4-44B1-B765-4505400176C6}"/>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73757207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43">
            <a:extLst>
              <a:ext uri="{FF2B5EF4-FFF2-40B4-BE49-F238E27FC236}">
                <a16:creationId xmlns:a16="http://schemas.microsoft.com/office/drawing/2014/main" id="{C08B26B0-8102-44CA-9D29-6933FA08C2B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055688" y="0"/>
            <a:ext cx="10079037" cy="6858000"/>
          </a:xfrm>
          <a:prstGeom prst="rect">
            <a:avLst/>
          </a:prstGeom>
        </p:spPr>
      </p:pic>
      <p:sp>
        <p:nvSpPr>
          <p:cNvPr id="2" name="Footer Placeholder 1">
            <a:extLst>
              <a:ext uri="{FF2B5EF4-FFF2-40B4-BE49-F238E27FC236}">
                <a16:creationId xmlns:a16="http://schemas.microsoft.com/office/drawing/2014/main" id="{289CB3F5-5255-43AE-B4F4-6942E81F25B1}"/>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6368760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44">
            <a:extLst>
              <a:ext uri="{FF2B5EF4-FFF2-40B4-BE49-F238E27FC236}">
                <a16:creationId xmlns:a16="http://schemas.microsoft.com/office/drawing/2014/main" id="{49B538F0-D300-4E3B-8255-A08180B4F68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442913"/>
            <a:ext cx="12192000" cy="5970587"/>
          </a:xfrm>
          <a:prstGeom prst="rect">
            <a:avLst/>
          </a:prstGeom>
        </p:spPr>
      </p:pic>
      <p:sp>
        <p:nvSpPr>
          <p:cNvPr id="2" name="Footer Placeholder 1">
            <a:extLst>
              <a:ext uri="{FF2B5EF4-FFF2-40B4-BE49-F238E27FC236}">
                <a16:creationId xmlns:a16="http://schemas.microsoft.com/office/drawing/2014/main" id="{9D383440-8AEF-4CC0-9195-C893718D643D}"/>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325851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45">
            <a:extLst>
              <a:ext uri="{FF2B5EF4-FFF2-40B4-BE49-F238E27FC236}">
                <a16:creationId xmlns:a16="http://schemas.microsoft.com/office/drawing/2014/main" id="{DE0A6C5C-F345-4692-B83B-2FA06C429C3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36538" y="0"/>
            <a:ext cx="11717337" cy="6858000"/>
          </a:xfrm>
          <a:prstGeom prst="rect">
            <a:avLst/>
          </a:prstGeom>
        </p:spPr>
      </p:pic>
      <p:sp>
        <p:nvSpPr>
          <p:cNvPr id="2" name="Footer Placeholder 1">
            <a:extLst>
              <a:ext uri="{FF2B5EF4-FFF2-40B4-BE49-F238E27FC236}">
                <a16:creationId xmlns:a16="http://schemas.microsoft.com/office/drawing/2014/main" id="{40C55F03-F283-4E83-92CD-670EA8E0581E}"/>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13023067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5B13A-556B-46EA-9F56-1531FD78C2F7}"/>
              </a:ext>
            </a:extLst>
          </p:cNvPr>
          <p:cNvSpPr>
            <a:spLocks noGrp="1"/>
          </p:cNvSpPr>
          <p:nvPr>
            <p:ph type="title"/>
          </p:nvPr>
        </p:nvSpPr>
        <p:spPr/>
        <p:txBody>
          <a:bodyPr>
            <a:noAutofit/>
          </a:bodyPr>
          <a:lstStyle/>
          <a:p>
            <a:pPr fontAlgn="auto">
              <a:spcAft>
                <a:spcPts val="0"/>
              </a:spcAft>
              <a:defRPr/>
            </a:pPr>
            <a:r>
              <a:rPr lang="en-US" sz="2800" dirty="0">
                <a:solidFill>
                  <a:srgbClr val="59D9B3"/>
                </a:solidFill>
                <a:latin typeface="Calibri" panose="020F0502020204030204" pitchFamily="34" charset="0"/>
              </a:rPr>
              <a:t>9.4.4 </a:t>
            </a:r>
            <a:r>
              <a:rPr lang="en-US" sz="2800" dirty="0" err="1">
                <a:solidFill>
                  <a:srgbClr val="33B38C"/>
                </a:solidFill>
                <a:latin typeface="Consolas" panose="020B0609020204030204" pitchFamily="49" charset="0"/>
              </a:rPr>
              <a:t>CommissionEmployee</a:t>
            </a:r>
            <a:r>
              <a:rPr lang="en-US" sz="2800" dirty="0" err="1">
                <a:solidFill>
                  <a:srgbClr val="33B38C"/>
                </a:solidFill>
                <a:latin typeface="Calibri" panose="020F0502020204030204" pitchFamily="34" charset="0"/>
              </a:rPr>
              <a:t>–</a:t>
            </a:r>
            <a:r>
              <a:rPr lang="en-US" sz="2800" dirty="0" err="1">
                <a:solidFill>
                  <a:srgbClr val="33B38C"/>
                </a:solidFill>
                <a:latin typeface="Consolas" panose="020B0609020204030204" pitchFamily="49" charset="0"/>
              </a:rPr>
              <a:t>BasePlus-CommissionEmployee</a:t>
            </a:r>
            <a:r>
              <a:rPr lang="en-US" sz="2800" dirty="0">
                <a:solidFill>
                  <a:srgbClr val="33B38C"/>
                </a:solidFill>
                <a:latin typeface="Calibri" panose="020F0502020204030204" pitchFamily="34" charset="0"/>
              </a:rPr>
              <a:t> Inheritance Hierarchy Using </a:t>
            </a:r>
            <a:r>
              <a:rPr lang="en-US" sz="2800" dirty="0">
                <a:solidFill>
                  <a:srgbClr val="33B38C"/>
                </a:solidFill>
                <a:latin typeface="Consolas" panose="020B0609020204030204" pitchFamily="49" charset="0"/>
              </a:rPr>
              <a:t>protected</a:t>
            </a:r>
            <a:r>
              <a:rPr lang="en-US" sz="2800" dirty="0">
                <a:solidFill>
                  <a:srgbClr val="33B38C"/>
                </a:solidFill>
                <a:latin typeface="Calibri" panose="020F0502020204030204" pitchFamily="34" charset="0"/>
              </a:rPr>
              <a:t> Instance Variables (Cont.)</a:t>
            </a:r>
          </a:p>
        </p:txBody>
      </p:sp>
      <p:sp>
        <p:nvSpPr>
          <p:cNvPr id="74755" name="Text Placeholder 2">
            <a:extLst>
              <a:ext uri="{FF2B5EF4-FFF2-40B4-BE49-F238E27FC236}">
                <a16:creationId xmlns:a16="http://schemas.microsoft.com/office/drawing/2014/main" id="{50EAA089-216C-43CB-AD72-F2D8A3000E90}"/>
              </a:ext>
            </a:extLst>
          </p:cNvPr>
          <p:cNvSpPr>
            <a:spLocks noGrp="1"/>
          </p:cNvSpPr>
          <p:nvPr>
            <p:ph type="body" idx="1"/>
          </p:nvPr>
        </p:nvSpPr>
        <p:spPr/>
        <p:txBody>
          <a:bodyPr/>
          <a:lstStyle/>
          <a:p>
            <a:pPr eaLnBrk="1" hangingPunct="1"/>
            <a:r>
              <a:rPr lang="en-US" altLang="en-US" dirty="0">
                <a:solidFill>
                  <a:srgbClr val="000000"/>
                </a:solidFill>
              </a:rPr>
              <a:t>Inheriting </a:t>
            </a:r>
            <a:r>
              <a:rPr lang="en-US" altLang="en-US" dirty="0">
                <a:solidFill>
                  <a:srgbClr val="000000"/>
                </a:solidFill>
                <a:latin typeface="Consolas" panose="020B0609020204030204" pitchFamily="49" charset="0"/>
              </a:rPr>
              <a:t>protected</a:t>
            </a:r>
            <a:r>
              <a:rPr lang="en-US" altLang="en-US" dirty="0">
                <a:solidFill>
                  <a:srgbClr val="000000"/>
                </a:solidFill>
              </a:rPr>
              <a:t> instance variables enables direct access to the variables by subclasses</a:t>
            </a:r>
            <a:r>
              <a:rPr lang="en-US" altLang="en-US" i="1" dirty="0">
                <a:solidFill>
                  <a:srgbClr val="000000"/>
                </a:solidFill>
              </a:rPr>
              <a:t>. </a:t>
            </a:r>
          </a:p>
          <a:p>
            <a:pPr eaLnBrk="1" hangingPunct="1"/>
            <a:r>
              <a:rPr lang="en-US" altLang="en-US" dirty="0">
                <a:solidFill>
                  <a:srgbClr val="000000"/>
                </a:solidFill>
              </a:rPr>
              <a:t>In most cases, it’s better to use </a:t>
            </a:r>
            <a:r>
              <a:rPr lang="en-US" altLang="en-US" dirty="0">
                <a:solidFill>
                  <a:srgbClr val="000000"/>
                </a:solidFill>
                <a:latin typeface="Consolas" panose="020B0609020204030204" pitchFamily="49" charset="0"/>
              </a:rPr>
              <a:t>private</a:t>
            </a:r>
            <a:r>
              <a:rPr lang="en-US" altLang="en-US" dirty="0">
                <a:solidFill>
                  <a:srgbClr val="000000"/>
                </a:solidFill>
              </a:rPr>
              <a:t> instance variables to encourage proper software engineering. </a:t>
            </a:r>
          </a:p>
          <a:p>
            <a:pPr lvl="1" eaLnBrk="1" hangingPunct="1"/>
            <a:r>
              <a:rPr lang="en-US" altLang="en-US" dirty="0">
                <a:solidFill>
                  <a:srgbClr val="000000"/>
                </a:solidFill>
              </a:rPr>
              <a:t>Code will be easier to maintain, modify and debug.</a:t>
            </a:r>
          </a:p>
        </p:txBody>
      </p:sp>
      <p:sp>
        <p:nvSpPr>
          <p:cNvPr id="4" name="Footer Placeholder 3">
            <a:extLst>
              <a:ext uri="{FF2B5EF4-FFF2-40B4-BE49-F238E27FC236}">
                <a16:creationId xmlns:a16="http://schemas.microsoft.com/office/drawing/2014/main" id="{777EEAED-B66B-436E-B83D-932AE1E78098}"/>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0513576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41FD-653F-4101-83C2-AC439CD886E4}"/>
              </a:ext>
            </a:extLst>
          </p:cNvPr>
          <p:cNvSpPr>
            <a:spLocks noGrp="1"/>
          </p:cNvSpPr>
          <p:nvPr>
            <p:ph type="title"/>
          </p:nvPr>
        </p:nvSpPr>
        <p:spPr/>
        <p:txBody>
          <a:bodyPr>
            <a:noAutofit/>
          </a:bodyPr>
          <a:lstStyle/>
          <a:p>
            <a:pPr fontAlgn="auto">
              <a:spcAft>
                <a:spcPts val="0"/>
              </a:spcAft>
              <a:defRPr/>
            </a:pPr>
            <a:r>
              <a:rPr lang="en-US" sz="2800" dirty="0">
                <a:solidFill>
                  <a:srgbClr val="59D9B3"/>
                </a:solidFill>
                <a:latin typeface="Calibri" panose="020F0502020204030204" pitchFamily="34" charset="0"/>
              </a:rPr>
              <a:t>9.4.4 </a:t>
            </a:r>
            <a:r>
              <a:rPr lang="en-US" sz="2800" dirty="0" err="1">
                <a:solidFill>
                  <a:srgbClr val="33B38C"/>
                </a:solidFill>
                <a:latin typeface="Consolas" panose="020B0609020204030204" pitchFamily="49" charset="0"/>
              </a:rPr>
              <a:t>CommissionEmployee</a:t>
            </a:r>
            <a:r>
              <a:rPr lang="en-US" sz="2800" dirty="0" err="1">
                <a:solidFill>
                  <a:srgbClr val="33B38C"/>
                </a:solidFill>
                <a:latin typeface="Calibri" panose="020F0502020204030204" pitchFamily="34" charset="0"/>
              </a:rPr>
              <a:t>–</a:t>
            </a:r>
            <a:r>
              <a:rPr lang="en-US" sz="2800" dirty="0" err="1">
                <a:solidFill>
                  <a:srgbClr val="33B38C"/>
                </a:solidFill>
                <a:latin typeface="Consolas" panose="020B0609020204030204" pitchFamily="49" charset="0"/>
              </a:rPr>
              <a:t>BasePlus-CommissionEmployee</a:t>
            </a:r>
            <a:r>
              <a:rPr lang="en-US" sz="2800" dirty="0">
                <a:solidFill>
                  <a:srgbClr val="33B38C"/>
                </a:solidFill>
                <a:latin typeface="Calibri" panose="020F0502020204030204" pitchFamily="34" charset="0"/>
              </a:rPr>
              <a:t> Inheritance Hierarchy Using </a:t>
            </a:r>
            <a:r>
              <a:rPr lang="en-US" sz="2800" dirty="0">
                <a:solidFill>
                  <a:srgbClr val="33B38C"/>
                </a:solidFill>
                <a:latin typeface="Consolas" panose="020B0609020204030204" pitchFamily="49" charset="0"/>
              </a:rPr>
              <a:t>protected</a:t>
            </a:r>
            <a:r>
              <a:rPr lang="en-US" sz="2800" dirty="0">
                <a:solidFill>
                  <a:srgbClr val="33B38C"/>
                </a:solidFill>
                <a:latin typeface="Calibri" panose="020F0502020204030204" pitchFamily="34" charset="0"/>
              </a:rPr>
              <a:t> Instance Variables (Cont.)</a:t>
            </a:r>
          </a:p>
        </p:txBody>
      </p:sp>
      <p:sp>
        <p:nvSpPr>
          <p:cNvPr id="75779" name="Text Placeholder 2">
            <a:extLst>
              <a:ext uri="{FF2B5EF4-FFF2-40B4-BE49-F238E27FC236}">
                <a16:creationId xmlns:a16="http://schemas.microsoft.com/office/drawing/2014/main" id="{621F6889-3145-408E-9559-FF3096F5EAEF}"/>
              </a:ext>
            </a:extLst>
          </p:cNvPr>
          <p:cNvSpPr>
            <a:spLocks noGrp="1"/>
          </p:cNvSpPr>
          <p:nvPr>
            <p:ph type="body" idx="1"/>
          </p:nvPr>
        </p:nvSpPr>
        <p:spPr/>
        <p:txBody>
          <a:bodyPr/>
          <a:lstStyle/>
          <a:p>
            <a:pPr eaLnBrk="1" hangingPunct="1"/>
            <a:r>
              <a:rPr lang="en-US" altLang="en-US" dirty="0">
                <a:solidFill>
                  <a:srgbClr val="000000"/>
                </a:solidFill>
              </a:rPr>
              <a:t>Using </a:t>
            </a:r>
            <a:r>
              <a:rPr lang="en-US" altLang="en-US" dirty="0">
                <a:solidFill>
                  <a:srgbClr val="000000"/>
                </a:solidFill>
                <a:latin typeface="Consolas" panose="020B0609020204030204" pitchFamily="49" charset="0"/>
              </a:rPr>
              <a:t>protected</a:t>
            </a:r>
            <a:r>
              <a:rPr lang="en-US" altLang="en-US" dirty="0">
                <a:solidFill>
                  <a:srgbClr val="000000"/>
                </a:solidFill>
              </a:rPr>
              <a:t> instance variables creates several potential problems.</a:t>
            </a:r>
          </a:p>
          <a:p>
            <a:pPr eaLnBrk="1" hangingPunct="1"/>
            <a:r>
              <a:rPr lang="en-US" altLang="en-US" dirty="0">
                <a:solidFill>
                  <a:srgbClr val="000000"/>
                </a:solidFill>
              </a:rPr>
              <a:t>The subclass object can set an inherited variable’s value directly without using a </a:t>
            </a:r>
            <a:r>
              <a:rPr lang="en-US" altLang="en-US" i="1" dirty="0">
                <a:solidFill>
                  <a:srgbClr val="000000"/>
                </a:solidFill>
              </a:rPr>
              <a:t>set method. </a:t>
            </a:r>
          </a:p>
          <a:p>
            <a:pPr lvl="1" eaLnBrk="1" hangingPunct="1"/>
            <a:r>
              <a:rPr lang="en-US" altLang="en-US" dirty="0">
                <a:solidFill>
                  <a:srgbClr val="000000"/>
                </a:solidFill>
              </a:rPr>
              <a:t>A subclass object can assign an invalid value to the variable</a:t>
            </a:r>
          </a:p>
          <a:p>
            <a:pPr eaLnBrk="1" hangingPunct="1"/>
            <a:r>
              <a:rPr lang="en-US" altLang="en-US" dirty="0">
                <a:solidFill>
                  <a:srgbClr val="000000"/>
                </a:solidFill>
              </a:rPr>
              <a:t>Subclass methods are more likely to be written so that they depend on the superclass’s data implementation. </a:t>
            </a:r>
          </a:p>
          <a:p>
            <a:pPr lvl="1" eaLnBrk="1" hangingPunct="1"/>
            <a:r>
              <a:rPr lang="en-US" altLang="en-US" dirty="0">
                <a:solidFill>
                  <a:srgbClr val="000000"/>
                </a:solidFill>
              </a:rPr>
              <a:t>Subclasses should depend only on the superclass services and not on the superclass data implementation. </a:t>
            </a:r>
          </a:p>
        </p:txBody>
      </p:sp>
      <p:sp>
        <p:nvSpPr>
          <p:cNvPr id="4" name="Footer Placeholder 3">
            <a:extLst>
              <a:ext uri="{FF2B5EF4-FFF2-40B4-BE49-F238E27FC236}">
                <a16:creationId xmlns:a16="http://schemas.microsoft.com/office/drawing/2014/main" id="{2B3953B4-C267-4EDC-9866-563EDBFC5283}"/>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185966057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26587-A78A-4630-8D36-735D485CD069}"/>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9.5  </a:t>
            </a:r>
            <a:r>
              <a:rPr lang="en-US" dirty="0">
                <a:solidFill>
                  <a:srgbClr val="3380E6"/>
                </a:solidFill>
                <a:latin typeface="Calibri" panose="020F0502020204030204" pitchFamily="34" charset="0"/>
              </a:rPr>
              <a:t>Constructors in Subclasses</a:t>
            </a:r>
          </a:p>
        </p:txBody>
      </p:sp>
      <p:sp>
        <p:nvSpPr>
          <p:cNvPr id="95235" name="Text Placeholder 2">
            <a:extLst>
              <a:ext uri="{FF2B5EF4-FFF2-40B4-BE49-F238E27FC236}">
                <a16:creationId xmlns:a16="http://schemas.microsoft.com/office/drawing/2014/main" id="{785058DA-AA33-499F-B88E-DBFE8AC6655C}"/>
              </a:ext>
            </a:extLst>
          </p:cNvPr>
          <p:cNvSpPr>
            <a:spLocks noGrp="1"/>
          </p:cNvSpPr>
          <p:nvPr>
            <p:ph type="body" idx="1"/>
          </p:nvPr>
        </p:nvSpPr>
        <p:spPr/>
        <p:txBody>
          <a:bodyPr/>
          <a:lstStyle/>
          <a:p>
            <a:pPr eaLnBrk="1" hangingPunct="1">
              <a:spcBef>
                <a:spcPts val="1200"/>
              </a:spcBef>
            </a:pPr>
            <a:r>
              <a:rPr lang="en-US" altLang="en-US" sz="2500" dirty="0">
                <a:solidFill>
                  <a:srgbClr val="000000"/>
                </a:solidFill>
              </a:rPr>
              <a:t>Instantiating a subclass object begins a chain of constructor calls </a:t>
            </a:r>
          </a:p>
          <a:p>
            <a:pPr lvl="1" eaLnBrk="1" hangingPunct="1">
              <a:spcBef>
                <a:spcPts val="1200"/>
              </a:spcBef>
            </a:pPr>
            <a:r>
              <a:rPr lang="en-US" altLang="en-US" sz="2100" dirty="0">
                <a:solidFill>
                  <a:srgbClr val="000000"/>
                </a:solidFill>
              </a:rPr>
              <a:t>The subclass constructor, before performing its own tasks, explicitly uses </a:t>
            </a:r>
            <a:r>
              <a:rPr lang="en-US" altLang="en-US" sz="2100" dirty="0">
                <a:solidFill>
                  <a:srgbClr val="000000"/>
                </a:solidFill>
                <a:latin typeface="Consolas" panose="020B0609020204030204" pitchFamily="49" charset="0"/>
              </a:rPr>
              <a:t>super</a:t>
            </a:r>
            <a:r>
              <a:rPr lang="en-US" altLang="en-US" sz="2100" dirty="0">
                <a:solidFill>
                  <a:srgbClr val="000000"/>
                </a:solidFill>
              </a:rPr>
              <a:t> to call one of the constructors in its direct superclass or implicitly calls the superclass’s default or no-argument constructor</a:t>
            </a:r>
          </a:p>
          <a:p>
            <a:pPr eaLnBrk="1" hangingPunct="1">
              <a:spcBef>
                <a:spcPts val="1200"/>
              </a:spcBef>
            </a:pPr>
            <a:r>
              <a:rPr lang="en-US" altLang="en-US" sz="2500" dirty="0">
                <a:solidFill>
                  <a:srgbClr val="000000"/>
                </a:solidFill>
              </a:rPr>
              <a:t>If the superclass is derived from another class, the superclass constructor invokes the constructor of the next class up the hierarchy, and so on. </a:t>
            </a:r>
          </a:p>
          <a:p>
            <a:pPr eaLnBrk="1" hangingPunct="1">
              <a:spcBef>
                <a:spcPts val="1200"/>
              </a:spcBef>
            </a:pPr>
            <a:r>
              <a:rPr lang="en-US" altLang="en-US" sz="2500" dirty="0">
                <a:solidFill>
                  <a:srgbClr val="000000"/>
                </a:solidFill>
              </a:rPr>
              <a:t>The last constructor called in the chain is </a:t>
            </a:r>
            <a:r>
              <a:rPr lang="en-US" altLang="en-US" sz="2500" i="1" dirty="0">
                <a:solidFill>
                  <a:srgbClr val="000000"/>
                </a:solidFill>
              </a:rPr>
              <a:t>always</a:t>
            </a:r>
            <a:r>
              <a:rPr lang="en-US" altLang="en-US" sz="2500" dirty="0">
                <a:solidFill>
                  <a:srgbClr val="000000"/>
                </a:solidFill>
              </a:rPr>
              <a:t> </a:t>
            </a:r>
            <a:r>
              <a:rPr lang="en-US" altLang="en-US" sz="2500" dirty="0">
                <a:solidFill>
                  <a:srgbClr val="000000"/>
                </a:solidFill>
                <a:latin typeface="Consolas" panose="020B0609020204030204" pitchFamily="49" charset="0"/>
              </a:rPr>
              <a:t>Object</a:t>
            </a:r>
            <a:r>
              <a:rPr lang="en-US" altLang="en-US" sz="2500" dirty="0">
                <a:solidFill>
                  <a:srgbClr val="000000"/>
                </a:solidFill>
              </a:rPr>
              <a:t>’s constructor. </a:t>
            </a:r>
          </a:p>
          <a:p>
            <a:pPr eaLnBrk="1" hangingPunct="1">
              <a:spcBef>
                <a:spcPts val="1200"/>
              </a:spcBef>
            </a:pPr>
            <a:r>
              <a:rPr lang="en-US" altLang="en-US" sz="2500" dirty="0">
                <a:solidFill>
                  <a:srgbClr val="000000"/>
                </a:solidFill>
              </a:rPr>
              <a:t>Original subclass constructor’s body finishes executing </a:t>
            </a:r>
            <a:r>
              <a:rPr lang="en-US" altLang="en-US" sz="2500" i="1" dirty="0">
                <a:solidFill>
                  <a:srgbClr val="000000"/>
                </a:solidFill>
              </a:rPr>
              <a:t>last</a:t>
            </a:r>
            <a:r>
              <a:rPr lang="en-US" altLang="en-US" sz="2500" dirty="0">
                <a:solidFill>
                  <a:srgbClr val="000000"/>
                </a:solidFill>
              </a:rPr>
              <a:t>. </a:t>
            </a:r>
          </a:p>
          <a:p>
            <a:pPr eaLnBrk="1" hangingPunct="1">
              <a:spcBef>
                <a:spcPts val="1200"/>
              </a:spcBef>
            </a:pPr>
            <a:r>
              <a:rPr lang="en-US" altLang="en-US" sz="2500" dirty="0">
                <a:solidFill>
                  <a:srgbClr val="000000"/>
                </a:solidFill>
              </a:rPr>
              <a:t>Each superclass’s constructor manipulates the superclass instance variables that the subclass object inherits. </a:t>
            </a:r>
          </a:p>
        </p:txBody>
      </p:sp>
      <p:sp>
        <p:nvSpPr>
          <p:cNvPr id="4" name="Footer Placeholder 3">
            <a:extLst>
              <a:ext uri="{FF2B5EF4-FFF2-40B4-BE49-F238E27FC236}">
                <a16:creationId xmlns:a16="http://schemas.microsoft.com/office/drawing/2014/main" id="{AA374B1A-5E36-4915-9A96-17BD57427CCC}"/>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27479234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59">
            <a:extLst>
              <a:ext uri="{FF2B5EF4-FFF2-40B4-BE49-F238E27FC236}">
                <a16:creationId xmlns:a16="http://schemas.microsoft.com/office/drawing/2014/main" id="{3AC78730-E0EB-438E-820C-F4BC87C5ADB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41425"/>
            <a:ext cx="12192000" cy="4375150"/>
          </a:xfrm>
          <a:prstGeom prst="rect">
            <a:avLst/>
          </a:prstGeom>
        </p:spPr>
      </p:pic>
      <p:sp>
        <p:nvSpPr>
          <p:cNvPr id="2" name="Footer Placeholder 1">
            <a:extLst>
              <a:ext uri="{FF2B5EF4-FFF2-40B4-BE49-F238E27FC236}">
                <a16:creationId xmlns:a16="http://schemas.microsoft.com/office/drawing/2014/main" id="{7F82B1FA-60EE-438C-A95B-DC3A71E1486E}"/>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328464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0C4E5-0128-4635-8899-C10430E13D6B}"/>
              </a:ext>
            </a:extLst>
          </p:cNvPr>
          <p:cNvSpPr>
            <a:spLocks noGrp="1"/>
          </p:cNvSpPr>
          <p:nvPr>
            <p:ph type="title"/>
          </p:nvPr>
        </p:nvSpPr>
        <p:spPr/>
        <p:txBody>
          <a:bodyPr/>
          <a:lstStyle/>
          <a:p>
            <a:pPr fontAlgn="auto">
              <a:spcAft>
                <a:spcPts val="0"/>
              </a:spcAft>
              <a:defRPr/>
            </a:pPr>
            <a:r>
              <a:rPr lang="en-US" dirty="0">
                <a:solidFill>
                  <a:srgbClr val="24B5A1"/>
                </a:solidFill>
                <a:latin typeface="Calibri" panose="020F0502020204030204" pitchFamily="34" charset="0"/>
              </a:rPr>
              <a:t>9.6  </a:t>
            </a:r>
            <a:r>
              <a:rPr lang="en-US" dirty="0">
                <a:solidFill>
                  <a:srgbClr val="3380E6"/>
                </a:solidFill>
                <a:latin typeface="Calibri" panose="020F0502020204030204" pitchFamily="34" charset="0"/>
              </a:rPr>
              <a:t> Class </a:t>
            </a:r>
            <a:r>
              <a:rPr lang="en-US" dirty="0">
                <a:solidFill>
                  <a:srgbClr val="3380E6"/>
                </a:solidFill>
                <a:latin typeface="Consolas" panose="020B0609020204030204" pitchFamily="49" charset="0"/>
              </a:rPr>
              <a:t>Object</a:t>
            </a:r>
            <a:endParaRPr lang="en-US" dirty="0">
              <a:solidFill>
                <a:srgbClr val="3380E6"/>
              </a:solidFill>
              <a:latin typeface="Calibri" panose="020F0502020204030204" pitchFamily="34" charset="0"/>
            </a:endParaRPr>
          </a:p>
        </p:txBody>
      </p:sp>
      <p:sp>
        <p:nvSpPr>
          <p:cNvPr id="97283" name="Text Placeholder 2">
            <a:extLst>
              <a:ext uri="{FF2B5EF4-FFF2-40B4-BE49-F238E27FC236}">
                <a16:creationId xmlns:a16="http://schemas.microsoft.com/office/drawing/2014/main" id="{08FDFF4E-A21D-468C-891B-F27B9ACD3F20}"/>
              </a:ext>
            </a:extLst>
          </p:cNvPr>
          <p:cNvSpPr>
            <a:spLocks noGrp="1"/>
          </p:cNvSpPr>
          <p:nvPr>
            <p:ph type="body" idx="1"/>
          </p:nvPr>
        </p:nvSpPr>
        <p:spPr>
          <a:xfrm>
            <a:off x="609600" y="1295401"/>
            <a:ext cx="10972800" cy="4919663"/>
          </a:xfrm>
        </p:spPr>
        <p:txBody>
          <a:bodyPr/>
          <a:lstStyle/>
          <a:p>
            <a:pPr eaLnBrk="1" hangingPunct="1">
              <a:lnSpc>
                <a:spcPct val="80000"/>
              </a:lnSpc>
            </a:pPr>
            <a:r>
              <a:rPr lang="en-US" altLang="en-US" sz="2300" dirty="0">
                <a:solidFill>
                  <a:srgbClr val="000000"/>
                </a:solidFill>
              </a:rPr>
              <a:t>All classes in Java inherit directly or indirectly from class </a:t>
            </a:r>
            <a:r>
              <a:rPr lang="en-US" altLang="en-US" sz="2300" dirty="0">
                <a:solidFill>
                  <a:srgbClr val="000000"/>
                </a:solidFill>
                <a:latin typeface="Consolas" panose="020B0609020204030204" pitchFamily="49" charset="0"/>
              </a:rPr>
              <a:t>Object</a:t>
            </a:r>
            <a:r>
              <a:rPr lang="en-US" altLang="en-US" sz="2300" dirty="0">
                <a:solidFill>
                  <a:srgbClr val="000000"/>
                </a:solidFill>
              </a:rPr>
              <a:t>, so its 11 methods are inherited by all other classes. </a:t>
            </a:r>
          </a:p>
          <a:p>
            <a:pPr eaLnBrk="1" hangingPunct="1">
              <a:lnSpc>
                <a:spcPct val="80000"/>
              </a:lnSpc>
            </a:pPr>
            <a:r>
              <a:rPr lang="en-US" altLang="en-US" sz="2300" dirty="0">
                <a:solidFill>
                  <a:srgbClr val="000000"/>
                </a:solidFill>
              </a:rPr>
              <a:t>Figure 9.12 summarizes </a:t>
            </a:r>
            <a:r>
              <a:rPr lang="en-US" altLang="en-US" sz="2300" dirty="0">
                <a:solidFill>
                  <a:srgbClr val="000000"/>
                </a:solidFill>
                <a:latin typeface="Consolas" panose="020B0609020204030204" pitchFamily="49" charset="0"/>
              </a:rPr>
              <a:t>Object</a:t>
            </a:r>
            <a:r>
              <a:rPr lang="en-US" altLang="en-US" sz="2300" dirty="0">
                <a:solidFill>
                  <a:srgbClr val="000000"/>
                </a:solidFill>
              </a:rPr>
              <a:t>’s methods. </a:t>
            </a:r>
          </a:p>
          <a:p>
            <a:pPr eaLnBrk="1" hangingPunct="1">
              <a:lnSpc>
                <a:spcPct val="80000"/>
              </a:lnSpc>
            </a:pPr>
            <a:r>
              <a:rPr lang="en-US" altLang="en-US" sz="2300" dirty="0">
                <a:solidFill>
                  <a:srgbClr val="000000"/>
                </a:solidFill>
              </a:rPr>
              <a:t>Every array has an overridden </a:t>
            </a:r>
            <a:r>
              <a:rPr lang="en-US" altLang="en-US" sz="2300" dirty="0">
                <a:solidFill>
                  <a:srgbClr val="000000"/>
                </a:solidFill>
                <a:latin typeface="Consolas" panose="020B0609020204030204" pitchFamily="49" charset="0"/>
              </a:rPr>
              <a:t>clone</a:t>
            </a:r>
            <a:r>
              <a:rPr lang="en-US" altLang="en-US" sz="2300" dirty="0">
                <a:solidFill>
                  <a:srgbClr val="000000"/>
                </a:solidFill>
              </a:rPr>
              <a:t> method that copies the array.</a:t>
            </a:r>
          </a:p>
          <a:p>
            <a:pPr lvl="1" eaLnBrk="1" hangingPunct="1">
              <a:lnSpc>
                <a:spcPct val="80000"/>
              </a:lnSpc>
            </a:pPr>
            <a:r>
              <a:rPr lang="en-US" altLang="en-US" sz="2000" dirty="0">
                <a:solidFill>
                  <a:srgbClr val="000000"/>
                </a:solidFill>
              </a:rPr>
              <a:t>If the array stores references to objects, the objects are not copied—a </a:t>
            </a:r>
            <a:r>
              <a:rPr lang="en-US" altLang="en-US" sz="2000" i="1" dirty="0">
                <a:solidFill>
                  <a:srgbClr val="000000"/>
                </a:solidFill>
              </a:rPr>
              <a:t>shallow copy </a:t>
            </a:r>
            <a:r>
              <a:rPr lang="en-US" altLang="en-US" sz="2000" dirty="0">
                <a:solidFill>
                  <a:srgbClr val="000000"/>
                </a:solidFill>
              </a:rPr>
              <a:t>is performed. </a:t>
            </a:r>
          </a:p>
          <a:p>
            <a:pPr eaLnBrk="1" hangingPunct="1">
              <a:lnSpc>
                <a:spcPct val="80000"/>
              </a:lnSpc>
              <a:buFont typeface="Wingdings 3" panose="05040102010807070707" pitchFamily="18" charset="2"/>
              <a:buNone/>
            </a:pPr>
            <a:endParaRPr lang="en-US" altLang="en-US" sz="1800" dirty="0">
              <a:solidFill>
                <a:srgbClr val="000000"/>
              </a:solidFill>
              <a:latin typeface="Consolas" panose="020B0609020204030204" pitchFamily="49" charset="0"/>
            </a:endParaRPr>
          </a:p>
        </p:txBody>
      </p:sp>
      <p:sp>
        <p:nvSpPr>
          <p:cNvPr id="4" name="Footer Placeholder 3">
            <a:extLst>
              <a:ext uri="{FF2B5EF4-FFF2-40B4-BE49-F238E27FC236}">
                <a16:creationId xmlns:a16="http://schemas.microsoft.com/office/drawing/2014/main" id="{AEFB96E3-86B2-4BAF-93F5-B14134E09193}"/>
              </a:ext>
            </a:extLst>
          </p:cNvPr>
          <p:cNvSpPr>
            <a:spLocks noGrp="1"/>
          </p:cNvSpPr>
          <p:nvPr>
            <p:ph type="ftr" sz="quarter" idx="11"/>
          </p:nvPr>
        </p:nvSpPr>
        <p:spPr/>
        <p:txBody>
          <a:bodyPr/>
          <a:lstStyle/>
          <a:p>
            <a:pPr>
              <a:defRPr/>
            </a:pPr>
            <a:r>
              <a:rPr lang="en-US"/>
              <a:t>© Copyright 1992-2018 by Pearson Education, Inc. All Rights Reserved.</a:t>
            </a:r>
          </a:p>
        </p:txBody>
      </p:sp>
    </p:spTree>
    <p:extLst>
      <p:ext uri="{BB962C8B-B14F-4D97-AF65-F5344CB8AC3E}">
        <p14:creationId xmlns:p14="http://schemas.microsoft.com/office/powerpoint/2010/main" val="38052557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60">
            <a:extLst>
              <a:ext uri="{FF2B5EF4-FFF2-40B4-BE49-F238E27FC236}">
                <a16:creationId xmlns:a16="http://schemas.microsoft.com/office/drawing/2014/main" id="{64E6140F-229D-47E5-84C3-9C275387F822}"/>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379413" y="0"/>
            <a:ext cx="11431587" cy="6858000"/>
          </a:xfrm>
          <a:prstGeom prst="rect">
            <a:avLst/>
          </a:prstGeom>
        </p:spPr>
      </p:pic>
      <p:sp>
        <p:nvSpPr>
          <p:cNvPr id="2" name="Footer Placeholder 1">
            <a:extLst>
              <a:ext uri="{FF2B5EF4-FFF2-40B4-BE49-F238E27FC236}">
                <a16:creationId xmlns:a16="http://schemas.microsoft.com/office/drawing/2014/main" id="{7AA46593-C699-45EC-ACE3-E31AAFD4660B}"/>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83272809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61">
            <a:extLst>
              <a:ext uri="{FF2B5EF4-FFF2-40B4-BE49-F238E27FC236}">
                <a16:creationId xmlns:a16="http://schemas.microsoft.com/office/drawing/2014/main" id="{A72203ED-C23B-4238-9A62-E30C84696B30}"/>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217488" y="0"/>
            <a:ext cx="11755437" cy="6858000"/>
          </a:xfrm>
          <a:prstGeom prst="rect">
            <a:avLst/>
          </a:prstGeom>
        </p:spPr>
      </p:pic>
      <p:sp>
        <p:nvSpPr>
          <p:cNvPr id="2" name="Footer Placeholder 1">
            <a:extLst>
              <a:ext uri="{FF2B5EF4-FFF2-40B4-BE49-F238E27FC236}">
                <a16:creationId xmlns:a16="http://schemas.microsoft.com/office/drawing/2014/main" id="{73CF1722-BDFA-4025-B6FB-E26AF86A9FAB}"/>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5860453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62">
            <a:extLst>
              <a:ext uri="{FF2B5EF4-FFF2-40B4-BE49-F238E27FC236}">
                <a16:creationId xmlns:a16="http://schemas.microsoft.com/office/drawing/2014/main" id="{FDCE6874-80AE-440C-9E2E-6D15C479F195}"/>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7463"/>
            <a:ext cx="12192000" cy="6823075"/>
          </a:xfrm>
          <a:prstGeom prst="rect">
            <a:avLst/>
          </a:prstGeom>
        </p:spPr>
      </p:pic>
      <p:sp>
        <p:nvSpPr>
          <p:cNvPr id="2" name="Footer Placeholder 1">
            <a:extLst>
              <a:ext uri="{FF2B5EF4-FFF2-40B4-BE49-F238E27FC236}">
                <a16:creationId xmlns:a16="http://schemas.microsoft.com/office/drawing/2014/main" id="{19600206-3F33-4C69-AA81-1B23EA34E5B1}"/>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8132862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63">
            <a:extLst>
              <a:ext uri="{FF2B5EF4-FFF2-40B4-BE49-F238E27FC236}">
                <a16:creationId xmlns:a16="http://schemas.microsoft.com/office/drawing/2014/main" id="{856DF2AF-9D86-40DD-95D2-44E1078EFD5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1236663" y="0"/>
            <a:ext cx="9717087" cy="6858000"/>
          </a:xfrm>
          <a:prstGeom prst="rect">
            <a:avLst/>
          </a:prstGeom>
        </p:spPr>
      </p:pic>
      <p:sp>
        <p:nvSpPr>
          <p:cNvPr id="2" name="Footer Placeholder 1">
            <a:extLst>
              <a:ext uri="{FF2B5EF4-FFF2-40B4-BE49-F238E27FC236}">
                <a16:creationId xmlns:a16="http://schemas.microsoft.com/office/drawing/2014/main" id="{204FD442-1BF4-4F8B-AC80-8106D5D10AF9}"/>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99033445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C8758-44FA-4D44-B0DE-A3DC50A433CB}"/>
              </a:ext>
            </a:extLst>
          </p:cNvPr>
          <p:cNvSpPr>
            <a:spLocks noGrp="1"/>
          </p:cNvSpPr>
          <p:nvPr>
            <p:ph type="title"/>
          </p:nvPr>
        </p:nvSpPr>
        <p:spPr/>
        <p:txBody>
          <a:bodyPr>
            <a:normAutofit/>
          </a:bodyPr>
          <a:lstStyle/>
          <a:p>
            <a:pPr algn="ctr"/>
            <a:r>
              <a:rPr lang="en-US" dirty="0">
                <a:highlight>
                  <a:srgbClr val="00FF00"/>
                </a:highlight>
              </a:rPr>
              <a:t>ACTIVITY</a:t>
            </a:r>
          </a:p>
        </p:txBody>
      </p:sp>
      <p:sp>
        <p:nvSpPr>
          <p:cNvPr id="3" name="Text Placeholder 2">
            <a:extLst>
              <a:ext uri="{FF2B5EF4-FFF2-40B4-BE49-F238E27FC236}">
                <a16:creationId xmlns:a16="http://schemas.microsoft.com/office/drawing/2014/main" id="{84EA6A86-584A-4E4D-8595-B7C9C1A0D995}"/>
              </a:ext>
            </a:extLst>
          </p:cNvPr>
          <p:cNvSpPr>
            <a:spLocks noGrp="1"/>
          </p:cNvSpPr>
          <p:nvPr>
            <p:ph type="body" idx="1"/>
          </p:nvPr>
        </p:nvSpPr>
        <p:spPr>
          <a:xfrm>
            <a:off x="609600" y="1166019"/>
            <a:ext cx="10972800" cy="4525962"/>
          </a:xfrm>
        </p:spPr>
        <p:txBody>
          <a:bodyPr/>
          <a:lstStyle/>
          <a:p>
            <a:r>
              <a:rPr lang="en-US" sz="3200" dirty="0"/>
              <a:t>Go to class </a:t>
            </a:r>
            <a:r>
              <a:rPr lang="en-US" sz="3200" b="1" dirty="0"/>
              <a:t>Object </a:t>
            </a:r>
            <a:r>
              <a:rPr lang="en-US" sz="3200" dirty="0"/>
              <a:t>in Java API</a:t>
            </a:r>
          </a:p>
          <a:p>
            <a:r>
              <a:rPr lang="en-US" sz="3200" dirty="0"/>
              <a:t>Familiarize yourself with the class and its methods. </a:t>
            </a:r>
          </a:p>
          <a:p>
            <a:pPr lvl="1"/>
            <a:r>
              <a:rPr lang="en-US" sz="2800" dirty="0"/>
              <a:t>Check their implementation documentation. </a:t>
            </a:r>
          </a:p>
        </p:txBody>
      </p:sp>
    </p:spTree>
    <p:extLst>
      <p:ext uri="{BB962C8B-B14F-4D97-AF65-F5344CB8AC3E}">
        <p14:creationId xmlns:p14="http://schemas.microsoft.com/office/powerpoint/2010/main" val="367600541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E9B243-1413-4E11-B0D3-F7D09062A601}"/>
              </a:ext>
            </a:extLst>
          </p:cNvPr>
          <p:cNvSpPr>
            <a:spLocks noGrp="1"/>
          </p:cNvSpPr>
          <p:nvPr>
            <p:ph idx="1"/>
          </p:nvPr>
        </p:nvSpPr>
        <p:spPr/>
        <p:txBody>
          <a:bodyPr/>
          <a:lstStyle/>
          <a:p>
            <a:r>
              <a:rPr lang="en-US" dirty="0"/>
              <a:t>There’s much discussion in the software engineering community about the relative merits of composition and inheritance</a:t>
            </a:r>
          </a:p>
          <a:p>
            <a:r>
              <a:rPr lang="en-US" dirty="0"/>
              <a:t>Each has its own place, but inheritance is often overused and composition is more appropriate in many cases</a:t>
            </a:r>
          </a:p>
          <a:p>
            <a:r>
              <a:rPr lang="en-US" dirty="0"/>
              <a:t>A mix of composition and inheritance often is a reasonable design approach.</a:t>
            </a:r>
          </a:p>
        </p:txBody>
      </p:sp>
      <p:sp>
        <p:nvSpPr>
          <p:cNvPr id="3" name="Title 2">
            <a:extLst>
              <a:ext uri="{FF2B5EF4-FFF2-40B4-BE49-F238E27FC236}">
                <a16:creationId xmlns:a16="http://schemas.microsoft.com/office/drawing/2014/main" id="{A758EC7C-B91E-49F3-A662-E482D6179B83}"/>
              </a:ext>
            </a:extLst>
          </p:cNvPr>
          <p:cNvSpPr>
            <a:spLocks noGrp="1"/>
          </p:cNvSpPr>
          <p:nvPr>
            <p:ph type="title"/>
          </p:nvPr>
        </p:nvSpPr>
        <p:spPr/>
        <p:txBody>
          <a:bodyPr/>
          <a:lstStyle/>
          <a:p>
            <a:r>
              <a:rPr lang="en-US" dirty="0">
                <a:solidFill>
                  <a:srgbClr val="24B5A1"/>
                </a:solidFill>
                <a:latin typeface="Calibri" panose="020F0502020204030204" pitchFamily="34" charset="0"/>
              </a:rPr>
              <a:t>9.7  </a:t>
            </a:r>
            <a:r>
              <a:rPr lang="en-US" dirty="0">
                <a:solidFill>
                  <a:srgbClr val="3380E6"/>
                </a:solidFill>
                <a:latin typeface="Calibri" panose="020F0502020204030204" pitchFamily="34" charset="0"/>
              </a:rPr>
              <a:t> Designing with Composition vs. Inheritance</a:t>
            </a:r>
            <a:endParaRPr lang="en-US" dirty="0"/>
          </a:p>
        </p:txBody>
      </p:sp>
      <p:sp>
        <p:nvSpPr>
          <p:cNvPr id="2" name="Footer Placeholder 1">
            <a:extLst>
              <a:ext uri="{FF2B5EF4-FFF2-40B4-BE49-F238E27FC236}">
                <a16:creationId xmlns:a16="http://schemas.microsoft.com/office/drawing/2014/main" id="{9E865D1C-5B70-4859-B527-EA86FDDF038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9849336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64">
            <a:extLst>
              <a:ext uri="{FF2B5EF4-FFF2-40B4-BE49-F238E27FC236}">
                <a16:creationId xmlns:a16="http://schemas.microsoft.com/office/drawing/2014/main" id="{7C3B103E-02FC-49D4-A03B-EBF10C7290F3}"/>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441790" y="0"/>
            <a:ext cx="11140610" cy="6858000"/>
          </a:xfrm>
          <a:prstGeom prst="rect">
            <a:avLst/>
          </a:prstGeom>
        </p:spPr>
      </p:pic>
      <p:sp>
        <p:nvSpPr>
          <p:cNvPr id="2" name="Footer Placeholder 1">
            <a:extLst>
              <a:ext uri="{FF2B5EF4-FFF2-40B4-BE49-F238E27FC236}">
                <a16:creationId xmlns:a16="http://schemas.microsoft.com/office/drawing/2014/main" id="{6D06904D-3DE5-4406-9410-A8D1C3D34454}"/>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5003352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50BE4-D36A-4B97-8F9C-49C66AE57068}"/>
              </a:ext>
            </a:extLst>
          </p:cNvPr>
          <p:cNvSpPr>
            <a:spLocks noGrp="1"/>
          </p:cNvSpPr>
          <p:nvPr>
            <p:ph type="title"/>
          </p:nvPr>
        </p:nvSpPr>
        <p:spPr/>
        <p:txBody>
          <a:bodyPr/>
          <a:lstStyle/>
          <a:p>
            <a:r>
              <a:rPr lang="en-US" dirty="0"/>
              <a:t>EXTRAL SLIDES FOR HARD WORKING STUDENTS</a:t>
            </a:r>
          </a:p>
        </p:txBody>
      </p:sp>
      <p:sp>
        <p:nvSpPr>
          <p:cNvPr id="3" name="Text Placeholder 2">
            <a:extLst>
              <a:ext uri="{FF2B5EF4-FFF2-40B4-BE49-F238E27FC236}">
                <a16:creationId xmlns:a16="http://schemas.microsoft.com/office/drawing/2014/main" id="{788CA28B-4263-4FE3-973D-8D548C6D5F88}"/>
              </a:ext>
            </a:extLst>
          </p:cNvPr>
          <p:cNvSpPr>
            <a:spLocks noGrp="1"/>
          </p:cNvSpPr>
          <p:nvPr>
            <p:ph type="body" idx="1"/>
          </p:nvPr>
        </p:nvSpPr>
        <p:spPr/>
        <p:txBody>
          <a:bodyPr/>
          <a:lstStyle/>
          <a:p>
            <a:r>
              <a:rPr lang="en-US" sz="6600" dirty="0">
                <a:highlight>
                  <a:srgbClr val="FFFF00"/>
                </a:highlight>
              </a:rPr>
              <a:t>EXTRAL SLIDES FOR HARD WORKING STUDENTS</a:t>
            </a:r>
          </a:p>
        </p:txBody>
      </p:sp>
    </p:spTree>
    <p:extLst>
      <p:ext uri="{BB962C8B-B14F-4D97-AF65-F5344CB8AC3E}">
        <p14:creationId xmlns:p14="http://schemas.microsoft.com/office/powerpoint/2010/main" val="90616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E9B243-1413-4E11-B0D3-F7D09062A601}"/>
              </a:ext>
            </a:extLst>
          </p:cNvPr>
          <p:cNvSpPr>
            <a:spLocks noGrp="1"/>
          </p:cNvSpPr>
          <p:nvPr>
            <p:ph idx="1"/>
          </p:nvPr>
        </p:nvSpPr>
        <p:spPr/>
        <p:txBody>
          <a:bodyPr/>
          <a:lstStyle/>
          <a:p>
            <a:pPr marL="109537" indent="0">
              <a:buNone/>
            </a:pPr>
            <a:r>
              <a:rPr lang="en-US" b="1" i="1" dirty="0"/>
              <a:t>Inheritance-Based Designs</a:t>
            </a:r>
          </a:p>
          <a:p>
            <a:r>
              <a:rPr lang="en-US" dirty="0"/>
              <a:t>Inheritance creates tight coupling among the classes in a hierarchy</a:t>
            </a:r>
          </a:p>
          <a:p>
            <a:pPr lvl="1"/>
            <a:r>
              <a:rPr lang="en-US" dirty="0"/>
              <a:t>Each subclass typically depends on its direct or indirect </a:t>
            </a:r>
            <a:r>
              <a:rPr lang="en-US" dirty="0" err="1"/>
              <a:t>superclasses’</a:t>
            </a:r>
            <a:r>
              <a:rPr lang="en-US" dirty="0"/>
              <a:t> implementations</a:t>
            </a:r>
          </a:p>
          <a:p>
            <a:r>
              <a:rPr lang="en-US" dirty="0"/>
              <a:t>Changes in superclass implementation can affect the behavior of subclasses, often in subtle ways</a:t>
            </a:r>
          </a:p>
          <a:p>
            <a:r>
              <a:rPr lang="en-US" dirty="0"/>
              <a:t>Tightly coupled designs are more difficult to modify than those in loosely coupled, composition-based designs </a:t>
            </a:r>
          </a:p>
          <a:p>
            <a:r>
              <a:rPr lang="en-US" dirty="0"/>
              <a:t>Change is the rule rather than the exception—this encourages composition</a:t>
            </a:r>
          </a:p>
        </p:txBody>
      </p:sp>
      <p:sp>
        <p:nvSpPr>
          <p:cNvPr id="3" name="Title 2">
            <a:extLst>
              <a:ext uri="{FF2B5EF4-FFF2-40B4-BE49-F238E27FC236}">
                <a16:creationId xmlns:a16="http://schemas.microsoft.com/office/drawing/2014/main" id="{A758EC7C-B91E-49F3-A662-E482D6179B83}"/>
              </a:ext>
            </a:extLst>
          </p:cNvPr>
          <p:cNvSpPr>
            <a:spLocks noGrp="1"/>
          </p:cNvSpPr>
          <p:nvPr>
            <p:ph type="title"/>
          </p:nvPr>
        </p:nvSpPr>
        <p:spPr/>
        <p:txBody>
          <a:bodyPr>
            <a:normAutofit fontScale="90000"/>
          </a:bodyPr>
          <a:lstStyle/>
          <a:p>
            <a:r>
              <a:rPr lang="en-US" dirty="0">
                <a:solidFill>
                  <a:srgbClr val="24B5A1"/>
                </a:solidFill>
                <a:latin typeface="Calibri" panose="020F0502020204030204" pitchFamily="34" charset="0"/>
              </a:rPr>
              <a:t>9.7  </a:t>
            </a:r>
            <a:r>
              <a:rPr lang="en-US" dirty="0">
                <a:solidFill>
                  <a:srgbClr val="3380E6"/>
                </a:solidFill>
                <a:latin typeface="Calibri" panose="020F0502020204030204" pitchFamily="34" charset="0"/>
              </a:rPr>
              <a:t> Designing with Composition vs. Inheritance (cont.)</a:t>
            </a:r>
            <a:endParaRPr lang="en-US" dirty="0"/>
          </a:p>
        </p:txBody>
      </p:sp>
      <p:sp>
        <p:nvSpPr>
          <p:cNvPr id="2" name="Footer Placeholder 1">
            <a:extLst>
              <a:ext uri="{FF2B5EF4-FFF2-40B4-BE49-F238E27FC236}">
                <a16:creationId xmlns:a16="http://schemas.microsoft.com/office/drawing/2014/main" id="{9E865D1C-5B70-4859-B527-EA86FDDF038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8846693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E9B243-1413-4E11-B0D3-F7D09062A601}"/>
              </a:ext>
            </a:extLst>
          </p:cNvPr>
          <p:cNvSpPr>
            <a:spLocks noGrp="1"/>
          </p:cNvSpPr>
          <p:nvPr>
            <p:ph idx="1"/>
          </p:nvPr>
        </p:nvSpPr>
        <p:spPr/>
        <p:txBody>
          <a:bodyPr/>
          <a:lstStyle/>
          <a:p>
            <a:r>
              <a:rPr lang="en-US" dirty="0"/>
              <a:t>In general, use inheritance only for true </a:t>
            </a:r>
            <a:r>
              <a:rPr lang="en-US" i="1" dirty="0"/>
              <a:t>is-a</a:t>
            </a:r>
            <a:r>
              <a:rPr lang="en-US" dirty="0"/>
              <a:t> relationships in which you can assign a subclass object to a superclass reference</a:t>
            </a:r>
          </a:p>
          <a:p>
            <a:r>
              <a:rPr lang="en-US" dirty="0"/>
              <a:t>When you invoke a method via a superclass reference to a subclass object, the subclass’s corresponding method executes</a:t>
            </a:r>
          </a:p>
          <a:p>
            <a:pPr lvl="1"/>
            <a:r>
              <a:rPr lang="en-US" dirty="0"/>
              <a:t>This is called polymorphic behavior, which we explore in Chapter 10</a:t>
            </a:r>
          </a:p>
        </p:txBody>
      </p:sp>
      <p:sp>
        <p:nvSpPr>
          <p:cNvPr id="3" name="Title 2">
            <a:extLst>
              <a:ext uri="{FF2B5EF4-FFF2-40B4-BE49-F238E27FC236}">
                <a16:creationId xmlns:a16="http://schemas.microsoft.com/office/drawing/2014/main" id="{A758EC7C-B91E-49F3-A662-E482D6179B83}"/>
              </a:ext>
            </a:extLst>
          </p:cNvPr>
          <p:cNvSpPr>
            <a:spLocks noGrp="1"/>
          </p:cNvSpPr>
          <p:nvPr>
            <p:ph type="title"/>
          </p:nvPr>
        </p:nvSpPr>
        <p:spPr/>
        <p:txBody>
          <a:bodyPr>
            <a:normAutofit fontScale="90000"/>
          </a:bodyPr>
          <a:lstStyle/>
          <a:p>
            <a:r>
              <a:rPr lang="en-US" dirty="0">
                <a:solidFill>
                  <a:srgbClr val="24B5A1"/>
                </a:solidFill>
                <a:latin typeface="Calibri" panose="020F0502020204030204" pitchFamily="34" charset="0"/>
              </a:rPr>
              <a:t>9.7  </a:t>
            </a:r>
            <a:r>
              <a:rPr lang="en-US" dirty="0">
                <a:solidFill>
                  <a:srgbClr val="3380E6"/>
                </a:solidFill>
                <a:latin typeface="Calibri" panose="020F0502020204030204" pitchFamily="34" charset="0"/>
              </a:rPr>
              <a:t> Designing with Composition vs. Inheritance (cont.)</a:t>
            </a:r>
            <a:endParaRPr lang="en-US" dirty="0"/>
          </a:p>
        </p:txBody>
      </p:sp>
      <p:sp>
        <p:nvSpPr>
          <p:cNvPr id="2" name="Footer Placeholder 1">
            <a:extLst>
              <a:ext uri="{FF2B5EF4-FFF2-40B4-BE49-F238E27FC236}">
                <a16:creationId xmlns:a16="http://schemas.microsoft.com/office/drawing/2014/main" id="{9E865D1C-5B70-4859-B527-EA86FDDF038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1392209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65">
            <a:extLst>
              <a:ext uri="{FF2B5EF4-FFF2-40B4-BE49-F238E27FC236}">
                <a16:creationId xmlns:a16="http://schemas.microsoft.com/office/drawing/2014/main" id="{61A1D229-2BD8-4B68-8849-43C99EDACB2F}"/>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20788"/>
            <a:ext cx="12192000" cy="4416425"/>
          </a:xfrm>
          <a:prstGeom prst="rect">
            <a:avLst/>
          </a:prstGeom>
        </p:spPr>
      </p:pic>
      <p:sp>
        <p:nvSpPr>
          <p:cNvPr id="2" name="Footer Placeholder 1">
            <a:extLst>
              <a:ext uri="{FF2B5EF4-FFF2-40B4-BE49-F238E27FC236}">
                <a16:creationId xmlns:a16="http://schemas.microsoft.com/office/drawing/2014/main" id="{7B522CD0-0F1C-4B01-B4EE-062178783E6C}"/>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96777120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E9B243-1413-4E11-B0D3-F7D09062A601}"/>
              </a:ext>
            </a:extLst>
          </p:cNvPr>
          <p:cNvSpPr>
            <a:spLocks noGrp="1"/>
          </p:cNvSpPr>
          <p:nvPr>
            <p:ph idx="1"/>
          </p:nvPr>
        </p:nvSpPr>
        <p:spPr/>
        <p:txBody>
          <a:bodyPr/>
          <a:lstStyle/>
          <a:p>
            <a:pPr marL="109537" indent="0">
              <a:buNone/>
            </a:pPr>
            <a:r>
              <a:rPr lang="en-US" b="1" i="1" dirty="0"/>
              <a:t>Composition-Based Designs</a:t>
            </a:r>
          </a:p>
          <a:p>
            <a:r>
              <a:rPr lang="en-US" dirty="0"/>
              <a:t>Composition is loosely coupled</a:t>
            </a:r>
          </a:p>
          <a:p>
            <a:r>
              <a:rPr lang="en-US" dirty="0"/>
              <a:t>When you compose a reference as an instance variable of a class, it’s part of the class’s implementation details that are hidden from the class’s client code</a:t>
            </a:r>
          </a:p>
          <a:p>
            <a:r>
              <a:rPr lang="en-US" dirty="0"/>
              <a:t>If the reference’s class type changes, you may need to make changes to the composing class’s internal details, but those changes do not affect the client code</a:t>
            </a:r>
          </a:p>
          <a:p>
            <a:pPr marL="109537" indent="0">
              <a:buNone/>
            </a:pPr>
            <a:endParaRPr lang="en-US" dirty="0"/>
          </a:p>
        </p:txBody>
      </p:sp>
      <p:sp>
        <p:nvSpPr>
          <p:cNvPr id="3" name="Title 2">
            <a:extLst>
              <a:ext uri="{FF2B5EF4-FFF2-40B4-BE49-F238E27FC236}">
                <a16:creationId xmlns:a16="http://schemas.microsoft.com/office/drawing/2014/main" id="{A758EC7C-B91E-49F3-A662-E482D6179B83}"/>
              </a:ext>
            </a:extLst>
          </p:cNvPr>
          <p:cNvSpPr>
            <a:spLocks noGrp="1"/>
          </p:cNvSpPr>
          <p:nvPr>
            <p:ph type="title"/>
          </p:nvPr>
        </p:nvSpPr>
        <p:spPr/>
        <p:txBody>
          <a:bodyPr>
            <a:normAutofit fontScale="90000"/>
          </a:bodyPr>
          <a:lstStyle/>
          <a:p>
            <a:r>
              <a:rPr lang="en-US" dirty="0">
                <a:solidFill>
                  <a:srgbClr val="24B5A1"/>
                </a:solidFill>
                <a:latin typeface="Calibri" panose="020F0502020204030204" pitchFamily="34" charset="0"/>
              </a:rPr>
              <a:t>9.7  </a:t>
            </a:r>
            <a:r>
              <a:rPr lang="en-US" dirty="0">
                <a:solidFill>
                  <a:srgbClr val="3380E6"/>
                </a:solidFill>
                <a:latin typeface="Calibri" panose="020F0502020204030204" pitchFamily="34" charset="0"/>
              </a:rPr>
              <a:t> Designing with Composition vs. Inheritance (cont.)</a:t>
            </a:r>
            <a:endParaRPr lang="en-US" dirty="0"/>
          </a:p>
        </p:txBody>
      </p:sp>
      <p:sp>
        <p:nvSpPr>
          <p:cNvPr id="2" name="Footer Placeholder 1">
            <a:extLst>
              <a:ext uri="{FF2B5EF4-FFF2-40B4-BE49-F238E27FC236}">
                <a16:creationId xmlns:a16="http://schemas.microsoft.com/office/drawing/2014/main" id="{9E865D1C-5B70-4859-B527-EA86FDDF038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8778832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E9B243-1413-4E11-B0D3-F7D09062A601}"/>
              </a:ext>
            </a:extLst>
          </p:cNvPr>
          <p:cNvSpPr>
            <a:spLocks noGrp="1"/>
          </p:cNvSpPr>
          <p:nvPr>
            <p:ph idx="1"/>
          </p:nvPr>
        </p:nvSpPr>
        <p:spPr/>
        <p:txBody>
          <a:bodyPr/>
          <a:lstStyle/>
          <a:p>
            <a:pPr marL="109537" indent="0">
              <a:buNone/>
            </a:pPr>
            <a:r>
              <a:rPr lang="en-US" b="1" i="1" dirty="0"/>
              <a:t>Composition-Based Designs</a:t>
            </a:r>
            <a:endParaRPr lang="en-US" dirty="0"/>
          </a:p>
          <a:p>
            <a:r>
              <a:rPr lang="en-US" dirty="0"/>
              <a:t>In addition, inheritance is done at compile time</a:t>
            </a:r>
          </a:p>
          <a:p>
            <a:r>
              <a:rPr lang="en-US" dirty="0"/>
              <a:t>Composition is more flexible—it, too, can be done at compile time, but it also can be done at execution time because non-final references to composed objects can be modified</a:t>
            </a:r>
          </a:p>
          <a:p>
            <a:pPr lvl="1"/>
            <a:r>
              <a:rPr lang="en-US" dirty="0"/>
              <a:t>We call this dynamic composition</a:t>
            </a:r>
          </a:p>
          <a:p>
            <a:r>
              <a:rPr lang="en-US" dirty="0"/>
              <a:t>This is another aspect of loose coupling—if the reference is of a superclass type, you can replace the referenced object with an object of </a:t>
            </a:r>
            <a:r>
              <a:rPr lang="en-US" i="1" dirty="0"/>
              <a:t>any</a:t>
            </a:r>
            <a:r>
              <a:rPr lang="en-US" dirty="0"/>
              <a:t> type that has an </a:t>
            </a:r>
            <a:r>
              <a:rPr lang="en-US" i="1" dirty="0"/>
              <a:t>is-a</a:t>
            </a:r>
            <a:r>
              <a:rPr lang="en-US" dirty="0"/>
              <a:t> relationship with the reference’s class type</a:t>
            </a:r>
          </a:p>
          <a:p>
            <a:pPr marL="109537" indent="0">
              <a:buNone/>
            </a:pPr>
            <a:endParaRPr lang="en-US" dirty="0"/>
          </a:p>
        </p:txBody>
      </p:sp>
      <p:sp>
        <p:nvSpPr>
          <p:cNvPr id="3" name="Title 2">
            <a:extLst>
              <a:ext uri="{FF2B5EF4-FFF2-40B4-BE49-F238E27FC236}">
                <a16:creationId xmlns:a16="http://schemas.microsoft.com/office/drawing/2014/main" id="{A758EC7C-B91E-49F3-A662-E482D6179B83}"/>
              </a:ext>
            </a:extLst>
          </p:cNvPr>
          <p:cNvSpPr>
            <a:spLocks noGrp="1"/>
          </p:cNvSpPr>
          <p:nvPr>
            <p:ph type="title"/>
          </p:nvPr>
        </p:nvSpPr>
        <p:spPr/>
        <p:txBody>
          <a:bodyPr>
            <a:normAutofit fontScale="90000"/>
          </a:bodyPr>
          <a:lstStyle/>
          <a:p>
            <a:r>
              <a:rPr lang="en-US" dirty="0">
                <a:solidFill>
                  <a:srgbClr val="24B5A1"/>
                </a:solidFill>
                <a:latin typeface="Calibri" panose="020F0502020204030204" pitchFamily="34" charset="0"/>
              </a:rPr>
              <a:t>9.7  </a:t>
            </a:r>
            <a:r>
              <a:rPr lang="en-US" dirty="0">
                <a:solidFill>
                  <a:srgbClr val="3380E6"/>
                </a:solidFill>
                <a:latin typeface="Calibri" panose="020F0502020204030204" pitchFamily="34" charset="0"/>
              </a:rPr>
              <a:t> Designing with Composition vs. Inheritance (cont.)</a:t>
            </a:r>
            <a:endParaRPr lang="en-US" dirty="0"/>
          </a:p>
        </p:txBody>
      </p:sp>
      <p:sp>
        <p:nvSpPr>
          <p:cNvPr id="2" name="Footer Placeholder 1">
            <a:extLst>
              <a:ext uri="{FF2B5EF4-FFF2-40B4-BE49-F238E27FC236}">
                <a16:creationId xmlns:a16="http://schemas.microsoft.com/office/drawing/2014/main" id="{9E865D1C-5B70-4859-B527-EA86FDDF038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87240949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E9B243-1413-4E11-B0D3-F7D09062A601}"/>
              </a:ext>
            </a:extLst>
          </p:cNvPr>
          <p:cNvSpPr>
            <a:spLocks noGrp="1"/>
          </p:cNvSpPr>
          <p:nvPr>
            <p:ph idx="1"/>
          </p:nvPr>
        </p:nvSpPr>
        <p:spPr/>
        <p:txBody>
          <a:bodyPr/>
          <a:lstStyle/>
          <a:p>
            <a:pPr marL="109537" indent="0">
              <a:buNone/>
            </a:pPr>
            <a:r>
              <a:rPr lang="en-US" b="1" i="1" dirty="0"/>
              <a:t>Composition-Based Designs</a:t>
            </a:r>
          </a:p>
          <a:p>
            <a:r>
              <a:rPr lang="en-US" dirty="0"/>
              <a:t>When you use a composition approach instead of inheritance, you’ll typically create a larger number of smaller classes, each focused on one responsibility </a:t>
            </a:r>
          </a:p>
          <a:p>
            <a:r>
              <a:rPr lang="en-US" dirty="0"/>
              <a:t>Smaller classes generally are easier to test, debug and modify</a:t>
            </a:r>
          </a:p>
          <a:p>
            <a:r>
              <a:rPr lang="en-US" dirty="0"/>
              <a:t>Java does not offer multiple inheritance—each class in Java may extend only one class</a:t>
            </a:r>
          </a:p>
          <a:p>
            <a:r>
              <a:rPr lang="en-US" dirty="0"/>
              <a:t>However, a new class may reuse the capabilities of one or more other classes by composition. As you’ll see in Chapter 10, we can get many of multiple inheritance's benefits by implementing multiple interfaces  </a:t>
            </a:r>
          </a:p>
          <a:p>
            <a:endParaRPr lang="en-US" dirty="0"/>
          </a:p>
        </p:txBody>
      </p:sp>
      <p:sp>
        <p:nvSpPr>
          <p:cNvPr id="3" name="Title 2">
            <a:extLst>
              <a:ext uri="{FF2B5EF4-FFF2-40B4-BE49-F238E27FC236}">
                <a16:creationId xmlns:a16="http://schemas.microsoft.com/office/drawing/2014/main" id="{A758EC7C-B91E-49F3-A662-E482D6179B83}"/>
              </a:ext>
            </a:extLst>
          </p:cNvPr>
          <p:cNvSpPr>
            <a:spLocks noGrp="1"/>
          </p:cNvSpPr>
          <p:nvPr>
            <p:ph type="title"/>
          </p:nvPr>
        </p:nvSpPr>
        <p:spPr/>
        <p:txBody>
          <a:bodyPr>
            <a:normAutofit fontScale="90000"/>
          </a:bodyPr>
          <a:lstStyle/>
          <a:p>
            <a:r>
              <a:rPr lang="en-US" dirty="0">
                <a:solidFill>
                  <a:srgbClr val="24B5A1"/>
                </a:solidFill>
                <a:latin typeface="Calibri" panose="020F0502020204030204" pitchFamily="34" charset="0"/>
              </a:rPr>
              <a:t>9.7  </a:t>
            </a:r>
            <a:r>
              <a:rPr lang="en-US" dirty="0">
                <a:solidFill>
                  <a:srgbClr val="3380E6"/>
                </a:solidFill>
                <a:latin typeface="Calibri" panose="020F0502020204030204" pitchFamily="34" charset="0"/>
              </a:rPr>
              <a:t> Designing with Composition vs. Inheritance (cont.)</a:t>
            </a:r>
            <a:endParaRPr lang="en-US" dirty="0"/>
          </a:p>
        </p:txBody>
      </p:sp>
      <p:sp>
        <p:nvSpPr>
          <p:cNvPr id="2" name="Footer Placeholder 1">
            <a:extLst>
              <a:ext uri="{FF2B5EF4-FFF2-40B4-BE49-F238E27FC236}">
                <a16:creationId xmlns:a16="http://schemas.microsoft.com/office/drawing/2014/main" id="{9E865D1C-5B70-4859-B527-EA86FDDF038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40802903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66">
            <a:extLst>
              <a:ext uri="{FF2B5EF4-FFF2-40B4-BE49-F238E27FC236}">
                <a16:creationId xmlns:a16="http://schemas.microsoft.com/office/drawing/2014/main" id="{B4711414-188B-46E4-AC05-B3E85BDB4E81}"/>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949325"/>
            <a:ext cx="12192000" cy="4959350"/>
          </a:xfrm>
          <a:prstGeom prst="rect">
            <a:avLst/>
          </a:prstGeom>
        </p:spPr>
      </p:pic>
      <p:sp>
        <p:nvSpPr>
          <p:cNvPr id="2" name="Footer Placeholder 1">
            <a:extLst>
              <a:ext uri="{FF2B5EF4-FFF2-40B4-BE49-F238E27FC236}">
                <a16:creationId xmlns:a16="http://schemas.microsoft.com/office/drawing/2014/main" id="{BAE05C08-DEFC-4E9D-AE19-CA75E8E7076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2942459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67">
            <a:extLst>
              <a:ext uri="{FF2B5EF4-FFF2-40B4-BE49-F238E27FC236}">
                <a16:creationId xmlns:a16="http://schemas.microsoft.com/office/drawing/2014/main" id="{C4700B1F-34F4-4C07-9EF6-EC55F41258AA}"/>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885825"/>
            <a:ext cx="12192000" cy="5086350"/>
          </a:xfrm>
          <a:prstGeom prst="rect">
            <a:avLst/>
          </a:prstGeom>
        </p:spPr>
      </p:pic>
      <p:sp>
        <p:nvSpPr>
          <p:cNvPr id="2" name="Footer Placeholder 1">
            <a:extLst>
              <a:ext uri="{FF2B5EF4-FFF2-40B4-BE49-F238E27FC236}">
                <a16:creationId xmlns:a16="http://schemas.microsoft.com/office/drawing/2014/main" id="{C9F32FEA-F9F4-4EE7-AAC3-C3D2B0A834B8}"/>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168935433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jhtp_09_OOPInheritance_Page_68">
            <a:extLst>
              <a:ext uri="{FF2B5EF4-FFF2-40B4-BE49-F238E27FC236}">
                <a16:creationId xmlns:a16="http://schemas.microsoft.com/office/drawing/2014/main" id="{D99A2441-F399-40F8-A233-7AFC339547CB}"/>
              </a:ext>
            </a:extLst>
          </p:cNvPr>
          <p:cNvPicPr>
            <a:picLocks noGrp="1" noChangeAspect="1"/>
          </p:cNvPicPr>
          <p:nvPr isPhoto="1"/>
        </p:nvPicPr>
        <p:blipFill>
          <a:blip r:embed="rId2">
            <a:lum/>
            <a:extLst>
              <a:ext uri="{28A0092B-C50C-407E-A947-70E740481C1C}">
                <a14:useLocalDpi xmlns:a14="http://schemas.microsoft.com/office/drawing/2010/main" val="0"/>
              </a:ext>
            </a:extLst>
          </a:blip>
          <a:stretch>
            <a:fillRect/>
          </a:stretch>
        </p:blipFill>
        <p:spPr>
          <a:xfrm>
            <a:off x="0" y="1255713"/>
            <a:ext cx="12192000" cy="4344987"/>
          </a:xfrm>
          <a:prstGeom prst="rect">
            <a:avLst/>
          </a:prstGeom>
        </p:spPr>
      </p:pic>
      <p:sp>
        <p:nvSpPr>
          <p:cNvPr id="2" name="Footer Placeholder 1">
            <a:extLst>
              <a:ext uri="{FF2B5EF4-FFF2-40B4-BE49-F238E27FC236}">
                <a16:creationId xmlns:a16="http://schemas.microsoft.com/office/drawing/2014/main" id="{5F1E1A19-5D65-4EA2-B1C5-9CDAEFFBF19C}"/>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359239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E9B243-1413-4E11-B0D3-F7D09062A601}"/>
              </a:ext>
            </a:extLst>
          </p:cNvPr>
          <p:cNvSpPr>
            <a:spLocks noGrp="1"/>
          </p:cNvSpPr>
          <p:nvPr>
            <p:ph idx="1"/>
          </p:nvPr>
        </p:nvSpPr>
        <p:spPr/>
        <p:txBody>
          <a:bodyPr/>
          <a:lstStyle/>
          <a:p>
            <a:r>
              <a:rPr lang="en-US" b="1" i="1" dirty="0"/>
              <a:t>Recommended Exercises</a:t>
            </a:r>
          </a:p>
          <a:p>
            <a:r>
              <a:rPr lang="en-US" dirty="0"/>
              <a:t>Exercise 9.3 asks you to reimplement this chapter’s </a:t>
            </a:r>
            <a:r>
              <a:rPr lang="en-US" dirty="0" err="1">
                <a:latin typeface="Consolas" panose="020B0609020204030204" pitchFamily="49" charset="0"/>
              </a:rPr>
              <a:t>CommissionEmployee</a:t>
            </a:r>
            <a:r>
              <a:rPr lang="en-US" dirty="0"/>
              <a:t>–</a:t>
            </a:r>
            <a:r>
              <a:rPr lang="en-US" dirty="0" err="1">
                <a:latin typeface="Consolas" panose="020B0609020204030204" pitchFamily="49" charset="0"/>
              </a:rPr>
              <a:t>BasePlusCommissionEmployee</a:t>
            </a:r>
            <a:r>
              <a:rPr lang="en-US" dirty="0"/>
              <a:t> hierarchy using composition, rather than inheritance.</a:t>
            </a:r>
          </a:p>
          <a:p>
            <a:r>
              <a:rPr lang="en-US" dirty="0"/>
              <a:t>Exercise 9.16 asks you to reimplement the hierarchy using a combination of composition and inheritance in which you’ll see the benefits of composition’s loose coupling. </a:t>
            </a:r>
          </a:p>
        </p:txBody>
      </p:sp>
      <p:sp>
        <p:nvSpPr>
          <p:cNvPr id="3" name="Title 2">
            <a:extLst>
              <a:ext uri="{FF2B5EF4-FFF2-40B4-BE49-F238E27FC236}">
                <a16:creationId xmlns:a16="http://schemas.microsoft.com/office/drawing/2014/main" id="{A758EC7C-B91E-49F3-A662-E482D6179B83}"/>
              </a:ext>
            </a:extLst>
          </p:cNvPr>
          <p:cNvSpPr>
            <a:spLocks noGrp="1"/>
          </p:cNvSpPr>
          <p:nvPr>
            <p:ph type="title"/>
          </p:nvPr>
        </p:nvSpPr>
        <p:spPr/>
        <p:txBody>
          <a:bodyPr>
            <a:normAutofit fontScale="90000"/>
          </a:bodyPr>
          <a:lstStyle/>
          <a:p>
            <a:r>
              <a:rPr lang="en-US" dirty="0">
                <a:solidFill>
                  <a:srgbClr val="24B5A1"/>
                </a:solidFill>
                <a:latin typeface="Calibri" panose="020F0502020204030204" pitchFamily="34" charset="0"/>
              </a:rPr>
              <a:t>9.7  </a:t>
            </a:r>
            <a:r>
              <a:rPr lang="en-US" dirty="0">
                <a:solidFill>
                  <a:srgbClr val="3380E6"/>
                </a:solidFill>
                <a:latin typeface="Calibri" panose="020F0502020204030204" pitchFamily="34" charset="0"/>
              </a:rPr>
              <a:t> Designing with Composition vs. Inheritance (cont.)</a:t>
            </a:r>
            <a:endParaRPr lang="en-US" dirty="0"/>
          </a:p>
        </p:txBody>
      </p:sp>
      <p:sp>
        <p:nvSpPr>
          <p:cNvPr id="2" name="Footer Placeholder 1">
            <a:extLst>
              <a:ext uri="{FF2B5EF4-FFF2-40B4-BE49-F238E27FC236}">
                <a16:creationId xmlns:a16="http://schemas.microsoft.com/office/drawing/2014/main" id="{9E865D1C-5B70-4859-B527-EA86FDDF0382}"/>
              </a:ext>
            </a:extLst>
          </p:cNvPr>
          <p:cNvSpPr>
            <a:spLocks noGrp="1"/>
          </p:cNvSpPr>
          <p:nvPr>
            <p:ph type="ftr" sz="quarter" idx="11"/>
          </p:nvPr>
        </p:nvSpPr>
        <p:spPr/>
        <p:txBody>
          <a:bodyPr/>
          <a:lstStyle/>
          <a:p>
            <a:r>
              <a:rPr lang="en-US"/>
              <a:t>© Copyright 1992-2018 by Pearson Education, Inc. All Rights Reserved.</a:t>
            </a:r>
          </a:p>
        </p:txBody>
      </p:sp>
    </p:spTree>
    <p:extLst>
      <p:ext uri="{BB962C8B-B14F-4D97-AF65-F5344CB8AC3E}">
        <p14:creationId xmlns:p14="http://schemas.microsoft.com/office/powerpoint/2010/main" val="40792996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1_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5.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6.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7.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8.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JHTP11_06</Template>
  <TotalTime>72394</TotalTime>
  <Words>4970</Words>
  <Application>Microsoft Office PowerPoint</Application>
  <PresentationFormat>Widescreen</PresentationFormat>
  <Paragraphs>436</Paragraphs>
  <Slides>101</Slides>
  <Notes>42</Notes>
  <HiddenSlides>11</HiddenSlides>
  <MMClips>2</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101</vt:i4>
      </vt:variant>
    </vt:vector>
  </HeadingPairs>
  <TitlesOfParts>
    <vt:vector size="114" baseType="lpstr">
      <vt:lpstr>Arial</vt:lpstr>
      <vt:lpstr>Arial Unicode MS</vt:lpstr>
      <vt:lpstr>Calibri</vt:lpstr>
      <vt:lpstr>Cambria</vt:lpstr>
      <vt:lpstr>Consolas</vt:lpstr>
      <vt:lpstr>Lucida Sans Unicode</vt:lpstr>
      <vt:lpstr>verdana</vt:lpstr>
      <vt:lpstr>verdana</vt:lpstr>
      <vt:lpstr>Wingdings</vt:lpstr>
      <vt:lpstr>Wingdings 2</vt:lpstr>
      <vt:lpstr>Wingdings 3</vt:lpstr>
      <vt:lpstr>Concourse</vt:lpstr>
      <vt:lpstr>1_Concourse</vt:lpstr>
      <vt:lpstr>Chapter 9 Object-Oriented Programming: Inheritance</vt:lpstr>
      <vt:lpstr>PowerPoint Presentation</vt:lpstr>
      <vt:lpstr>PowerPoint Presentation</vt:lpstr>
      <vt:lpstr>9.1  Introduction</vt:lpstr>
      <vt:lpstr>9.1  Introduction - Inheritance </vt:lpstr>
      <vt:lpstr>9.1  Introduction – Inheritance cont.</vt:lpstr>
      <vt:lpstr>9.1  Introduction (Cont.)</vt:lpstr>
      <vt:lpstr>9.1  Introduction (Cont.)</vt:lpstr>
      <vt:lpstr>9.2  Superclasses and Subclasses</vt:lpstr>
      <vt:lpstr>PowerPoint Presentation</vt:lpstr>
      <vt:lpstr>Use of EXTENDS Keyword</vt:lpstr>
      <vt:lpstr>RE-VISITING Use of EXTENDS Keyword</vt:lpstr>
      <vt:lpstr>  Superclasses and Subclasses (Cont.)</vt:lpstr>
      <vt:lpstr>PowerPoint Presentation</vt:lpstr>
      <vt:lpstr>9.2  Superclasses and Subclasses (Cont.)</vt:lpstr>
      <vt:lpstr>PowerPoint Presentation</vt:lpstr>
      <vt:lpstr>9.2  Superclasses and Subclasses (Cont.)</vt:lpstr>
      <vt:lpstr>9.2  Superclasses and Subclasses (Cont.)</vt:lpstr>
      <vt:lpstr>9.3  protected Members</vt:lpstr>
      <vt:lpstr>9.3  protected Members (Cont.)</vt:lpstr>
      <vt:lpstr>The use of SUPER keyword</vt:lpstr>
      <vt:lpstr>Example 9. The use of SUPER keyword</vt:lpstr>
      <vt:lpstr>RE-VISITING SuperClass and SubClass</vt:lpstr>
      <vt:lpstr>Class Activities</vt:lpstr>
      <vt:lpstr>ASSIGNMENT: Reverse Polish Notation Calculator</vt:lpstr>
      <vt:lpstr>PowerPoint Presentation</vt:lpstr>
      <vt:lpstr>PowerPoint Presentation</vt:lpstr>
      <vt:lpstr>9.4  Relationship Between Superclasses and Subclasses</vt:lpstr>
      <vt:lpstr>9.4.1 Creating and Using a CommissionEmployee Class</vt:lpstr>
      <vt:lpstr>OBJECT CLASS</vt:lpstr>
      <vt:lpstr>PowerPoint Presentation</vt:lpstr>
      <vt:lpstr>PowerPoint Presentation</vt:lpstr>
      <vt:lpstr>PowerPoint Presentation</vt:lpstr>
      <vt:lpstr>PowerPoint Presentation</vt:lpstr>
      <vt:lpstr>PowerPoint Presentation</vt:lpstr>
      <vt:lpstr>9.4.1 Creating and Using a CommissionEmployee Class (Cont.)</vt:lpstr>
      <vt:lpstr>9.4.1 Creating and Using a CommissionEmployee Class (Cont.)</vt:lpstr>
      <vt:lpstr>Class Object’s toString method</vt:lpstr>
      <vt:lpstr>Class Object’s toString method</vt:lpstr>
      <vt:lpstr>9.4.1 Creating and Using a CommissionEmployee Class (Cont.)</vt:lpstr>
      <vt:lpstr>Understanding problem without toString() method</vt:lpstr>
      <vt:lpstr>Understanding problem without toString() method </vt:lpstr>
      <vt:lpstr>Understanding problem without toString() method </vt:lpstr>
      <vt:lpstr>PowerPoint Presentation</vt:lpstr>
      <vt:lpstr>PowerPoint Presentation</vt:lpstr>
      <vt:lpstr>PowerPoint Presentation</vt:lpstr>
      <vt:lpstr>ACTIVITY</vt:lpstr>
      <vt:lpstr>Class Activities</vt:lpstr>
      <vt:lpstr>9.4.2 Creating and Using a BasePlus-CommissionEmployee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9.4.2 Creating and Using a BasePlus-CommissionEmployee Class (Cont.)</vt:lpstr>
      <vt:lpstr>PowerPoint Presentation</vt:lpstr>
      <vt:lpstr>PowerPoint Presentation</vt:lpstr>
      <vt:lpstr>PowerPoint Presentation</vt:lpstr>
      <vt:lpstr>9.4.2 Creating and Using a BasePlus-CommissionEmployee Class (Cont.)</vt:lpstr>
      <vt:lpstr>9.4.2 Creating and Using a BasePlus-CommissionEmployee Class (Cont.)</vt:lpstr>
      <vt:lpstr>PowerPoint Presentation</vt:lpstr>
      <vt:lpstr>9.4.3 Creating a CommissionEmployee–BasePlusCommissionEmployee Inheritance Hierarchy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9.4.3 Creating a CommissionEmployee–BasePlusCommissionEmployee Inheritance Hierarchy (Cont.)</vt:lpstr>
      <vt:lpstr>9.4.3 Creating a CommissionEmployee–BasePlusCommissionEmployee Inheritance Hierarchy (Cont.)</vt:lpstr>
      <vt:lpstr>9.4.4 CommissionEmployee–BasePlusCommissionEmployee Inheritance Hierarchy Using protected Instance Variables</vt:lpstr>
      <vt:lpstr>9.4.4 CommissionEmployee–BasePlus-CommissionEmployee Inheritance Hierarchy Using protected Instance Variables (Cont.)</vt:lpstr>
      <vt:lpstr>PowerPoint Presentation</vt:lpstr>
      <vt:lpstr>PowerPoint Presentation</vt:lpstr>
      <vt:lpstr>PowerPoint Presentation</vt:lpstr>
      <vt:lpstr>9.4.4 CommissionEmployee–BasePlus-CommissionEmployee Inheritance Hierarchy Using protected Instance Variables (Cont.)</vt:lpstr>
      <vt:lpstr>9.4.4 CommissionEmployee–BasePlus-CommissionEmployee Inheritance Hierarchy Using protected Instance Variables (Cont.)</vt:lpstr>
      <vt:lpstr>9.5  Constructors in Subclasses</vt:lpstr>
      <vt:lpstr>PowerPoint Presentation</vt:lpstr>
      <vt:lpstr>9.6   Class Object</vt:lpstr>
      <vt:lpstr>PowerPoint Presentation</vt:lpstr>
      <vt:lpstr>PowerPoint Presentation</vt:lpstr>
      <vt:lpstr>PowerPoint Presentation</vt:lpstr>
      <vt:lpstr>PowerPoint Presentation</vt:lpstr>
      <vt:lpstr>ACTIVITY</vt:lpstr>
      <vt:lpstr>9.7   Designing with Composition vs. Inheritance</vt:lpstr>
      <vt:lpstr>PowerPoint Presentation</vt:lpstr>
      <vt:lpstr>EXTRAL SLIDES FOR HARD WORKING STUDENTS</vt:lpstr>
      <vt:lpstr>9.7   Designing with Composition vs. Inheritance (cont.)</vt:lpstr>
      <vt:lpstr>9.7   Designing with Composition vs. Inheritance (cont.)</vt:lpstr>
      <vt:lpstr>PowerPoint Presentation</vt:lpstr>
      <vt:lpstr>9.7   Designing with Composition vs. Inheritance (cont.)</vt:lpstr>
      <vt:lpstr>9.7   Designing with Composition vs. Inheritance (cont.)</vt:lpstr>
      <vt:lpstr>9.7   Designing with Composition vs. Inheritance (cont.)</vt:lpstr>
      <vt:lpstr>PowerPoint Presentation</vt:lpstr>
      <vt:lpstr>PowerPoint Presentation</vt:lpstr>
      <vt:lpstr>PowerPoint Presentation</vt:lpstr>
      <vt:lpstr>9.7   Designing with Composition vs. Inheritance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Photo Album</dc:title>
  <dc:creator>Paul Deitel</dc:creator>
  <cp:lastModifiedBy>Oderanti, Festus Oluseyi (Computational Sciences)</cp:lastModifiedBy>
  <cp:revision>113</cp:revision>
  <dcterms:created xsi:type="dcterms:W3CDTF">2017-07-06T14:39:57Z</dcterms:created>
  <dcterms:modified xsi:type="dcterms:W3CDTF">2025-01-29T07:34:51Z</dcterms:modified>
</cp:coreProperties>
</file>