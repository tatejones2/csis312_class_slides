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1"/>
  </p:notesMasterIdLst>
  <p:sldIdLst>
    <p:sldId id="310" r:id="rId3"/>
    <p:sldId id="260" r:id="rId4"/>
    <p:sldId id="261" r:id="rId5"/>
    <p:sldId id="311" r:id="rId6"/>
    <p:sldId id="312" r:id="rId7"/>
    <p:sldId id="262" r:id="rId8"/>
    <p:sldId id="313" r:id="rId9"/>
    <p:sldId id="314" r:id="rId10"/>
    <p:sldId id="315" r:id="rId11"/>
    <p:sldId id="316" r:id="rId12"/>
    <p:sldId id="330" r:id="rId13"/>
    <p:sldId id="331" r:id="rId14"/>
    <p:sldId id="332" r:id="rId15"/>
    <p:sldId id="333" r:id="rId16"/>
    <p:sldId id="334" r:id="rId17"/>
    <p:sldId id="335" r:id="rId18"/>
    <p:sldId id="624" r:id="rId19"/>
    <p:sldId id="626" r:id="rId20"/>
    <p:sldId id="336" r:id="rId21"/>
    <p:sldId id="337" r:id="rId22"/>
    <p:sldId id="338" r:id="rId23"/>
    <p:sldId id="340" r:id="rId24"/>
    <p:sldId id="339" r:id="rId25"/>
    <p:sldId id="341" r:id="rId26"/>
    <p:sldId id="317" r:id="rId27"/>
    <p:sldId id="343" r:id="rId28"/>
    <p:sldId id="344" r:id="rId29"/>
    <p:sldId id="345" r:id="rId30"/>
    <p:sldId id="347" r:id="rId31"/>
    <p:sldId id="348" r:id="rId32"/>
    <p:sldId id="349" r:id="rId33"/>
    <p:sldId id="342" r:id="rId34"/>
    <p:sldId id="318" r:id="rId35"/>
    <p:sldId id="319" r:id="rId36"/>
    <p:sldId id="329" r:id="rId37"/>
    <p:sldId id="320" r:id="rId38"/>
    <p:sldId id="321" r:id="rId39"/>
    <p:sldId id="263" r:id="rId40"/>
    <p:sldId id="264" r:id="rId41"/>
    <p:sldId id="265" r:id="rId42"/>
    <p:sldId id="266" r:id="rId43"/>
    <p:sldId id="267" r:id="rId44"/>
    <p:sldId id="379" r:id="rId45"/>
    <p:sldId id="325" r:id="rId46"/>
    <p:sldId id="324" r:id="rId47"/>
    <p:sldId id="326" r:id="rId48"/>
    <p:sldId id="327" r:id="rId49"/>
    <p:sldId id="268" r:id="rId50"/>
    <p:sldId id="328" r:id="rId51"/>
    <p:sldId id="269" r:id="rId52"/>
    <p:sldId id="270" r:id="rId53"/>
    <p:sldId id="350" r:id="rId54"/>
    <p:sldId id="351" r:id="rId55"/>
    <p:sldId id="352" r:id="rId56"/>
    <p:sldId id="271" r:id="rId57"/>
    <p:sldId id="272" r:id="rId58"/>
    <p:sldId id="273" r:id="rId59"/>
    <p:sldId id="358" r:id="rId60"/>
    <p:sldId id="353" r:id="rId61"/>
    <p:sldId id="354" r:id="rId62"/>
    <p:sldId id="274" r:id="rId63"/>
    <p:sldId id="355" r:id="rId64"/>
    <p:sldId id="275" r:id="rId65"/>
    <p:sldId id="356" r:id="rId66"/>
    <p:sldId id="276" r:id="rId67"/>
    <p:sldId id="277" r:id="rId68"/>
    <p:sldId id="357" r:id="rId69"/>
    <p:sldId id="369" r:id="rId70"/>
    <p:sldId id="377" r:id="rId71"/>
    <p:sldId id="378" r:id="rId72"/>
    <p:sldId id="35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68" r:id="rId81"/>
    <p:sldId id="360" r:id="rId82"/>
    <p:sldId id="361" r:id="rId83"/>
    <p:sldId id="286" r:id="rId84"/>
    <p:sldId id="287" r:id="rId85"/>
    <p:sldId id="288" r:id="rId86"/>
    <p:sldId id="362" r:id="rId87"/>
    <p:sldId id="289" r:id="rId88"/>
    <p:sldId id="363" r:id="rId89"/>
    <p:sldId id="364" r:id="rId90"/>
    <p:sldId id="290" r:id="rId91"/>
    <p:sldId id="291" r:id="rId92"/>
    <p:sldId id="292" r:id="rId93"/>
    <p:sldId id="293" r:id="rId94"/>
    <p:sldId id="294" r:id="rId95"/>
    <p:sldId id="366" r:id="rId96"/>
    <p:sldId id="367" r:id="rId97"/>
    <p:sldId id="365" r:id="rId98"/>
    <p:sldId id="295" r:id="rId99"/>
    <p:sldId id="296" r:id="rId100"/>
  </p:sldIdLst>
  <p:sldSz cx="12192000" cy="6858000"/>
  <p:notesSz cx="6858000" cy="9144000"/>
  <p:photoAlbum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00" autoAdjust="0"/>
  </p:normalViewPr>
  <p:slideViewPr>
    <p:cSldViewPr snapToGrid="0">
      <p:cViewPr varScale="1">
        <p:scale>
          <a:sx n="57" d="100"/>
          <a:sy n="57" d="100"/>
        </p:scale>
        <p:origin x="9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E8E90-E69D-4E09-94F6-A702811C674F}" type="datetimeFigureOut">
              <a:rPr lang="en-US" smtClean="0"/>
              <a:t>10/1/2022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2362C-8091-430A-B8FA-DE088E6A1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4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Slide Image Placeholder 1">
            <a:extLst>
              <a:ext uri="{FF2B5EF4-FFF2-40B4-BE49-F238E27FC236}">
                <a16:creationId xmlns:a16="http://schemas.microsoft.com/office/drawing/2014/main" id="{DC9A462A-27BB-47E3-B458-3CD16C4205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6787" name="Notes Placeholder 2">
            <a:extLst>
              <a:ext uri="{FF2B5EF4-FFF2-40B4-BE49-F238E27FC236}">
                <a16:creationId xmlns:a16="http://schemas.microsoft.com/office/drawing/2014/main" id="{10749876-CB66-4EA5-98CF-212A4BA848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7812" name="Slide Number Placeholder 3">
            <a:extLst>
              <a:ext uri="{FF2B5EF4-FFF2-40B4-BE49-F238E27FC236}">
                <a16:creationId xmlns:a16="http://schemas.microsoft.com/office/drawing/2014/main" id="{AEE6F4F6-6705-4139-8092-7B2DC453D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158D97-7267-47C8-A49F-C3A3D6A432CB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449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61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5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73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18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2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15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362C-8091-430A-B8FA-DE088E6A1FAE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0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ct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8177CA74-0930-4B69-9BD9-DFFC5990533A}" type="datetime1">
              <a:rPr lang="en-US" smtClean="0"/>
              <a:t>10/1/2022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04190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2B4401EC-F779-44BC-A6CF-385B1CE4C680}" type="datetime1">
              <a:rPr lang="en-US" smtClean="0"/>
              <a:t>10/1/2022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0" y="6408739"/>
            <a:ext cx="3488267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B52D62C7-19D9-4B41-9FC5-D2791D1E6807}" type="datetime1">
              <a:rPr lang="en-US" smtClean="0"/>
              <a:t>10/1/2022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72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ACF58AF8-161C-47AB-B6C1-1E4EF9D98B65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6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82CBA4DA-CB49-4F73-9684-186F39A87C99}" type="datetime1">
              <a:rPr lang="en-US" smtClean="0"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15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589CD434-E7C9-4FCA-9861-3A3EC20D6C25}" type="datetime1">
              <a:rPr lang="en-US" smtClean="0"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7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48257F-489A-4782-948B-E1904E4BC707}" type="datetime1">
              <a:rPr lang="en-US" smtClean="0"/>
              <a:t>10/1/2022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7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CCB87957-3997-48E9-8604-AA8F609653FB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29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96F21FC2-95EC-4DFB-BC3C-56BFC9658C98}" type="datetime1">
              <a:rPr lang="en-US" smtClean="0"/>
              <a:t>10/1/2022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2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BD5F41-0031-45E2-BA72-0B9A4F1C2EDA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9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C842F2-4643-4A66-91FF-0D3F42CEA109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41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ct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8177CA74-0930-4B69-9BD9-DFFC5990533A}" type="datetime1">
              <a:rPr lang="en-US" smtClean="0"/>
              <a:t>10/1/2022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91607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2B4401EC-F779-44BC-A6CF-385B1CE4C680}" type="datetime1">
              <a:rPr lang="en-US" smtClean="0"/>
              <a:t>10/1/2022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0" y="6408739"/>
            <a:ext cx="3488267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83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B52D62C7-19D9-4B41-9FC5-D2791D1E6807}" type="datetime1">
              <a:rPr lang="en-US" smtClean="0"/>
              <a:t>10/1/2022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99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ACF58AF8-161C-47AB-B6C1-1E4EF9D98B65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53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82CBA4DA-CB49-4F73-9684-186F39A87C99}" type="datetime1">
              <a:rPr lang="en-US" smtClean="0"/>
              <a:t>10/1/2022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07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589CD434-E7C9-4FCA-9861-3A3EC20D6C25}" type="datetime1">
              <a:rPr lang="en-US" smtClean="0"/>
              <a:t>10/1/2022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68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48257F-489A-4782-948B-E1904E4BC707}" type="datetime1">
              <a:rPr lang="en-US" smtClean="0"/>
              <a:t>10/1/2022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95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CCB87957-3997-48E9-8604-AA8F609653FB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0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96F21FC2-95EC-4DFB-BC3C-56BFC9658C98}" type="datetime1">
              <a:rPr lang="en-US" smtClean="0"/>
              <a:t>10/1/2022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47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BD5F41-0031-45E2-BA72-0B9A4F1C2EDA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47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C842F2-4643-4A66-91FF-0D3F42CEA109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28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488296" y="6408739"/>
            <a:ext cx="704426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0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3516B3ED-A378-4C53-9F62-41F98196574B}" type="datetime1">
              <a:rPr lang="en-US" smtClean="0"/>
              <a:t>10/1/2022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609600" y="6408739"/>
            <a:ext cx="8365067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3516B3ED-A378-4C53-9F62-41F98196574B}" type="datetime1">
              <a:rPr lang="en-US" smtClean="0"/>
              <a:t>10/1/2022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609600" y="6408739"/>
            <a:ext cx="8365067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fld id="{C2694DDD-0FBA-4C5D-8631-A37FFF2F3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4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7/docs/api/overview-summary.html" TargetMode="External"/><Relationship Id="rId2" Type="http://schemas.openxmlformats.org/officeDocument/2006/relationships/hyperlink" Target="https://docs.oracle.com/javase/7/docs/api/java/io/package-summary.html" TargetMode="Externa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://docs.oracle.com/javase/7/docs/api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8/docs/api/java/nio/file/Files.html" TargetMode="External"/><Relationship Id="rId2" Type="http://schemas.openxmlformats.org/officeDocument/2006/relationships/hyperlink" Target="http://docs.oracle.com/javase/8/docs/api/java/nio/file/Path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data.txt" TargetMode="External"/><Relationship Id="rId2" Type="http://schemas.openxmlformats.org/officeDocument/2006/relationships/hyperlink" Target="http://www.liberty.edu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7/docs/api/java/util/Formatter.html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7D70-6B16-4B03-9637-EB524514F7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Chapter 15</a:t>
            </a:r>
            <a:br>
              <a:rPr lang="en-US" dirty="0"/>
            </a:br>
            <a:r>
              <a:rPr lang="en-US" dirty="0"/>
              <a:t>Files, </a:t>
            </a:r>
            <a:r>
              <a:rPr lang="en-US" dirty="0" err="1"/>
              <a:t>Input/Output</a:t>
            </a:r>
            <a:r>
              <a:rPr lang="en-US" dirty="0"/>
              <a:t> Stream, NIO and XML Serialization</a:t>
            </a:r>
          </a:p>
        </p:txBody>
      </p:sp>
      <p:sp>
        <p:nvSpPr>
          <p:cNvPr id="10243" name="Subtitle 2">
            <a:extLst>
              <a:ext uri="{FF2B5EF4-FFF2-40B4-BE49-F238E27FC236}">
                <a16:creationId xmlns:a16="http://schemas.microsoft.com/office/drawing/2014/main" id="{709CAFA5-98F5-4DF3-8DCE-C18D5D5DA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3611563"/>
            <a:ext cx="7772400" cy="1200150"/>
          </a:xfrm>
        </p:spPr>
        <p:txBody>
          <a:bodyPr/>
          <a:lstStyle/>
          <a:p>
            <a:r>
              <a:rPr lang="en-US" altLang="en-US" dirty="0"/>
              <a:t>Java How to Program, 11/e</a:t>
            </a:r>
          </a:p>
        </p:txBody>
      </p:sp>
    </p:spTree>
    <p:extLst>
      <p:ext uri="{BB962C8B-B14F-4D97-AF65-F5344CB8AC3E}">
        <p14:creationId xmlns:p14="http://schemas.microsoft.com/office/powerpoint/2010/main" val="128204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04">
            <a:extLst>
              <a:ext uri="{FF2B5EF4-FFF2-40B4-BE49-F238E27FC236}">
                <a16:creationId xmlns:a16="http://schemas.microsoft.com/office/drawing/2014/main" id="{223F7025-8E23-44DB-A0C4-6F6AA719F5D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38" y="0"/>
            <a:ext cx="10855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5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05">
            <a:extLst>
              <a:ext uri="{FF2B5EF4-FFF2-40B4-BE49-F238E27FC236}">
                <a16:creationId xmlns:a16="http://schemas.microsoft.com/office/drawing/2014/main" id="{D439D6A9-F2D4-4172-8253-F1EAA7AC82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5" y="0"/>
            <a:ext cx="9326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7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41" y="559942"/>
            <a:ext cx="1168171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Data stored in variables and arrays is temporary—</a:t>
            </a:r>
          </a:p>
          <a:p>
            <a:pPr>
              <a:spcBef>
                <a:spcPts val="1200"/>
              </a:spcBef>
            </a:pPr>
            <a:r>
              <a:rPr lang="en-US" dirty="0"/>
              <a:t>it’s lost when a local variable goes out of scope or when the program terminates. </a:t>
            </a:r>
          </a:p>
          <a:p>
            <a:pPr>
              <a:spcBef>
                <a:spcPts val="1200"/>
              </a:spcBef>
            </a:pPr>
            <a:r>
              <a:rPr lang="en-US" dirty="0"/>
              <a:t>For long-term retention of data, even after the programs that create the data terminate, computers use files. </a:t>
            </a:r>
          </a:p>
          <a:p>
            <a:pPr>
              <a:spcBef>
                <a:spcPts val="1200"/>
              </a:spcBef>
            </a:pPr>
            <a:r>
              <a:rPr lang="en-US" dirty="0"/>
              <a:t>You use files every day for tasks such as writing a document or creating a spreadsheet. </a:t>
            </a:r>
          </a:p>
          <a:p>
            <a:pPr>
              <a:spcBef>
                <a:spcPts val="1200"/>
              </a:spcBef>
            </a:pPr>
            <a:r>
              <a:rPr lang="en-US" dirty="0"/>
              <a:t>Computers store files on secondary storage devices, including hard disks, flash drives, DVDs and more. </a:t>
            </a:r>
          </a:p>
          <a:p>
            <a:pPr>
              <a:spcBef>
                <a:spcPts val="1200"/>
              </a:spcBef>
            </a:pPr>
            <a:r>
              <a:rPr lang="en-US" dirty="0"/>
              <a:t>Data maintained in files is persistent data—it exists beyond the duration of program execution. </a:t>
            </a:r>
          </a:p>
          <a:p>
            <a:pPr>
              <a:spcBef>
                <a:spcPts val="1200"/>
              </a:spcBef>
            </a:pPr>
            <a:r>
              <a:rPr lang="en-US" dirty="0"/>
              <a:t>In this week, we explain how Java programs create, update and process files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3917"/>
            <a:ext cx="10972800" cy="4651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1690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41" y="1166019"/>
            <a:ext cx="1168171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Java views each file as a sequential stream of bytes (Fig. 15.1).</a:t>
            </a:r>
          </a:p>
          <a:p>
            <a:pPr>
              <a:spcBef>
                <a:spcPts val="1200"/>
              </a:spcBef>
            </a:pPr>
            <a:r>
              <a:rPr lang="en-US" dirty="0"/>
              <a:t>Every operating system provides a mechanism to determine end of a file, </a:t>
            </a:r>
          </a:p>
          <a:p>
            <a:pPr>
              <a:spcBef>
                <a:spcPts val="1200"/>
              </a:spcBef>
            </a:pPr>
            <a:r>
              <a:rPr lang="en-US" dirty="0"/>
              <a:t>Such as an end-of-file marker or a count of the total bytes in the file that’s recorded in a system-maintained administrative data structure. </a:t>
            </a:r>
          </a:p>
          <a:p>
            <a:pPr>
              <a:spcBef>
                <a:spcPts val="1200"/>
              </a:spcBef>
            </a:pPr>
            <a:r>
              <a:rPr lang="en-US" dirty="0"/>
              <a:t>A Java program processing a stream of bytes simply receives an indication from the operating system when it reaches the end of the stream.</a:t>
            </a:r>
          </a:p>
          <a:p>
            <a:pPr>
              <a:spcBef>
                <a:spcPts val="1200"/>
              </a:spcBef>
            </a:pPr>
            <a:r>
              <a:rPr lang="en-US" dirty="0"/>
              <a:t>In some cases, the end-of-file indication occurs as an exception. </a:t>
            </a:r>
          </a:p>
          <a:p>
            <a:pPr>
              <a:spcBef>
                <a:spcPts val="1200"/>
              </a:spcBef>
            </a:pPr>
            <a:r>
              <a:rPr lang="en-US" dirty="0"/>
              <a:t>In others, the indication is a return value from a method invoked on a stream-processing object.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3917"/>
            <a:ext cx="10972800" cy="4651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Files and Streams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42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06">
            <a:extLst>
              <a:ext uri="{FF2B5EF4-FFF2-40B4-BE49-F238E27FC236}">
                <a16:creationId xmlns:a16="http://schemas.microsoft.com/office/drawing/2014/main" id="{D5BC6F86-5249-4519-A96D-0D166FE862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4050"/>
            <a:ext cx="12192000" cy="300831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42EA08-BADB-4570-9755-A019DB86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0864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87" y="970810"/>
            <a:ext cx="11691991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 Java program opens a file by creating an object and associating a stream of bytes or characters with it. </a:t>
            </a:r>
          </a:p>
          <a:p>
            <a:pPr>
              <a:spcBef>
                <a:spcPts val="1200"/>
              </a:spcBef>
            </a:pPr>
            <a:r>
              <a:rPr lang="en-US" dirty="0"/>
              <a:t>The object’s constructor interacts with the operating system to open the file. </a:t>
            </a:r>
          </a:p>
          <a:p>
            <a:pPr>
              <a:spcBef>
                <a:spcPts val="1200"/>
              </a:spcBef>
            </a:pPr>
            <a:r>
              <a:rPr lang="en-US" dirty="0"/>
              <a:t>Java can also associate streams with different devices. </a:t>
            </a:r>
          </a:p>
          <a:p>
            <a:pPr>
              <a:spcBef>
                <a:spcPts val="1200"/>
              </a:spcBef>
            </a:pPr>
            <a:r>
              <a:rPr lang="en-US" dirty="0"/>
              <a:t>When a Java program begins executing, it creates three stream objects that are associated with devices—</a:t>
            </a:r>
            <a:r>
              <a:rPr lang="en-US" b="1" i="1" dirty="0"/>
              <a:t>System.in, </a:t>
            </a:r>
            <a:r>
              <a:rPr lang="en-US" b="1" i="1" dirty="0" err="1"/>
              <a:t>System.out</a:t>
            </a:r>
            <a:r>
              <a:rPr lang="en-US" b="1" i="1" dirty="0"/>
              <a:t> </a:t>
            </a:r>
            <a:r>
              <a:rPr lang="en-US" i="1" dirty="0"/>
              <a:t>and</a:t>
            </a:r>
            <a:r>
              <a:rPr lang="en-US" b="1" i="1" dirty="0"/>
              <a:t> </a:t>
            </a:r>
            <a:r>
              <a:rPr lang="en-US" b="1" i="1" dirty="0" err="1"/>
              <a:t>System.err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i="1" dirty="0"/>
              <a:t>System.in</a:t>
            </a:r>
            <a:r>
              <a:rPr lang="en-US" dirty="0"/>
              <a:t> (standard input stream) object normally enables a program to input bytes from the keyboard.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i="1" dirty="0" err="1"/>
              <a:t>System.out</a:t>
            </a:r>
            <a:r>
              <a:rPr lang="en-US" dirty="0"/>
              <a:t> (standard output stream) object normally enables a program to output character data to the screen.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755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/>
              </a:rPr>
              <a:t>Standard Input, Standard Output and Standard Error Streams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1032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41" y="970810"/>
            <a:ext cx="1168171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i="1" dirty="0" err="1"/>
              <a:t>System.err</a:t>
            </a:r>
            <a:r>
              <a:rPr lang="en-US" dirty="0"/>
              <a:t> (standard error stream) object normally enables a program to output character-based error messages to the screen. </a:t>
            </a:r>
          </a:p>
          <a:p>
            <a:pPr>
              <a:spcBef>
                <a:spcPts val="1200"/>
              </a:spcBef>
            </a:pPr>
            <a:r>
              <a:rPr lang="en-US" dirty="0"/>
              <a:t>Each stream can be redirected. </a:t>
            </a:r>
          </a:p>
          <a:p>
            <a:pPr>
              <a:spcBef>
                <a:spcPts val="1200"/>
              </a:spcBef>
            </a:pPr>
            <a:r>
              <a:rPr lang="en-US" dirty="0"/>
              <a:t>For </a:t>
            </a:r>
            <a:r>
              <a:rPr lang="en-US" b="1" i="1" dirty="0"/>
              <a:t>System.in</a:t>
            </a:r>
            <a:r>
              <a:rPr lang="en-US" dirty="0"/>
              <a:t>, this capability enables the program to read bytes from a different source. </a:t>
            </a:r>
          </a:p>
          <a:p>
            <a:pPr>
              <a:spcBef>
                <a:spcPts val="1200"/>
              </a:spcBef>
            </a:pPr>
            <a:r>
              <a:rPr lang="en-US" dirty="0"/>
              <a:t>For </a:t>
            </a:r>
            <a:r>
              <a:rPr lang="en-US" b="1" i="1" dirty="0" err="1"/>
              <a:t>System.out</a:t>
            </a:r>
            <a:r>
              <a:rPr lang="en-US" dirty="0"/>
              <a:t> and </a:t>
            </a:r>
            <a:r>
              <a:rPr lang="en-US" b="1" i="1" dirty="0" err="1"/>
              <a:t>System.err</a:t>
            </a:r>
            <a:r>
              <a:rPr lang="en-US" dirty="0"/>
              <a:t>, it enables the output to be sent to a different location, such as a file on disk. </a:t>
            </a:r>
          </a:p>
          <a:p>
            <a:pPr>
              <a:spcBef>
                <a:spcPts val="1200"/>
              </a:spcBef>
            </a:pPr>
            <a:r>
              <a:rPr lang="en-US" dirty="0"/>
              <a:t>Class System provides methods </a:t>
            </a:r>
            <a:r>
              <a:rPr lang="en-US" b="1" i="1" dirty="0" err="1"/>
              <a:t>setIn</a:t>
            </a:r>
            <a:r>
              <a:rPr lang="en-US" b="1" i="1" dirty="0"/>
              <a:t>, </a:t>
            </a:r>
            <a:r>
              <a:rPr lang="en-US" b="1" i="1" dirty="0" err="1"/>
              <a:t>setOut</a:t>
            </a:r>
            <a:r>
              <a:rPr lang="en-US" b="1" i="1" dirty="0"/>
              <a:t> </a:t>
            </a:r>
            <a:r>
              <a:rPr lang="en-US" i="1" dirty="0"/>
              <a:t>and </a:t>
            </a:r>
            <a:r>
              <a:rPr lang="en-US" b="1" i="1" dirty="0" err="1"/>
              <a:t>setErr</a:t>
            </a:r>
            <a:r>
              <a:rPr lang="en-US" b="1" dirty="0"/>
              <a:t> </a:t>
            </a:r>
            <a:r>
              <a:rPr lang="en-US" dirty="0"/>
              <a:t>to redirect the standard input, output and error streams, respectively.</a:t>
            </a:r>
          </a:p>
          <a:p>
            <a:pPr>
              <a:spcBef>
                <a:spcPts val="1200"/>
              </a:spcBef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755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/>
              </a:rPr>
              <a:t>Standard Input, Standard Output and Standard Error Streams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0040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60" y="868068"/>
            <a:ext cx="11443698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Java programs perform stream-based processing with classes and interfaces from package </a:t>
            </a:r>
            <a:r>
              <a:rPr lang="en-US" b="1" dirty="0"/>
              <a:t>java.io </a:t>
            </a:r>
            <a:r>
              <a:rPr lang="en-US" dirty="0"/>
              <a:t>and the </a:t>
            </a:r>
            <a:r>
              <a:rPr lang="en-US" dirty="0" err="1"/>
              <a:t>subpackages</a:t>
            </a:r>
            <a:r>
              <a:rPr lang="en-US" dirty="0"/>
              <a:t> of </a:t>
            </a:r>
            <a:r>
              <a:rPr lang="en-US" b="1" dirty="0" err="1"/>
              <a:t>java.nio</a:t>
            </a:r>
            <a:r>
              <a:rPr lang="en-US" dirty="0"/>
              <a:t>—</a:t>
            </a:r>
            <a:r>
              <a:rPr lang="en-US" i="1" dirty="0"/>
              <a:t>Java’s New I/O APIs</a:t>
            </a:r>
          </a:p>
          <a:p>
            <a:pPr>
              <a:spcBef>
                <a:spcPts val="1200"/>
              </a:spcBef>
            </a:pPr>
            <a:r>
              <a:rPr lang="en-US" i="1" dirty="0"/>
              <a:t>Java’s New I/O APIs</a:t>
            </a:r>
            <a:r>
              <a:rPr lang="en-US" dirty="0"/>
              <a:t> were first introduced in Java SE 6.</a:t>
            </a:r>
          </a:p>
          <a:p>
            <a:pPr>
              <a:spcBef>
                <a:spcPts val="1200"/>
              </a:spcBef>
            </a:pPr>
            <a:r>
              <a:rPr lang="en-US" dirty="0"/>
              <a:t>There are also other packages throughout the Java APIs containing classes and interfaces based on those in the </a:t>
            </a:r>
            <a:r>
              <a:rPr lang="en-US" b="1" dirty="0"/>
              <a:t>java.io</a:t>
            </a:r>
            <a:r>
              <a:rPr lang="en-US" dirty="0"/>
              <a:t> and </a:t>
            </a:r>
            <a:r>
              <a:rPr lang="en-US" b="1" dirty="0" err="1"/>
              <a:t>java.nio</a:t>
            </a:r>
            <a:r>
              <a:rPr lang="en-US" dirty="0"/>
              <a:t> packages.</a:t>
            </a:r>
          </a:p>
          <a:p>
            <a:pPr>
              <a:spcBef>
                <a:spcPts val="1200"/>
              </a:spcBef>
            </a:pPr>
            <a:r>
              <a:rPr lang="en-US" dirty="0"/>
              <a:t>Character-based input and output can be performed with classes </a:t>
            </a:r>
            <a:r>
              <a:rPr lang="en-US" b="1" i="1" dirty="0"/>
              <a:t>Scanner </a:t>
            </a:r>
            <a:r>
              <a:rPr lang="en-US" i="1" dirty="0"/>
              <a:t>and</a:t>
            </a:r>
            <a:r>
              <a:rPr lang="en-US" b="1" i="1" dirty="0"/>
              <a:t> Formatter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You’ve used class </a:t>
            </a:r>
            <a:r>
              <a:rPr lang="en-US" b="1" dirty="0"/>
              <a:t>Scanner</a:t>
            </a:r>
            <a:r>
              <a:rPr lang="en-US" dirty="0"/>
              <a:t> extensively to input data from the keyboard.</a:t>
            </a:r>
          </a:p>
          <a:p>
            <a:pPr>
              <a:spcBef>
                <a:spcPts val="1200"/>
              </a:spcBef>
            </a:pPr>
            <a:r>
              <a:rPr lang="en-US" b="1" dirty="0"/>
              <a:t>Scanner</a:t>
            </a:r>
            <a:r>
              <a:rPr lang="en-US" dirty="0"/>
              <a:t> also can read data from a file.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effectLst/>
              </a:rPr>
              <a:t>The java.io and </a:t>
            </a:r>
            <a:r>
              <a:rPr lang="en-US" b="0" dirty="0" err="1">
                <a:effectLst/>
              </a:rPr>
              <a:t>java.nio</a:t>
            </a:r>
            <a:r>
              <a:rPr lang="en-US" b="0" dirty="0">
                <a:effectLst/>
              </a:rPr>
              <a:t> Packages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8653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689" y="1166019"/>
            <a:ext cx="1028271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Class </a:t>
            </a:r>
            <a:r>
              <a:rPr lang="en-US" b="1" i="1" dirty="0"/>
              <a:t>Formatter</a:t>
            </a:r>
            <a:r>
              <a:rPr lang="en-US" dirty="0"/>
              <a:t> enables formatted data to be output to any text-based stream in a manner similar to method </a:t>
            </a:r>
            <a:r>
              <a:rPr lang="en-US" b="1" i="1" dirty="0" err="1"/>
              <a:t>System.out.printf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Appendix I presents the details of formatted output with </a:t>
            </a:r>
            <a:r>
              <a:rPr lang="en-US" b="1" i="1" dirty="0" err="1"/>
              <a:t>printf</a:t>
            </a:r>
            <a:r>
              <a:rPr lang="en-US" b="1" i="1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All these features can be used to format text files as well.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effectLst/>
              </a:rPr>
              <a:t>The java.io and </a:t>
            </a:r>
            <a:r>
              <a:rPr lang="en-US" b="0" dirty="0" err="1">
                <a:effectLst/>
              </a:rPr>
              <a:t>java.nio</a:t>
            </a:r>
            <a:r>
              <a:rPr lang="en-US" b="0" dirty="0">
                <a:effectLst/>
              </a:rPr>
              <a:t> Packages Cont.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5165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765326"/>
            <a:ext cx="1120910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Java contains a package named </a:t>
            </a:r>
            <a:r>
              <a:rPr lang="en-US" b="1" dirty="0"/>
              <a:t>java.io </a:t>
            </a:r>
            <a:r>
              <a:rPr lang="en-US" dirty="0"/>
              <a:t>that is designed to handle file input and output procedures. </a:t>
            </a:r>
          </a:p>
          <a:p>
            <a:pPr>
              <a:spcBef>
                <a:spcPts val="1200"/>
              </a:spcBef>
            </a:pPr>
            <a:r>
              <a:rPr lang="en-US" dirty="0"/>
              <a:t>The package can be made available to a program by including an </a:t>
            </a:r>
            <a:r>
              <a:rPr lang="en-US" b="1" dirty="0"/>
              <a:t>import </a:t>
            </a:r>
            <a:r>
              <a:rPr lang="en-US" dirty="0"/>
              <a:t>statement at the very beginning of the </a:t>
            </a:r>
            <a:r>
              <a:rPr lang="en-US" b="1" dirty="0"/>
              <a:t>.java </a:t>
            </a:r>
            <a:r>
              <a:rPr lang="en-US" dirty="0"/>
              <a:t>file. </a:t>
            </a:r>
          </a:p>
          <a:p>
            <a:pPr>
              <a:spcBef>
                <a:spcPts val="1200"/>
              </a:spcBef>
            </a:pPr>
            <a:r>
              <a:rPr lang="en-US" dirty="0"/>
              <a:t>This can use the * wildcard character to mean “all classes” in the statement </a:t>
            </a:r>
            <a:r>
              <a:rPr lang="en-US" b="1" dirty="0"/>
              <a:t>import java.io.* ; 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/>
              <a:t>java.io </a:t>
            </a:r>
            <a:r>
              <a:rPr lang="en-US" dirty="0"/>
              <a:t>package has a class named “</a:t>
            </a:r>
            <a:r>
              <a:rPr lang="en-US" b="1" dirty="0"/>
              <a:t>File</a:t>
            </a:r>
            <a:r>
              <a:rPr lang="en-US" dirty="0"/>
              <a:t>” that can be used to access files or complete directories. </a:t>
            </a:r>
          </a:p>
          <a:p>
            <a:pPr>
              <a:spcBef>
                <a:spcPts val="1200"/>
              </a:spcBef>
            </a:pPr>
            <a:r>
              <a:rPr lang="en-US" dirty="0"/>
              <a:t>A </a:t>
            </a:r>
            <a:r>
              <a:rPr lang="en-US" b="1" dirty="0"/>
              <a:t>File </a:t>
            </a:r>
            <a:r>
              <a:rPr lang="en-US" dirty="0"/>
              <a:t>object must first be created using the </a:t>
            </a:r>
            <a:r>
              <a:rPr lang="en-US" b="1" dirty="0"/>
              <a:t>new </a:t>
            </a:r>
            <a:r>
              <a:rPr lang="en-US" dirty="0"/>
              <a:t>keyword and specifying the filename, or directory name, as the constructor’s argument.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 </a:t>
            </a:r>
            <a:r>
              <a:rPr lang="en-US" b="0" dirty="0">
                <a:effectLst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56411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765326"/>
            <a:ext cx="1120910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For example, the syntax to create a </a:t>
            </a:r>
            <a:r>
              <a:rPr lang="en-US" b="1" dirty="0"/>
              <a:t>File </a:t>
            </a:r>
            <a:r>
              <a:rPr lang="en-US" dirty="0"/>
              <a:t>object named “info” to represent a local file named “</a:t>
            </a:r>
            <a:r>
              <a:rPr lang="en-US" b="1" dirty="0"/>
              <a:t>info.txt</a:t>
            </a:r>
            <a:r>
              <a:rPr lang="en-US" dirty="0"/>
              <a:t>” looks like this: </a:t>
            </a:r>
          </a:p>
          <a:p>
            <a:pPr lvl="3">
              <a:spcBef>
                <a:spcPts val="1200"/>
              </a:spcBef>
            </a:pPr>
            <a:r>
              <a:rPr lang="en-US" sz="2800" b="1" dirty="0"/>
              <a:t>File info = new File( “info.txt” ) ; </a:t>
            </a:r>
            <a:endParaRPr lang="en-US" sz="2800" dirty="0"/>
          </a:p>
          <a:p>
            <a:pPr>
              <a:spcBef>
                <a:spcPts val="1200"/>
              </a:spcBef>
            </a:pPr>
            <a:r>
              <a:rPr lang="en-US" dirty="0"/>
              <a:t>This file would be located in the same directory as the program, but the argument could state the path to a file located elsewhere. </a:t>
            </a:r>
          </a:p>
          <a:p>
            <a:pPr>
              <a:spcBef>
                <a:spcPts val="1200"/>
              </a:spcBef>
            </a:pPr>
            <a:r>
              <a:rPr lang="en-US" dirty="0"/>
              <a:t>Note that the creation of a </a:t>
            </a:r>
            <a:r>
              <a:rPr lang="en-US" b="1" dirty="0"/>
              <a:t>File </a:t>
            </a:r>
            <a:r>
              <a:rPr lang="en-US" dirty="0"/>
              <a:t>object does not actually create a file, but merely the means to represent a file. </a:t>
            </a:r>
          </a:p>
          <a:p>
            <a:pPr>
              <a:spcBef>
                <a:spcPts val="1200"/>
              </a:spcBef>
            </a:pPr>
            <a:r>
              <a:rPr lang="en-US" dirty="0"/>
              <a:t>Once a </a:t>
            </a:r>
            <a:r>
              <a:rPr lang="en-US" b="1" dirty="0"/>
              <a:t>File </a:t>
            </a:r>
            <a:r>
              <a:rPr lang="en-US" dirty="0"/>
              <a:t>object has been created to represent a file, its methods can be called to manipulate the file. </a:t>
            </a:r>
          </a:p>
          <a:p>
            <a:pPr>
              <a:spcBef>
                <a:spcPts val="1200"/>
              </a:spcBef>
            </a:pPr>
            <a:r>
              <a:rPr lang="en-US" dirty="0"/>
              <a:t>The most useful </a:t>
            </a:r>
            <a:r>
              <a:rPr lang="en-US" b="1" dirty="0"/>
              <a:t>File </a:t>
            </a:r>
            <a:r>
              <a:rPr lang="en-US" dirty="0"/>
              <a:t>object methods are listed in this table, together with a brief description: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 </a:t>
            </a:r>
            <a:r>
              <a:rPr lang="en-US" b="0" dirty="0">
                <a:effectLst/>
              </a:rPr>
              <a:t>Cont.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2868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47" y="534257"/>
            <a:ext cx="1120910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The filename specified as the constructor argument must be enclosed within quotes.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The most useful </a:t>
            </a:r>
            <a:r>
              <a:rPr lang="en-US" sz="2600" b="1" dirty="0"/>
              <a:t>File </a:t>
            </a:r>
            <a:r>
              <a:rPr lang="en-US" sz="2600" dirty="0"/>
              <a:t>object methods are listed in this table, together with a brief description</a:t>
            </a:r>
            <a:r>
              <a:rPr lang="en-US" dirty="0"/>
              <a:t>: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2"/>
            <a:ext cx="11856378" cy="29814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 </a:t>
            </a:r>
            <a:r>
              <a:rPr lang="en-US" b="0" dirty="0">
                <a:effectLst/>
              </a:rPr>
              <a:t>Cont.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5D182-6276-450D-B6A4-BC3F60EB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98" y="2255635"/>
            <a:ext cx="9246742" cy="423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9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2"/>
            <a:ext cx="11856378" cy="29814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</a:t>
            </a:r>
            <a:r>
              <a:rPr lang="en-US" b="0" dirty="0">
                <a:effectLst/>
              </a:rPr>
              <a:t>. EXAMPLE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0D085F-9D23-4969-8549-9ACE110C2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739934"/>
            <a:ext cx="6400800" cy="60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92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801579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</a:t>
            </a:r>
            <a:r>
              <a:rPr lang="en-US" b="0" dirty="0">
                <a:effectLst/>
              </a:rPr>
              <a:t>. EXAMPLE- OUTPUT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F8BE2-79DA-492C-9A93-C82C1E3C1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381" y="2005190"/>
            <a:ext cx="6895238" cy="2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34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96B1339-D07B-4E7B-B0FC-E8EC54069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113" y="0"/>
            <a:ext cx="7265382" cy="63094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java.io.*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ListFiles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 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File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"data"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if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dir.exists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 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String[] files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dir.list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 files found..."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++ 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files[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 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"Folder not found."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}  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232E4-7D2C-4F99-8F60-842F1BB96A5A}"/>
              </a:ext>
            </a:extLst>
          </p:cNvPr>
          <p:cNvSpPr txBox="1"/>
          <p:nvPr/>
        </p:nvSpPr>
        <p:spPr>
          <a:xfrm>
            <a:off x="6891453" y="6309420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C:\Users\foderanti\OneDrive - Liberty University</a:t>
            </a:r>
          </a:p>
        </p:txBody>
      </p:sp>
    </p:spTree>
    <p:extLst>
      <p:ext uri="{BB962C8B-B14F-4D97-AF65-F5344CB8AC3E}">
        <p14:creationId xmlns:p14="http://schemas.microsoft.com/office/powerpoint/2010/main" val="1607071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4721-B8BA-4EDB-9F14-6F1C7D6B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-292100"/>
            <a:ext cx="82296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5.8  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Java API Packages </a:t>
            </a:r>
            <a:r>
              <a:rPr lang="en-US" dirty="0">
                <a:solidFill>
                  <a:srgbClr val="3380E6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REVISITED</a:t>
            </a:r>
          </a:p>
        </p:txBody>
      </p:sp>
      <p:sp>
        <p:nvSpPr>
          <p:cNvPr id="54275" name="Text Placeholder 2">
            <a:extLst>
              <a:ext uri="{FF2B5EF4-FFF2-40B4-BE49-F238E27FC236}">
                <a16:creationId xmlns:a16="http://schemas.microsoft.com/office/drawing/2014/main" id="{63CC1AAE-CEB7-456B-9F17-15E599A70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04" y="527406"/>
            <a:ext cx="12018196" cy="512338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800" dirty="0">
                <a:solidFill>
                  <a:srgbClr val="000000"/>
                </a:solidFill>
              </a:rPr>
              <a:t>Java contains many predefined classes that are grouped into categories of related classes called </a:t>
            </a:r>
            <a:r>
              <a:rPr lang="en-US" altLang="en-US" sz="2800" i="1" dirty="0">
                <a:solidFill>
                  <a:srgbClr val="000000"/>
                </a:solidFill>
              </a:rPr>
              <a:t>packages </a:t>
            </a:r>
          </a:p>
          <a:p>
            <a:pPr>
              <a:spcBef>
                <a:spcPts val="600"/>
              </a:spcBef>
            </a:pPr>
            <a:r>
              <a:rPr lang="en-US" altLang="en-US" sz="2800" b="1" dirty="0">
                <a:solidFill>
                  <a:srgbClr val="000000"/>
                </a:solidFill>
                <a:highlight>
                  <a:srgbClr val="00FF00"/>
                </a:highlight>
              </a:rPr>
              <a:t>Classes relevant for processing files and directories </a:t>
            </a:r>
            <a:r>
              <a:rPr lang="en-US" altLang="en-US" sz="2800" dirty="0">
                <a:solidFill>
                  <a:srgbClr val="000000"/>
                </a:solidFill>
                <a:highlight>
                  <a:srgbClr val="00FF00"/>
                </a:highlight>
              </a:rPr>
              <a:t>and their methods are in </a:t>
            </a:r>
            <a:r>
              <a:rPr lang="en-US" altLang="en-US" sz="2800" b="1" dirty="0">
                <a:solidFill>
                  <a:srgbClr val="000000"/>
                </a:solidFill>
                <a:highlight>
                  <a:srgbClr val="00FF00"/>
                </a:highlight>
              </a:rPr>
              <a:t>Java.io and </a:t>
            </a:r>
            <a:r>
              <a:rPr lang="en-US" altLang="en-US" sz="2800" b="1" dirty="0" err="1">
                <a:solidFill>
                  <a:srgbClr val="000000"/>
                </a:solidFill>
                <a:highlight>
                  <a:srgbClr val="00FF00"/>
                </a:highlight>
              </a:rPr>
              <a:t>Java.nio</a:t>
            </a:r>
            <a:r>
              <a:rPr lang="en-US" altLang="en-US" sz="2800" b="1" dirty="0">
                <a:solidFill>
                  <a:srgbClr val="000000"/>
                </a:solidFill>
                <a:highlight>
                  <a:srgbClr val="00FF00"/>
                </a:highlight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highlight>
                  <a:srgbClr val="00FF00"/>
                </a:highlight>
              </a:rPr>
              <a:t>package</a:t>
            </a:r>
          </a:p>
          <a:p>
            <a:pPr>
              <a:spcBef>
                <a:spcPts val="600"/>
              </a:spcBef>
            </a:pPr>
            <a:r>
              <a:rPr lang="en-US" altLang="en-US" sz="2400" dirty="0">
                <a:solidFill>
                  <a:srgbClr val="000000"/>
                </a:solidFill>
                <a:hlinkClick r:id="rId2"/>
              </a:rPr>
              <a:t>https://docs.oracle.com/javase/7/docs/api/java/io/package-summary.html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endParaRPr lang="en-US" altLang="en-US" sz="2400" dirty="0">
              <a:solidFill>
                <a:srgbClr val="000000"/>
              </a:solidFill>
              <a:highlight>
                <a:srgbClr val="00FF00"/>
              </a:highlight>
            </a:endParaRPr>
          </a:p>
          <a:p>
            <a:pPr>
              <a:spcBef>
                <a:spcPts val="600"/>
              </a:spcBef>
            </a:pPr>
            <a:r>
              <a:rPr lang="en-US" altLang="en-US" sz="2800" dirty="0">
                <a:solidFill>
                  <a:srgbClr val="000000"/>
                </a:solidFill>
              </a:rPr>
              <a:t>  Overview of the packages in Java</a:t>
            </a:r>
          </a:p>
          <a:p>
            <a:pPr lvl="2">
              <a:spcBef>
                <a:spcPts val="6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http://docs.oracle.com/javase/7/docs/api/overview-summary.html</a:t>
            </a:r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>
              <a:spcBef>
                <a:spcPts val="6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Additional information about a predefined Java class’s methods </a:t>
            </a:r>
          </a:p>
          <a:p>
            <a:pPr lvl="2">
              <a:spcBef>
                <a:spcPts val="6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  <a:hlinkClick r:id="rId4"/>
              </a:rPr>
              <a:t>http://docs.oracle.com/javase/7/docs/api/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Index</a:t>
            </a:r>
            <a:r>
              <a:rPr lang="en-US" altLang="en-US" sz="2400" dirty="0">
                <a:solidFill>
                  <a:srgbClr val="000000"/>
                </a:solidFill>
              </a:rPr>
              <a:t> link shows alphabetical list of all the classes and methods in the Java API 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olidFill>
                  <a:srgbClr val="000000"/>
                </a:solidFill>
              </a:rPr>
              <a:t>Locate the class name and click its link to see the online description of the class 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METHOD</a:t>
            </a:r>
            <a:r>
              <a:rPr lang="en-US" altLang="en-US" sz="2400" dirty="0">
                <a:solidFill>
                  <a:srgbClr val="000000"/>
                </a:solidFill>
              </a:rPr>
              <a:t> link shows a table of the class’s methods 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olidFill>
                  <a:srgbClr val="000000"/>
                </a:solidFill>
              </a:rPr>
              <a:t>Each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sz="2400" dirty="0">
                <a:solidFill>
                  <a:srgbClr val="000000"/>
                </a:solidFill>
              </a:rPr>
              <a:t> method will be listed with the word “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sz="2400" dirty="0">
                <a:solidFill>
                  <a:srgbClr val="000000"/>
                </a:solidFill>
              </a:rPr>
              <a:t>” preceding its return type.</a:t>
            </a:r>
          </a:p>
        </p:txBody>
      </p:sp>
    </p:spTree>
    <p:extLst>
      <p:ext uri="{BB962C8B-B14F-4D97-AF65-F5344CB8AC3E}">
        <p14:creationId xmlns:p14="http://schemas.microsoft.com/office/powerpoint/2010/main" val="3595001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9BE1B5-BCFA-4787-855D-24E98296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Midterm Exam</a:t>
            </a:r>
          </a:p>
        </p:txBody>
      </p:sp>
    </p:spTree>
    <p:extLst>
      <p:ext uri="{BB962C8B-B14F-4D97-AF65-F5344CB8AC3E}">
        <p14:creationId xmlns:p14="http://schemas.microsoft.com/office/powerpoint/2010/main" val="324240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16" y="888616"/>
            <a:ext cx="1120910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/>
              <a:t>java.io </a:t>
            </a:r>
            <a:r>
              <a:rPr lang="en-US" dirty="0"/>
              <a:t>package contains a class named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/>
              <a:t>that is especially designed to read text files. </a:t>
            </a:r>
          </a:p>
          <a:p>
            <a:pPr>
              <a:spcBef>
                <a:spcPts val="1200"/>
              </a:spcBef>
            </a:pPr>
            <a:r>
              <a:rPr lang="en-US" dirty="0"/>
              <a:t>This class is a subclass of the </a:t>
            </a:r>
            <a:r>
              <a:rPr lang="en-US" b="1" dirty="0" err="1"/>
              <a:t>InputStreamReader</a:t>
            </a:r>
            <a:r>
              <a:rPr lang="en-US" b="1" dirty="0"/>
              <a:t> </a:t>
            </a:r>
            <a:r>
              <a:rPr lang="en-US" dirty="0"/>
              <a:t>class </a:t>
            </a:r>
          </a:p>
          <a:p>
            <a:pPr>
              <a:spcBef>
                <a:spcPts val="1200"/>
              </a:spcBef>
            </a:pPr>
            <a:r>
              <a:rPr lang="en-US" dirty="0"/>
              <a:t>This can be used to read console input by converting a byte stream into integers that represent Unicode character values. </a:t>
            </a:r>
          </a:p>
          <a:p>
            <a:pPr>
              <a:spcBef>
                <a:spcPts val="1200"/>
              </a:spcBef>
            </a:pPr>
            <a:r>
              <a:rPr lang="en-US" dirty="0"/>
              <a:t>A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/>
              <a:t>object is created using the </a:t>
            </a:r>
            <a:r>
              <a:rPr lang="en-US" b="1" dirty="0"/>
              <a:t>new </a:t>
            </a:r>
            <a:r>
              <a:rPr lang="en-US" dirty="0"/>
              <a:t>keyword, and takes the name of the file to be read as its argument. </a:t>
            </a:r>
          </a:p>
          <a:p>
            <a:pPr>
              <a:spcBef>
                <a:spcPts val="1200"/>
              </a:spcBef>
            </a:pPr>
            <a:r>
              <a:rPr lang="en-US" dirty="0"/>
              <a:t>Optionally, the argument can include the full path to a file outside the directory where the program is located.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files: Reading files</a:t>
            </a:r>
            <a:r>
              <a:rPr lang="en-US" b="0" dirty="0">
                <a:effectLst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19630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765326"/>
            <a:ext cx="1120910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In order to efficiently read the text file line-by-line, the </a:t>
            </a:r>
            <a:r>
              <a:rPr lang="en-US" b="1" dirty="0" err="1"/>
              <a:t>readLine</a:t>
            </a:r>
            <a:r>
              <a:rPr lang="en-US" b="1" dirty="0"/>
              <a:t>() </a:t>
            </a:r>
            <a:r>
              <a:rPr lang="en-US" dirty="0"/>
              <a:t>method of a </a:t>
            </a:r>
            <a:r>
              <a:rPr lang="en-US" b="1" dirty="0" err="1"/>
              <a:t>BufferedReader</a:t>
            </a:r>
            <a:r>
              <a:rPr lang="en-US" b="1" dirty="0"/>
              <a:t> </a:t>
            </a:r>
            <a:r>
              <a:rPr lang="en-US" dirty="0"/>
              <a:t>object can be employed to read the characters decoded by the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/>
              <a:t>object. </a:t>
            </a:r>
          </a:p>
          <a:p>
            <a:pPr>
              <a:spcBef>
                <a:spcPts val="1200"/>
              </a:spcBef>
            </a:pPr>
            <a:r>
              <a:rPr lang="en-US" dirty="0"/>
              <a:t>This method must be called from within a </a:t>
            </a:r>
            <a:r>
              <a:rPr lang="en-US" b="1" dirty="0"/>
              <a:t>try catch </a:t>
            </a:r>
            <a:r>
              <a:rPr lang="en-US" dirty="0"/>
              <a:t>statement to catch any </a:t>
            </a:r>
            <a:r>
              <a:rPr lang="en-US" b="1" dirty="0" err="1"/>
              <a:t>IOException</a:t>
            </a:r>
            <a:r>
              <a:rPr lang="en-US" b="1" dirty="0"/>
              <a:t> </a:t>
            </a:r>
            <a:r>
              <a:rPr lang="en-US" dirty="0"/>
              <a:t>problems that may arise. </a:t>
            </a:r>
          </a:p>
          <a:p>
            <a:pPr>
              <a:spcBef>
                <a:spcPts val="1200"/>
              </a:spcBef>
            </a:pPr>
            <a:r>
              <a:rPr lang="en-US" dirty="0"/>
              <a:t>Reading all lines in a text file containing multiple lines of text is accomplished by making repeated calls to the </a:t>
            </a:r>
            <a:r>
              <a:rPr lang="en-US" b="1" dirty="0" err="1"/>
              <a:t>readLine</a:t>
            </a:r>
            <a:r>
              <a:rPr lang="en-US" b="1" dirty="0"/>
              <a:t>() </a:t>
            </a:r>
            <a:r>
              <a:rPr lang="en-US" dirty="0"/>
              <a:t>method in a loop. </a:t>
            </a:r>
          </a:p>
          <a:p>
            <a:pPr>
              <a:spcBef>
                <a:spcPts val="1200"/>
              </a:spcBef>
            </a:pPr>
            <a:r>
              <a:rPr lang="en-US" dirty="0"/>
              <a:t>At the end of the file the call will return a </a:t>
            </a:r>
            <a:r>
              <a:rPr lang="en-US" b="1" dirty="0"/>
              <a:t>null </a:t>
            </a:r>
            <a:r>
              <a:rPr lang="en-US" dirty="0"/>
              <a:t>value, which can be used to terminate the loop.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Handling files: Reading files</a:t>
            </a:r>
            <a:r>
              <a:rPr lang="en-US" b="0" dirty="0">
                <a:effectLst/>
              </a:rPr>
              <a:t> Cont.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91827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Reading files: </a:t>
            </a:r>
            <a:r>
              <a:rPr lang="en-US" dirty="0">
                <a:highlight>
                  <a:srgbClr val="FFFF00"/>
                </a:highlight>
              </a:rPr>
              <a:t>CLASS ACTIVITIES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8E592-081B-41DD-83AD-8D74CF57A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762" y="791109"/>
            <a:ext cx="6790476" cy="575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61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Reading files: </a:t>
            </a:r>
            <a:r>
              <a:rPr lang="en-US" dirty="0">
                <a:highlight>
                  <a:srgbClr val="FFFF00"/>
                </a:highlight>
              </a:rPr>
              <a:t>CLASS ACTIVITIES Cont. 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4C2FAD-088D-42B2-8ADB-F54031E4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396" y="834775"/>
            <a:ext cx="6054905" cy="5658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7CAF0-A409-4ECD-85D9-1B9B07771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629" y="2239910"/>
            <a:ext cx="2712377" cy="12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40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Reading files: </a:t>
            </a:r>
            <a:r>
              <a:rPr lang="en-US" dirty="0">
                <a:highlight>
                  <a:srgbClr val="FFFF00"/>
                </a:highlight>
              </a:rPr>
              <a:t>CLASS ACTIVITIES- </a:t>
            </a:r>
            <a:r>
              <a:rPr lang="en-US" dirty="0">
                <a:solidFill>
                  <a:schemeClr val="accent3"/>
                </a:solidFill>
                <a:highlight>
                  <a:srgbClr val="00FF00"/>
                </a:highlight>
              </a:rPr>
              <a:t>OUTPUT</a:t>
            </a:r>
            <a:endParaRPr lang="en-US" sz="3200" dirty="0">
              <a:solidFill>
                <a:schemeClr val="accent3"/>
              </a:solidFill>
              <a:highlight>
                <a:srgbClr val="00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3CC5C-330D-47CB-A048-27FB5071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44" y="1017142"/>
            <a:ext cx="6575460" cy="324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18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Reading files: </a:t>
            </a:r>
            <a:r>
              <a:rPr lang="en-US" dirty="0">
                <a:highlight>
                  <a:srgbClr val="FFFF00"/>
                </a:highlight>
              </a:rPr>
              <a:t>CLASS ACTIVITIES- </a:t>
            </a:r>
            <a:r>
              <a:rPr lang="en-US" dirty="0">
                <a:solidFill>
                  <a:schemeClr val="accent3"/>
                </a:solidFill>
                <a:highlight>
                  <a:srgbClr val="00FF00"/>
                </a:highlight>
              </a:rPr>
              <a:t>SOLUTION</a:t>
            </a:r>
            <a:endParaRPr lang="en-US" sz="3200" dirty="0">
              <a:solidFill>
                <a:schemeClr val="accent3"/>
              </a:solidFill>
              <a:highlight>
                <a:srgbClr val="00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EAC701-7860-4463-BAC1-AD420CC71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42" y="661388"/>
            <a:ext cx="6569404" cy="603242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java.io.*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ReadFile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 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)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FileReader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file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FileReader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"Oscar.txt"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BufferedReader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buffer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BufferedReader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file 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String line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( line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buffer.readLine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 ) !=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null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line 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buffer.close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IOException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e 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 read error has occurred."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}   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E5F253-4140-4D8B-BC88-9A9899851F68}"/>
              </a:ext>
            </a:extLst>
          </p:cNvPr>
          <p:cNvSpPr/>
          <p:nvPr/>
        </p:nvSpPr>
        <p:spPr>
          <a:xfrm>
            <a:off x="7515335" y="2228451"/>
            <a:ext cx="49065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 never saw a man who looked</a:t>
            </a:r>
          </a:p>
          <a:p>
            <a:r>
              <a:rPr lang="en-US" dirty="0"/>
              <a:t>  With such a wistful eye</a:t>
            </a:r>
          </a:p>
          <a:p>
            <a:r>
              <a:rPr lang="en-US" dirty="0"/>
              <a:t>Upon that little tent of blue</a:t>
            </a:r>
          </a:p>
          <a:p>
            <a:r>
              <a:rPr lang="en-US" dirty="0"/>
              <a:t>  Which prisoners call the sky,</a:t>
            </a:r>
          </a:p>
          <a:p>
            <a:r>
              <a:rPr lang="en-US" dirty="0"/>
              <a:t>And at every drifting cloud that went</a:t>
            </a:r>
          </a:p>
          <a:p>
            <a:r>
              <a:rPr lang="en-US" dirty="0"/>
              <a:t>  With sails of silver by.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3410E-578E-46EA-874A-C2C61F6F7DCA}"/>
              </a:ext>
            </a:extLst>
          </p:cNvPr>
          <p:cNvSpPr txBox="1"/>
          <p:nvPr/>
        </p:nvSpPr>
        <p:spPr>
          <a:xfrm>
            <a:off x="6999553" y="6324477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C:\Users\foderanti\OneDrive - Liberty University</a:t>
            </a:r>
          </a:p>
        </p:txBody>
      </p:sp>
    </p:spTree>
    <p:extLst>
      <p:ext uri="{BB962C8B-B14F-4D97-AF65-F5344CB8AC3E}">
        <p14:creationId xmlns:p14="http://schemas.microsoft.com/office/powerpoint/2010/main" val="409680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011907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In the </a:t>
            </a:r>
            <a:r>
              <a:rPr lang="en-US" b="1" dirty="0"/>
              <a:t>java.io </a:t>
            </a:r>
            <a:r>
              <a:rPr lang="en-US" dirty="0"/>
              <a:t>package the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BufferedReader</a:t>
            </a:r>
            <a:r>
              <a:rPr lang="en-US" b="1" dirty="0"/>
              <a:t> </a:t>
            </a:r>
            <a:r>
              <a:rPr lang="en-US" dirty="0"/>
              <a:t>classes, which are used to read text files, have counterparts named </a:t>
            </a:r>
            <a:r>
              <a:rPr lang="en-US" b="1" dirty="0" err="1"/>
              <a:t>FileWriter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BufferedWriter</a:t>
            </a:r>
            <a:r>
              <a:rPr lang="en-US" b="1" dirty="0"/>
              <a:t> </a:t>
            </a:r>
            <a:r>
              <a:rPr lang="en-US" dirty="0"/>
              <a:t>that can be used to write text files. </a:t>
            </a:r>
          </a:p>
          <a:p>
            <a:pPr>
              <a:spcBef>
                <a:spcPts val="1200"/>
              </a:spcBef>
            </a:pPr>
            <a:r>
              <a:rPr lang="en-US" dirty="0"/>
              <a:t>A </a:t>
            </a:r>
            <a:r>
              <a:rPr lang="en-US" b="1" dirty="0" err="1"/>
              <a:t>FileWriter</a:t>
            </a:r>
            <a:r>
              <a:rPr lang="en-US" b="1" dirty="0"/>
              <a:t> </a:t>
            </a:r>
            <a:r>
              <a:rPr lang="en-US" dirty="0"/>
              <a:t>object is created using the </a:t>
            </a:r>
            <a:r>
              <a:rPr lang="en-US" b="1" dirty="0"/>
              <a:t>new </a:t>
            </a:r>
            <a:r>
              <a:rPr lang="en-US" dirty="0"/>
              <a:t>keyword, and takes the name of the file to be written as its argument. </a:t>
            </a:r>
          </a:p>
          <a:p>
            <a:pPr>
              <a:spcBef>
                <a:spcPts val="1200"/>
              </a:spcBef>
            </a:pPr>
            <a:r>
              <a:rPr lang="en-US" dirty="0"/>
              <a:t>Optionally, the argument can include the full path to a file to be written in a directory outside that in which the program is located.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 err="1"/>
              <a:t>BufferedWriter</a:t>
            </a:r>
            <a:r>
              <a:rPr lang="en-US" b="1" dirty="0"/>
              <a:t> </a:t>
            </a:r>
            <a:r>
              <a:rPr lang="en-US" dirty="0"/>
              <a:t>object is created with the </a:t>
            </a:r>
            <a:r>
              <a:rPr lang="en-US" b="1" dirty="0"/>
              <a:t>new </a:t>
            </a:r>
            <a:r>
              <a:rPr lang="en-US" dirty="0"/>
              <a:t>keyword, and takes the name of the </a:t>
            </a:r>
            <a:r>
              <a:rPr lang="en-US" b="1" dirty="0" err="1"/>
              <a:t>FileWriter</a:t>
            </a:r>
            <a:r>
              <a:rPr lang="en-US" b="1" dirty="0"/>
              <a:t> </a:t>
            </a:r>
            <a:r>
              <a:rPr lang="en-US" dirty="0"/>
              <a:t>object as its argument.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Writing files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08906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011907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3200" dirty="0"/>
              <a:t>Text can then be written with the </a:t>
            </a:r>
            <a:r>
              <a:rPr lang="en-US" sz="3200" b="1" dirty="0"/>
              <a:t>write() </a:t>
            </a:r>
            <a:r>
              <a:rPr lang="en-US" sz="3200" dirty="0"/>
              <a:t>method of the </a:t>
            </a:r>
            <a:r>
              <a:rPr lang="en-US" sz="3200" b="1" dirty="0" err="1"/>
              <a:t>BufferedWriter</a:t>
            </a:r>
            <a:r>
              <a:rPr lang="en-US" sz="3200" b="1" dirty="0"/>
              <a:t> </a:t>
            </a:r>
            <a:r>
              <a:rPr lang="en-US" sz="3200" dirty="0"/>
              <a:t>object, and lines separated by calling its </a:t>
            </a:r>
            <a:r>
              <a:rPr lang="en-US" sz="3200" b="1" dirty="0" err="1"/>
              <a:t>newLine</a:t>
            </a:r>
            <a:r>
              <a:rPr lang="en-US" sz="3200" b="1" dirty="0"/>
              <a:t>() </a:t>
            </a:r>
            <a:r>
              <a:rPr lang="en-US" sz="3200" dirty="0"/>
              <a:t>method. 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These methods should be called from within a </a:t>
            </a:r>
            <a:r>
              <a:rPr lang="en-US" sz="3200" b="1" dirty="0"/>
              <a:t>try catch </a:t>
            </a:r>
            <a:r>
              <a:rPr lang="en-US" sz="3200" dirty="0"/>
              <a:t>statement to catch any </a:t>
            </a:r>
            <a:r>
              <a:rPr lang="en-US" sz="3200" b="1" dirty="0" err="1"/>
              <a:t>IOException</a:t>
            </a:r>
            <a:r>
              <a:rPr lang="en-US" sz="3200" b="1" dirty="0"/>
              <a:t> </a:t>
            </a:r>
            <a:r>
              <a:rPr lang="en-US" sz="3200" dirty="0"/>
              <a:t>problems that may arise. 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If a file of the specified name already exists, its contents will be overwritten by the </a:t>
            </a:r>
            <a:r>
              <a:rPr lang="en-US" sz="3200" b="1" dirty="0"/>
              <a:t>write() </a:t>
            </a:r>
            <a:r>
              <a:rPr lang="en-US" sz="3200" dirty="0"/>
              <a:t>method, otherwise a new file of that name will be created and its contents written. </a:t>
            </a:r>
          </a:p>
          <a:p>
            <a:pPr>
              <a:spcBef>
                <a:spcPts val="1200"/>
              </a:spcBef>
            </a:pPr>
            <a:r>
              <a:rPr lang="en-US" dirty="0"/>
              <a:t>You can call the </a:t>
            </a:r>
            <a:r>
              <a:rPr lang="en-US" b="1" dirty="0"/>
              <a:t>append() </a:t>
            </a:r>
            <a:r>
              <a:rPr lang="en-US" dirty="0"/>
              <a:t>method of the </a:t>
            </a:r>
            <a:r>
              <a:rPr lang="en-US" b="1" dirty="0" err="1"/>
              <a:t>BufferedWriter</a:t>
            </a:r>
            <a:r>
              <a:rPr lang="en-US" b="1" dirty="0"/>
              <a:t> </a:t>
            </a:r>
            <a:r>
              <a:rPr lang="en-US" dirty="0"/>
              <a:t>object to add text – rather than overwriting text with the </a:t>
            </a:r>
            <a:r>
              <a:rPr lang="en-US" b="1" dirty="0"/>
              <a:t>write() </a:t>
            </a:r>
            <a:r>
              <a:rPr lang="en-US" dirty="0"/>
              <a:t>method.</a:t>
            </a:r>
            <a:endParaRPr lang="en-US" sz="3200" dirty="0">
              <a:solidFill>
                <a:srgbClr val="3C3C3C"/>
              </a:solidFill>
              <a:latin typeface="Robo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Writing files  Cont.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5888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Writing files: </a:t>
            </a:r>
            <a:r>
              <a:rPr lang="en-US" dirty="0">
                <a:highlight>
                  <a:srgbClr val="FFFF00"/>
                </a:highlight>
              </a:rPr>
              <a:t>CLASS ACTIVITIES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F53027-8E7C-47BD-B90D-361B1CFD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33" y="629292"/>
            <a:ext cx="7479586" cy="60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83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33762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Writing files: </a:t>
            </a:r>
            <a:r>
              <a:rPr lang="en-US" dirty="0">
                <a:highlight>
                  <a:srgbClr val="FFFF00"/>
                </a:highlight>
              </a:rPr>
              <a:t>CLASS ACTIVITIES Cont.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6E1689-AE22-4902-B016-1CFCA8DA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017" y="598863"/>
            <a:ext cx="6475965" cy="61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8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Writing files: </a:t>
            </a:r>
            <a:r>
              <a:rPr lang="en-US" dirty="0">
                <a:highlight>
                  <a:srgbClr val="FFFF00"/>
                </a:highlight>
              </a:rPr>
              <a:t>CLASS ACTIVITIES- </a:t>
            </a:r>
            <a:r>
              <a:rPr lang="en-US" dirty="0">
                <a:solidFill>
                  <a:schemeClr val="accent3"/>
                </a:solidFill>
                <a:highlight>
                  <a:srgbClr val="00FF00"/>
                </a:highlight>
              </a:rPr>
              <a:t>OUTPUT</a:t>
            </a:r>
            <a:endParaRPr lang="en-US" sz="3200" dirty="0">
              <a:solidFill>
                <a:schemeClr val="accent3"/>
              </a:solidFill>
              <a:highlight>
                <a:srgbClr val="00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D3E7FD-EDC1-4E06-AAA4-AEA895B8C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088" y="1366463"/>
            <a:ext cx="8378367" cy="339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2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Writing files: </a:t>
            </a:r>
            <a:r>
              <a:rPr lang="en-US" dirty="0">
                <a:highlight>
                  <a:srgbClr val="FFFF00"/>
                </a:highlight>
              </a:rPr>
              <a:t>CLASS ACTIVITIES- </a:t>
            </a:r>
            <a:r>
              <a:rPr lang="en-US" dirty="0">
                <a:solidFill>
                  <a:schemeClr val="accent3"/>
                </a:solidFill>
                <a:highlight>
                  <a:srgbClr val="00FF00"/>
                </a:highlight>
              </a:rPr>
              <a:t>SOLUTION</a:t>
            </a:r>
            <a:endParaRPr lang="en-US" sz="3200" dirty="0">
              <a:solidFill>
                <a:schemeClr val="accent3"/>
              </a:solidFill>
              <a:highlight>
                <a:srgbClr val="00FF0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AD3C90-D46D-4B9C-9024-720DB6A78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852" y="661744"/>
            <a:ext cx="9349483" cy="603242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java.io.*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WriteFile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 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)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try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FileWriter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file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FileWriter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"Tam.txt"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BufferedWriter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buffer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BufferedWriter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file 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"The wind blew as if it had blown its last"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buffer.newLine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"The rattling showers rose on its blast"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buffer.newLine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"The speedy gleams the darkness swallowed"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buffer.newLine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"Loud, deep and long the thunder bellowed"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buffer.newLine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"That night a child might understand"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buffer.newLine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"The devil had business on his hand."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buffer.close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IOException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e )       {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 write error has occurred."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  }     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34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011907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4000" dirty="0"/>
              <a:t>You</a:t>
            </a:r>
            <a:r>
              <a:rPr lang="en-US" sz="3200" dirty="0"/>
              <a:t> can call the </a:t>
            </a:r>
            <a:r>
              <a:rPr lang="en-US" sz="3200" b="1" dirty="0"/>
              <a:t>append() </a:t>
            </a:r>
            <a:r>
              <a:rPr lang="en-US" sz="3200" dirty="0"/>
              <a:t>method of the </a:t>
            </a:r>
            <a:r>
              <a:rPr lang="en-US" sz="3200" b="1" dirty="0" err="1"/>
              <a:t>BufferedWriter</a:t>
            </a:r>
            <a:r>
              <a:rPr lang="en-US" sz="3200" b="1" dirty="0"/>
              <a:t> </a:t>
            </a:r>
            <a:r>
              <a:rPr lang="en-US" sz="3200" dirty="0"/>
              <a:t>object to add text – rather than overwriting text with the </a:t>
            </a:r>
            <a:r>
              <a:rPr lang="en-US" sz="3200" b="1" dirty="0"/>
              <a:t>write() </a:t>
            </a:r>
            <a:r>
              <a:rPr lang="en-US" sz="3200" dirty="0"/>
              <a:t>method.</a:t>
            </a:r>
            <a:endParaRPr lang="en-US" sz="4000" dirty="0">
              <a:solidFill>
                <a:srgbClr val="3C3C3C"/>
              </a:solidFill>
              <a:latin typeface="Robo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Appending text.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3185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011907"/>
            <a:ext cx="11342669" cy="4525962"/>
          </a:xfrm>
        </p:spPr>
        <p:txBody>
          <a:bodyPr/>
          <a:lstStyle/>
          <a:p>
            <a:pPr marL="109537" indent="0">
              <a:spcBef>
                <a:spcPts val="1200"/>
              </a:spcBef>
              <a:buNone/>
            </a:pPr>
            <a:r>
              <a:rPr lang="en-US" sz="3000" dirty="0">
                <a:solidFill>
                  <a:srgbClr val="3C3C3C"/>
                </a:solidFill>
                <a:latin typeface="Roboto"/>
              </a:rPr>
              <a:t>Interfaces </a:t>
            </a:r>
            <a:r>
              <a:rPr lang="en-US" sz="3000" b="1" i="1" dirty="0">
                <a:solidFill>
                  <a:srgbClr val="3C3C3C"/>
                </a:solidFill>
                <a:latin typeface="Roboto"/>
              </a:rPr>
              <a:t>Path</a:t>
            </a:r>
            <a:r>
              <a:rPr lang="en-US" sz="3000" dirty="0">
                <a:solidFill>
                  <a:srgbClr val="3C3C3C"/>
                </a:solidFill>
                <a:latin typeface="Roboto"/>
              </a:rPr>
              <a:t> and </a:t>
            </a:r>
            <a:r>
              <a:rPr lang="en-US" sz="3000" b="1" i="1" dirty="0" err="1">
                <a:solidFill>
                  <a:srgbClr val="3C3C3C"/>
                </a:solidFill>
                <a:latin typeface="Roboto"/>
              </a:rPr>
              <a:t>DirectoryStream</a:t>
            </a:r>
            <a:r>
              <a:rPr lang="en-US" sz="3000" dirty="0">
                <a:solidFill>
                  <a:srgbClr val="3C3C3C"/>
                </a:solidFill>
                <a:latin typeface="Roboto"/>
              </a:rPr>
              <a:t> and classes </a:t>
            </a:r>
            <a:r>
              <a:rPr lang="en-US" sz="3000" b="1" i="1" dirty="0">
                <a:solidFill>
                  <a:srgbClr val="3C3C3C"/>
                </a:solidFill>
                <a:latin typeface="Roboto"/>
              </a:rPr>
              <a:t>Paths</a:t>
            </a:r>
            <a:r>
              <a:rPr lang="en-US" sz="3000" dirty="0">
                <a:solidFill>
                  <a:srgbClr val="3C3C3C"/>
                </a:solidFill>
                <a:latin typeface="Roboto"/>
              </a:rPr>
              <a:t> and </a:t>
            </a:r>
            <a:r>
              <a:rPr lang="en-US" sz="3000" b="1" i="1" dirty="0">
                <a:solidFill>
                  <a:srgbClr val="3C3C3C"/>
                </a:solidFill>
                <a:latin typeface="Roboto"/>
              </a:rPr>
              <a:t>Files</a:t>
            </a:r>
            <a:r>
              <a:rPr lang="en-US" sz="3000" dirty="0">
                <a:solidFill>
                  <a:srgbClr val="3C3C3C"/>
                </a:solidFill>
                <a:latin typeface="Roboto"/>
              </a:rPr>
              <a:t> (all from package </a:t>
            </a:r>
            <a:r>
              <a:rPr lang="en-US" sz="3000" b="1" i="1" dirty="0" err="1">
                <a:solidFill>
                  <a:srgbClr val="3C3C3C"/>
                </a:solidFill>
                <a:latin typeface="Roboto"/>
              </a:rPr>
              <a:t>java.nio.file</a:t>
            </a:r>
            <a:r>
              <a:rPr lang="en-US" sz="3000" dirty="0">
                <a:solidFill>
                  <a:srgbClr val="3C3C3C"/>
                </a:solidFill>
                <a:latin typeface="Roboto"/>
              </a:rPr>
              <a:t>) are also useful for retrieving information about files and directories on disk: </a:t>
            </a:r>
          </a:p>
          <a:p>
            <a:pPr lvl="1">
              <a:spcBef>
                <a:spcPts val="1200"/>
              </a:spcBef>
            </a:pPr>
            <a:r>
              <a:rPr lang="en-US" sz="2700" b="1" i="1" dirty="0">
                <a:solidFill>
                  <a:srgbClr val="3C3C3C"/>
                </a:solidFill>
                <a:latin typeface="Roboto"/>
              </a:rPr>
              <a:t>Path</a:t>
            </a:r>
            <a:r>
              <a:rPr lang="en-US" sz="2700" dirty="0">
                <a:solidFill>
                  <a:srgbClr val="3C3C3C"/>
                </a:solidFill>
                <a:latin typeface="Roboto"/>
              </a:rPr>
              <a:t> interface—Objects of classes that implement </a:t>
            </a:r>
            <a:r>
              <a:rPr lang="en-US" sz="2700" b="1" dirty="0">
                <a:solidFill>
                  <a:srgbClr val="3C3C3C"/>
                </a:solidFill>
                <a:latin typeface="Roboto"/>
              </a:rPr>
              <a:t>Path</a:t>
            </a:r>
            <a:r>
              <a:rPr lang="en-US" sz="2700" dirty="0">
                <a:solidFill>
                  <a:srgbClr val="3C3C3C"/>
                </a:solidFill>
                <a:latin typeface="Roboto"/>
              </a:rPr>
              <a:t> represent the location of a file or directory. </a:t>
            </a:r>
          </a:p>
          <a:p>
            <a:pPr lvl="1">
              <a:spcBef>
                <a:spcPts val="1200"/>
              </a:spcBef>
            </a:pPr>
            <a:r>
              <a:rPr lang="en-US" sz="2700" b="1" i="1" dirty="0">
                <a:solidFill>
                  <a:srgbClr val="3C3C3C"/>
                </a:solidFill>
                <a:latin typeface="Roboto"/>
              </a:rPr>
              <a:t>Path</a:t>
            </a:r>
            <a:r>
              <a:rPr lang="en-US" sz="2700" dirty="0">
                <a:solidFill>
                  <a:srgbClr val="3C3C3C"/>
                </a:solidFill>
                <a:latin typeface="Roboto"/>
              </a:rPr>
              <a:t> objects do not open files or provide any file-processing capabilities. </a:t>
            </a:r>
          </a:p>
          <a:p>
            <a:pPr lvl="1">
              <a:spcBef>
                <a:spcPts val="1200"/>
              </a:spcBef>
            </a:pPr>
            <a:r>
              <a:rPr lang="en-US" sz="2700" dirty="0">
                <a:solidFill>
                  <a:srgbClr val="3C3C3C"/>
                </a:solidFill>
                <a:latin typeface="Roboto"/>
              </a:rPr>
              <a:t>Class </a:t>
            </a:r>
            <a:r>
              <a:rPr lang="en-US" sz="2700" b="1" i="1" dirty="0">
                <a:solidFill>
                  <a:srgbClr val="3C3C3C"/>
                </a:solidFill>
                <a:latin typeface="Roboto"/>
              </a:rPr>
              <a:t>File</a:t>
            </a:r>
            <a:r>
              <a:rPr lang="en-US" sz="2700" dirty="0">
                <a:solidFill>
                  <a:srgbClr val="3C3C3C"/>
                </a:solidFill>
                <a:latin typeface="Roboto"/>
              </a:rPr>
              <a:t> (package </a:t>
            </a:r>
            <a:r>
              <a:rPr lang="en-US" sz="2700" b="1" i="1" dirty="0">
                <a:solidFill>
                  <a:srgbClr val="3C3C3C"/>
                </a:solidFill>
                <a:latin typeface="Roboto"/>
              </a:rPr>
              <a:t>java.io</a:t>
            </a:r>
            <a:r>
              <a:rPr lang="en-US" sz="2700" dirty="0">
                <a:solidFill>
                  <a:srgbClr val="3C3C3C"/>
                </a:solidFill>
                <a:latin typeface="Roboto"/>
              </a:rPr>
              <a:t>) also is used commonly for this purpose.</a:t>
            </a:r>
          </a:p>
          <a:p>
            <a:pPr lvl="1">
              <a:spcBef>
                <a:spcPts val="1200"/>
              </a:spcBef>
            </a:pPr>
            <a:r>
              <a:rPr lang="en-US" sz="2700" b="1" i="1" dirty="0">
                <a:solidFill>
                  <a:srgbClr val="3C3C3C"/>
                </a:solidFill>
                <a:latin typeface="Roboto"/>
              </a:rPr>
              <a:t>Paths</a:t>
            </a:r>
            <a:r>
              <a:rPr lang="en-US" sz="2700" dirty="0">
                <a:solidFill>
                  <a:srgbClr val="3C3C3C"/>
                </a:solidFill>
                <a:latin typeface="Roboto"/>
              </a:rPr>
              <a:t> class—Provides static methods used to get a Path object representing a file or directory location.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64191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effectLst/>
              </a:rPr>
              <a:t>Using NIO Classes and Interfaces to Get File and Directory Information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0078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1566712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b="1" i="1" dirty="0">
                <a:solidFill>
                  <a:srgbClr val="3C3C3C"/>
                </a:solidFill>
                <a:latin typeface="Roboto"/>
              </a:rPr>
              <a:t>Files</a:t>
            </a:r>
            <a:r>
              <a:rPr lang="en-US" dirty="0">
                <a:solidFill>
                  <a:srgbClr val="3C3C3C"/>
                </a:solidFill>
                <a:latin typeface="Roboto"/>
              </a:rPr>
              <a:t> class—Provides static methods for common file and directory manipulations, such as copying files; creating and deleting files and directories; getting information about files and directories; reading the contents of files; getting objects that allow you to manipulate the contents of files and directories; and more. </a:t>
            </a:r>
          </a:p>
          <a:p>
            <a:pPr>
              <a:spcBef>
                <a:spcPts val="1200"/>
              </a:spcBef>
            </a:pPr>
            <a:r>
              <a:rPr lang="en-US" b="1" i="1" dirty="0" err="1">
                <a:solidFill>
                  <a:srgbClr val="3C3C3C"/>
                </a:solidFill>
                <a:latin typeface="Roboto"/>
              </a:rPr>
              <a:t>DirectoryStream</a:t>
            </a:r>
            <a:r>
              <a:rPr lang="en-US" b="1" i="1" dirty="0">
                <a:solidFill>
                  <a:srgbClr val="3C3C3C"/>
                </a:solidFill>
                <a:latin typeface="Roboto"/>
              </a:rPr>
              <a:t> </a:t>
            </a:r>
            <a:r>
              <a:rPr lang="en-US" dirty="0">
                <a:solidFill>
                  <a:srgbClr val="3C3C3C"/>
                </a:solidFill>
                <a:latin typeface="Roboto"/>
              </a:rPr>
              <a:t>interface—Objects of classes that implement this interface enable a program to iterate through the contents of a directory.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39022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/>
              </a:rPr>
              <a:t>Using NIO Classes and Interfaces to Get File and Directory Information Cont.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78296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1166019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You’ll use class static method </a:t>
            </a:r>
            <a:r>
              <a:rPr lang="en-US" b="1" dirty="0"/>
              <a:t>get</a:t>
            </a:r>
            <a:r>
              <a:rPr lang="en-US" dirty="0"/>
              <a:t> of class </a:t>
            </a:r>
            <a:r>
              <a:rPr lang="en-US" b="1" i="1" dirty="0"/>
              <a:t>Paths</a:t>
            </a:r>
            <a:r>
              <a:rPr lang="en-US" dirty="0"/>
              <a:t> to convert a String representing a file’s or directory’s location into a </a:t>
            </a:r>
            <a:r>
              <a:rPr lang="en-US" b="1" dirty="0"/>
              <a:t>Path</a:t>
            </a:r>
            <a:r>
              <a:rPr lang="en-US" dirty="0"/>
              <a:t> object. </a:t>
            </a:r>
          </a:p>
          <a:p>
            <a:pPr>
              <a:spcBef>
                <a:spcPts val="1200"/>
              </a:spcBef>
            </a:pPr>
            <a:r>
              <a:rPr lang="en-US" dirty="0"/>
              <a:t>You can then use the methods of interface </a:t>
            </a:r>
            <a:r>
              <a:rPr lang="en-US" b="1" dirty="0"/>
              <a:t>Path </a:t>
            </a:r>
            <a:r>
              <a:rPr lang="en-US" dirty="0"/>
              <a:t>and class </a:t>
            </a:r>
            <a:r>
              <a:rPr lang="en-US" b="1" dirty="0"/>
              <a:t>Files</a:t>
            </a:r>
            <a:r>
              <a:rPr lang="en-US" dirty="0"/>
              <a:t> to determine information about the specified file or directory. </a:t>
            </a:r>
          </a:p>
          <a:p>
            <a:pPr>
              <a:spcBef>
                <a:spcPts val="1200"/>
              </a:spcBef>
            </a:pPr>
            <a:r>
              <a:rPr lang="en-US" dirty="0"/>
              <a:t>We discuss some of such methods momentarily. </a:t>
            </a:r>
          </a:p>
          <a:p>
            <a:pPr>
              <a:spcBef>
                <a:spcPts val="1200"/>
              </a:spcBef>
            </a:pPr>
            <a:r>
              <a:rPr lang="en-US" dirty="0"/>
              <a:t>For complete lists of their methods, visit:</a:t>
            </a:r>
          </a:p>
          <a:p>
            <a:pPr>
              <a:spcBef>
                <a:spcPts val="1200"/>
              </a:spcBef>
            </a:pPr>
            <a:r>
              <a:rPr lang="en-US" dirty="0">
                <a:hlinkClick r:id="rId2"/>
              </a:rPr>
              <a:t>http://docs.oracle.com/javase/8/docs/api/java/nio/file/Path.html</a:t>
            </a:r>
            <a:r>
              <a:rPr lang="en-US" dirty="0"/>
              <a:t>  </a:t>
            </a:r>
            <a:r>
              <a:rPr lang="en-US" dirty="0">
                <a:hlinkClick r:id="rId3"/>
              </a:rPr>
              <a:t>http://docs.oracle.com/javase/8/docs/api/java/nio/file/Files.html</a:t>
            </a: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39022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Creating Path Objects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39088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1166019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 file or directory’s path specifies its location on disk. </a:t>
            </a:r>
          </a:p>
          <a:p>
            <a:pPr>
              <a:spcBef>
                <a:spcPts val="1200"/>
              </a:spcBef>
            </a:pPr>
            <a:r>
              <a:rPr lang="en-US" dirty="0"/>
              <a:t>The path includes some or all of the directories leading to the file or directory.</a:t>
            </a:r>
          </a:p>
          <a:p>
            <a:pPr>
              <a:spcBef>
                <a:spcPts val="1200"/>
              </a:spcBef>
            </a:pPr>
            <a:r>
              <a:rPr lang="en-US" dirty="0"/>
              <a:t>An </a:t>
            </a:r>
            <a:r>
              <a:rPr lang="en-US" b="1" i="1" dirty="0"/>
              <a:t>absolute</a:t>
            </a:r>
            <a:r>
              <a:rPr lang="en-US" dirty="0"/>
              <a:t> path contains all directories, starting with the root directory, that lead to a specific file or directory. </a:t>
            </a:r>
          </a:p>
          <a:p>
            <a:pPr>
              <a:spcBef>
                <a:spcPts val="1200"/>
              </a:spcBef>
            </a:pPr>
            <a:r>
              <a:rPr lang="en-US" dirty="0"/>
              <a:t>Every file or directory on a particular disk drive has the same root directory in its </a:t>
            </a:r>
            <a:r>
              <a:rPr lang="en-US" b="1" dirty="0"/>
              <a:t>path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A </a:t>
            </a:r>
            <a:r>
              <a:rPr lang="en-US" b="1" i="1" dirty="0"/>
              <a:t>relative</a:t>
            </a:r>
            <a:r>
              <a:rPr lang="en-US" b="1" dirty="0"/>
              <a:t> </a:t>
            </a:r>
            <a:r>
              <a:rPr lang="en-US" dirty="0"/>
              <a:t>path is “relative” to another directory—for example, a path relative to the directory in which the application began executing.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39022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Absolute vs. Relative Paths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61055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796149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An overloaded version of </a:t>
            </a:r>
            <a:r>
              <a:rPr lang="en-US" b="1" i="1" dirty="0"/>
              <a:t>Files </a:t>
            </a:r>
            <a:r>
              <a:rPr lang="en-US" i="1" dirty="0"/>
              <a:t>static </a:t>
            </a:r>
            <a:r>
              <a:rPr lang="en-US" dirty="0"/>
              <a:t>method </a:t>
            </a:r>
            <a:r>
              <a:rPr lang="en-US" b="1" dirty="0"/>
              <a:t>get</a:t>
            </a:r>
            <a:r>
              <a:rPr lang="en-US" dirty="0"/>
              <a:t> uses a </a:t>
            </a:r>
            <a:r>
              <a:rPr lang="en-US" b="1" dirty="0"/>
              <a:t>URI</a:t>
            </a:r>
            <a:r>
              <a:rPr lang="en-US" dirty="0"/>
              <a:t> object to locate the file or directory. </a:t>
            </a:r>
          </a:p>
          <a:p>
            <a:pPr>
              <a:spcBef>
                <a:spcPts val="1200"/>
              </a:spcBef>
            </a:pPr>
            <a:r>
              <a:rPr lang="en-US" dirty="0"/>
              <a:t>A </a:t>
            </a:r>
            <a:r>
              <a:rPr lang="en-US" b="1" dirty="0"/>
              <a:t>Uniform Resource Identifier </a:t>
            </a:r>
            <a:r>
              <a:rPr lang="en-US" dirty="0"/>
              <a:t>(URI) is a more general form of the </a:t>
            </a:r>
            <a:r>
              <a:rPr lang="en-US" b="1" dirty="0"/>
              <a:t>Uniform Resource Locators </a:t>
            </a:r>
            <a:r>
              <a:rPr lang="en-US" dirty="0"/>
              <a:t>(URLs) that are used to locate websites. </a:t>
            </a:r>
          </a:p>
          <a:p>
            <a:pPr>
              <a:spcBef>
                <a:spcPts val="1200"/>
              </a:spcBef>
            </a:pPr>
            <a:r>
              <a:rPr lang="en-US" dirty="0"/>
              <a:t>For example, the URL </a:t>
            </a:r>
            <a:r>
              <a:rPr lang="en-US" i="1" dirty="0">
                <a:hlinkClick r:id="rId2"/>
              </a:rPr>
              <a:t>http://www.Liberty.edu</a:t>
            </a:r>
            <a:r>
              <a:rPr lang="en-US" dirty="0">
                <a:hlinkClick r:id="rId2"/>
              </a:rPr>
              <a:t>/</a:t>
            </a:r>
            <a:r>
              <a:rPr lang="en-US" dirty="0"/>
              <a:t>  is the URL for the Liberty University website. </a:t>
            </a:r>
          </a:p>
          <a:p>
            <a:pPr>
              <a:spcBef>
                <a:spcPts val="1200"/>
              </a:spcBef>
            </a:pPr>
            <a:r>
              <a:rPr lang="en-US" dirty="0"/>
              <a:t>URIs for locating files vary across operating systems. </a:t>
            </a:r>
          </a:p>
          <a:p>
            <a:pPr>
              <a:spcBef>
                <a:spcPts val="1200"/>
              </a:spcBef>
            </a:pPr>
            <a:r>
              <a:rPr lang="en-US" dirty="0"/>
              <a:t>On Windows platforms, the URI: </a:t>
            </a:r>
            <a:r>
              <a:rPr lang="en-US" dirty="0">
                <a:hlinkClick r:id="rId3" action="ppaction://hlinkfile"/>
              </a:rPr>
              <a:t>file://C:/data.txt</a:t>
            </a:r>
            <a:r>
              <a:rPr lang="en-US" dirty="0"/>
              <a:t>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identifies the file data.txt stored in the root directory of the C: drive.</a:t>
            </a:r>
          </a:p>
          <a:p>
            <a:pPr>
              <a:spcBef>
                <a:spcPts val="1200"/>
              </a:spcBef>
            </a:pPr>
            <a:r>
              <a:rPr lang="en-US" dirty="0"/>
              <a:t>On UNIX/Linux platforms, the URI: </a:t>
            </a:r>
            <a:r>
              <a:rPr lang="en-US" dirty="0">
                <a:solidFill>
                  <a:schemeClr val="accent3"/>
                </a:solidFill>
              </a:rPr>
              <a:t>file:/home/student/data.txt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identifies the file data.txt stored in the home directory of the user student.</a:t>
            </a:r>
            <a:endParaRPr lang="en-US" dirty="0">
              <a:solidFill>
                <a:schemeClr val="accent3"/>
              </a:solidFill>
            </a:endParaRPr>
          </a:p>
          <a:p>
            <a:pPr>
              <a:spcBef>
                <a:spcPts val="1200"/>
              </a:spcBef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Getting Path Objects from URIs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48955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796149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>
                <a:highlight>
                  <a:srgbClr val="FFFF00"/>
                </a:highlight>
              </a:rPr>
              <a:t>Figure 15.2 prompts the user to enter a file or directory name, then uses classes </a:t>
            </a:r>
            <a:r>
              <a:rPr lang="en-US" b="1" i="1" dirty="0">
                <a:highlight>
                  <a:srgbClr val="FFFF00"/>
                </a:highlight>
              </a:rPr>
              <a:t>Paths,</a:t>
            </a:r>
            <a:r>
              <a:rPr lang="en-US" i="1" dirty="0">
                <a:highlight>
                  <a:srgbClr val="FFFF00"/>
                </a:highlight>
              </a:rPr>
              <a:t> </a:t>
            </a:r>
            <a:r>
              <a:rPr lang="en-US" b="1" i="1" dirty="0">
                <a:highlight>
                  <a:srgbClr val="FFFF00"/>
                </a:highlight>
              </a:rPr>
              <a:t>Path</a:t>
            </a:r>
            <a:r>
              <a:rPr lang="en-US" i="1" dirty="0">
                <a:highlight>
                  <a:srgbClr val="FFFF00"/>
                </a:highlight>
              </a:rPr>
              <a:t>, </a:t>
            </a:r>
            <a:r>
              <a:rPr lang="en-US" b="1" i="1" dirty="0">
                <a:highlight>
                  <a:srgbClr val="FFFF00"/>
                </a:highlight>
              </a:rPr>
              <a:t>Files</a:t>
            </a:r>
            <a:r>
              <a:rPr lang="en-US" i="1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and </a:t>
            </a:r>
            <a:r>
              <a:rPr lang="en-US" b="1" i="1" dirty="0" err="1">
                <a:highlight>
                  <a:srgbClr val="FFFF00"/>
                </a:highlight>
              </a:rPr>
              <a:t>DirectoryStream</a:t>
            </a:r>
            <a:r>
              <a:rPr lang="en-US" dirty="0">
                <a:highlight>
                  <a:srgbClr val="FFFF00"/>
                </a:highlight>
              </a:rPr>
              <a:t> to output information about that file or directory.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effectLst/>
              </a:rPr>
              <a:t>Example: Getting File and Directory Information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2788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07">
            <a:extLst>
              <a:ext uri="{FF2B5EF4-FFF2-40B4-BE49-F238E27FC236}">
                <a16:creationId xmlns:a16="http://schemas.microsoft.com/office/drawing/2014/main" id="{F25034F3-A66E-4567-9EBF-21BB7DE8F9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15F197-00FF-4190-AE46-99BA142B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145029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08">
            <a:extLst>
              <a:ext uri="{FF2B5EF4-FFF2-40B4-BE49-F238E27FC236}">
                <a16:creationId xmlns:a16="http://schemas.microsoft.com/office/drawing/2014/main" id="{F4618685-644C-40D6-A96B-B68977446B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14952B-0DF5-49B8-95F4-653D11E4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2282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09">
            <a:extLst>
              <a:ext uri="{FF2B5EF4-FFF2-40B4-BE49-F238E27FC236}">
                <a16:creationId xmlns:a16="http://schemas.microsoft.com/office/drawing/2014/main" id="{BDAB58C0-C357-4A7A-97F8-39E58508C1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6324A2-F161-4A74-BABF-BD9B5A2A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C795A-B308-4C7E-8F4E-0199A386F661}"/>
              </a:ext>
            </a:extLst>
          </p:cNvPr>
          <p:cNvSpPr txBox="1"/>
          <p:nvPr/>
        </p:nvSpPr>
        <p:spPr>
          <a:xfrm>
            <a:off x="6556917" y="6404532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C:\Users\foderanti\OneDrive - Liberty University</a:t>
            </a:r>
          </a:p>
        </p:txBody>
      </p:sp>
    </p:spTree>
    <p:extLst>
      <p:ext uri="{BB962C8B-B14F-4D97-AF65-F5344CB8AC3E}">
        <p14:creationId xmlns:p14="http://schemas.microsoft.com/office/powerpoint/2010/main" val="2906794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0">
            <a:extLst>
              <a:ext uri="{FF2B5EF4-FFF2-40B4-BE49-F238E27FC236}">
                <a16:creationId xmlns:a16="http://schemas.microsoft.com/office/drawing/2014/main" id="{661EC84D-5F3B-45B5-B5D9-49A1A38B07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50"/>
            <a:ext cx="12192000" cy="643731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433937-4037-461D-8832-504DD8E9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8531D-4A66-45FC-9C57-D0C80B0E3FCD}"/>
              </a:ext>
            </a:extLst>
          </p:cNvPr>
          <p:cNvSpPr txBox="1"/>
          <p:nvPr/>
        </p:nvSpPr>
        <p:spPr>
          <a:xfrm>
            <a:off x="6556917" y="6404532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C:\Users\foderanti\OneDrive - Liberty University</a:t>
            </a:r>
          </a:p>
        </p:txBody>
      </p:sp>
    </p:spTree>
    <p:extLst>
      <p:ext uri="{BB962C8B-B14F-4D97-AF65-F5344CB8AC3E}">
        <p14:creationId xmlns:p14="http://schemas.microsoft.com/office/powerpoint/2010/main" val="7740334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1">
            <a:extLst>
              <a:ext uri="{FF2B5EF4-FFF2-40B4-BE49-F238E27FC236}">
                <a16:creationId xmlns:a16="http://schemas.microsoft.com/office/drawing/2014/main" id="{6FD69D74-ECCE-4D0C-8495-165302576E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525"/>
            <a:ext cx="12192000" cy="48053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74D9C-B44B-4BCB-9F81-A39870F8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ECC26-A270-47A7-876C-2F72F15DC31D}"/>
              </a:ext>
            </a:extLst>
          </p:cNvPr>
          <p:cNvSpPr txBox="1"/>
          <p:nvPr/>
        </p:nvSpPr>
        <p:spPr>
          <a:xfrm>
            <a:off x="6556917" y="6404532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C:\Users\foderanti\OneDrive - Liberty University</a:t>
            </a:r>
          </a:p>
        </p:txBody>
      </p:sp>
    </p:spTree>
    <p:extLst>
      <p:ext uri="{BB962C8B-B14F-4D97-AF65-F5344CB8AC3E}">
        <p14:creationId xmlns:p14="http://schemas.microsoft.com/office/powerpoint/2010/main" val="1850546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F5A500-2B06-4954-AB86-3627E5B5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CABE04-AC90-41F1-9C6A-730DF3485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011" y="47662"/>
            <a:ext cx="7549375" cy="68326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Fig. 15.2: FileAndDirectoryInfo.java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File class used to obtain file and directory information.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java.io.IOException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java.nio.file.DirectoryStream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java.nio.file.Files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java.nio.file.Path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java.nio.file.Paths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java.util.Scanner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FileAndDirectoryInfo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main(String[]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throws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IOException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{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Scanner input =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Scanner(System.in)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"Enter file or directory name:"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create Path object based on user input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Paths.get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input.nextLine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if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Files.exists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(path))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if path exists, output info about it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display file (or directory) information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n%s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exists%n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path.getFileName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"%s a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directory%n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Files.isDirectory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(path) ?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"Is"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"Is not"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"%s an absolute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path%n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path.isAbsolute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 ?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"Is"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"Is not"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"Last modified: %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Files.getLastModifiedTime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(path))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"Size: %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Files.size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(path))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"Path: %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"Absolute path: %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path.toAbsolutePath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if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Files.isDirectory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(path))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output directory listing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nDirectory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contents:%n"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object for iterating through a directory's contents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DirectoryStream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&lt;Path&gt;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directoryStream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Files.newDirectoryStream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for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(Path p :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directoryStream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(p)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}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not file or directory, output error message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"%s does not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exist%n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}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end class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FileAndDirectoryInfo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9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796149"/>
            <a:ext cx="1134266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program begins by prompting the user for a file or directory (line 14).</a:t>
            </a:r>
          </a:p>
          <a:p>
            <a:pPr>
              <a:spcBef>
                <a:spcPts val="1200"/>
              </a:spcBef>
            </a:pPr>
            <a:r>
              <a:rPr lang="en-US" dirty="0"/>
              <a:t>Line 17 inputs the filename or directory name and passes it to </a:t>
            </a:r>
            <a:r>
              <a:rPr lang="en-US" b="1" dirty="0"/>
              <a:t>Paths</a:t>
            </a:r>
            <a:r>
              <a:rPr lang="en-US" dirty="0"/>
              <a:t> static method </a:t>
            </a:r>
            <a:r>
              <a:rPr lang="en-US" b="1" dirty="0"/>
              <a:t>get</a:t>
            </a:r>
            <a:r>
              <a:rPr lang="en-US" dirty="0"/>
              <a:t>, which converts the </a:t>
            </a:r>
            <a:r>
              <a:rPr lang="en-US" b="1" dirty="0"/>
              <a:t>String</a:t>
            </a:r>
            <a:r>
              <a:rPr lang="en-US" dirty="0"/>
              <a:t> to a </a:t>
            </a:r>
            <a:r>
              <a:rPr lang="en-US" b="1" dirty="0"/>
              <a:t>Path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Line 19 invokes </a:t>
            </a:r>
            <a:r>
              <a:rPr lang="en-US" b="1" dirty="0"/>
              <a:t>Files</a:t>
            </a:r>
            <a:r>
              <a:rPr lang="en-US" dirty="0"/>
              <a:t> static method </a:t>
            </a:r>
            <a:r>
              <a:rPr lang="en-US" b="1" dirty="0"/>
              <a:t>exists</a:t>
            </a:r>
            <a:r>
              <a:rPr lang="en-US" dirty="0"/>
              <a:t>, which receives a Path and determines whether it </a:t>
            </a:r>
            <a:r>
              <a:rPr lang="en-US" b="1" dirty="0"/>
              <a:t>exists</a:t>
            </a:r>
            <a:r>
              <a:rPr lang="en-US" dirty="0"/>
              <a:t> (either as a file or as a directory) on disk. </a:t>
            </a:r>
          </a:p>
          <a:p>
            <a:pPr>
              <a:spcBef>
                <a:spcPts val="1200"/>
              </a:spcBef>
            </a:pPr>
            <a:r>
              <a:rPr lang="en-US" dirty="0"/>
              <a:t>If the name does not exist, control proceeds to line 45, which displays a message containing the Path’s String representation followed by </a:t>
            </a:r>
            <a:r>
              <a:rPr lang="en-US" b="1" dirty="0"/>
              <a:t>“does not exist.” </a:t>
            </a:r>
          </a:p>
          <a:p>
            <a:pPr>
              <a:spcBef>
                <a:spcPts val="1200"/>
              </a:spcBef>
            </a:pPr>
            <a:r>
              <a:rPr lang="en-US" dirty="0"/>
              <a:t>Otherwise, lines 21–42 execute the statements in it: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Example explained Cont.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42534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89" y="796149"/>
            <a:ext cx="11342669" cy="4525962"/>
          </a:xfrm>
        </p:spPr>
        <p:txBody>
          <a:bodyPr/>
          <a:lstStyle/>
          <a:p>
            <a:pPr marL="109537" indent="0">
              <a:spcBef>
                <a:spcPts val="1200"/>
              </a:spcBef>
              <a:buNone/>
            </a:pPr>
            <a:r>
              <a:rPr lang="en-US" dirty="0"/>
              <a:t>Otherwise, lines 21–42 execute the: </a:t>
            </a:r>
          </a:p>
          <a:p>
            <a:pPr>
              <a:spcBef>
                <a:spcPts val="1200"/>
              </a:spcBef>
            </a:pPr>
            <a:r>
              <a:rPr lang="en-US" b="1" dirty="0"/>
              <a:t>Path</a:t>
            </a:r>
            <a:r>
              <a:rPr lang="en-US" dirty="0"/>
              <a:t> method </a:t>
            </a:r>
            <a:r>
              <a:rPr lang="en-US" b="1" i="1" dirty="0" err="1"/>
              <a:t>getFileName</a:t>
            </a:r>
            <a:r>
              <a:rPr lang="en-US" dirty="0"/>
              <a:t> (line 21) gets the String name of the file or directory without any location information.</a:t>
            </a:r>
          </a:p>
          <a:p>
            <a:pPr>
              <a:spcBef>
                <a:spcPts val="1200"/>
              </a:spcBef>
            </a:pPr>
            <a:r>
              <a:rPr lang="en-US" dirty="0"/>
              <a:t>Files static method </a:t>
            </a:r>
            <a:r>
              <a:rPr lang="en-US" b="1" dirty="0" err="1"/>
              <a:t>isDirectory</a:t>
            </a:r>
            <a:r>
              <a:rPr lang="en-US" dirty="0"/>
              <a:t> (line 23) receives a Path and returns a </a:t>
            </a:r>
            <a:r>
              <a:rPr lang="en-US" dirty="0" err="1"/>
              <a:t>boolean</a:t>
            </a:r>
            <a:r>
              <a:rPr lang="en-US" dirty="0"/>
              <a:t> indicating whether that Path represents a directory on disk. </a:t>
            </a:r>
          </a:p>
          <a:p>
            <a:pPr>
              <a:spcBef>
                <a:spcPts val="1200"/>
              </a:spcBef>
            </a:pPr>
            <a:r>
              <a:rPr lang="en-US" dirty="0"/>
              <a:t>Path method </a:t>
            </a:r>
            <a:r>
              <a:rPr lang="en-US" b="1" dirty="0" err="1"/>
              <a:t>isAbsolute</a:t>
            </a:r>
            <a:r>
              <a:rPr lang="en-US" dirty="0"/>
              <a:t> (line 25) returns a </a:t>
            </a:r>
            <a:r>
              <a:rPr lang="en-US" dirty="0" err="1"/>
              <a:t>boolean</a:t>
            </a:r>
            <a:r>
              <a:rPr lang="en-US" dirty="0"/>
              <a:t> indicating whether that Path represents an absolute path to a file or directory. </a:t>
            </a:r>
          </a:p>
          <a:p>
            <a:pPr>
              <a:spcBef>
                <a:spcPts val="1200"/>
              </a:spcBef>
            </a:pPr>
            <a:r>
              <a:rPr lang="en-US" dirty="0"/>
              <a:t>Files static method </a:t>
            </a:r>
            <a:r>
              <a:rPr lang="en-US" b="1" dirty="0" err="1"/>
              <a:t>getLastModifiedTime</a:t>
            </a:r>
            <a:r>
              <a:rPr lang="en-US" dirty="0"/>
              <a:t> (line 27) receives a Path and returns a </a:t>
            </a:r>
            <a:r>
              <a:rPr lang="en-US" b="1" dirty="0" err="1"/>
              <a:t>FileTime</a:t>
            </a:r>
            <a:r>
              <a:rPr lang="en-US" dirty="0"/>
              <a:t> (package </a:t>
            </a:r>
            <a:r>
              <a:rPr lang="en-US" b="1" dirty="0" err="1"/>
              <a:t>java.nio.file.attribute</a:t>
            </a:r>
            <a:r>
              <a:rPr lang="en-US" dirty="0"/>
              <a:t>) indicating when the file was last modified. </a:t>
            </a:r>
          </a:p>
          <a:p>
            <a:pPr>
              <a:spcBef>
                <a:spcPts val="1200"/>
              </a:spcBef>
            </a:pPr>
            <a:r>
              <a:rPr lang="en-US" dirty="0"/>
              <a:t>The program outputs the </a:t>
            </a:r>
            <a:r>
              <a:rPr lang="en-US" b="1" dirty="0" err="1"/>
              <a:t>FileTime’s</a:t>
            </a:r>
            <a:r>
              <a:rPr lang="en-US" dirty="0"/>
              <a:t> default String representation.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Example explained Cont.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53106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3" y="796149"/>
            <a:ext cx="11536166" cy="4525962"/>
          </a:xfrm>
        </p:spPr>
        <p:txBody>
          <a:bodyPr/>
          <a:lstStyle/>
          <a:p>
            <a:pPr marL="109537" indent="0">
              <a:spcBef>
                <a:spcPts val="1200"/>
              </a:spcBef>
              <a:buNone/>
            </a:pPr>
            <a:r>
              <a:rPr lang="en-US" dirty="0"/>
              <a:t>Otherwise, lines 21–42 execute the (CONTINUED): </a:t>
            </a:r>
          </a:p>
          <a:p>
            <a:pPr>
              <a:spcBef>
                <a:spcPts val="1200"/>
              </a:spcBef>
            </a:pPr>
            <a:r>
              <a:rPr lang="en-US" dirty="0"/>
              <a:t>Files static method size (line 28) receives a </a:t>
            </a:r>
            <a:r>
              <a:rPr lang="en-US" b="1" dirty="0"/>
              <a:t>Path</a:t>
            </a:r>
            <a:r>
              <a:rPr lang="en-US" dirty="0"/>
              <a:t> and returns a long representing the number of bytes in the file or directory. </a:t>
            </a:r>
          </a:p>
          <a:p>
            <a:pPr>
              <a:spcBef>
                <a:spcPts val="1200"/>
              </a:spcBef>
            </a:pPr>
            <a:r>
              <a:rPr lang="en-US" dirty="0"/>
              <a:t>For directories, the value returned is platform specific. </a:t>
            </a:r>
          </a:p>
          <a:p>
            <a:pPr>
              <a:spcBef>
                <a:spcPts val="1200"/>
              </a:spcBef>
            </a:pPr>
            <a:r>
              <a:rPr lang="en-US" dirty="0"/>
              <a:t>Path method </a:t>
            </a:r>
            <a:r>
              <a:rPr lang="en-US" b="1" dirty="0" err="1"/>
              <a:t>toString</a:t>
            </a:r>
            <a:r>
              <a:rPr lang="en-US" dirty="0"/>
              <a:t> (called implicitly at line 29) returns a String representing the</a:t>
            </a:r>
            <a:r>
              <a:rPr lang="en-US" b="1" dirty="0"/>
              <a:t> Path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Path method </a:t>
            </a:r>
            <a:r>
              <a:rPr lang="en-US" b="1" dirty="0" err="1"/>
              <a:t>toAbsolutePath</a:t>
            </a:r>
            <a:r>
              <a:rPr lang="en-US" dirty="0"/>
              <a:t> (line 30) converts the Path on which it’s called to an absolute path.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Example explained </a:t>
            </a:r>
            <a:r>
              <a:rPr lang="en-US" dirty="0" err="1">
                <a:effectLst/>
              </a:rPr>
              <a:t>Cont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515633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3" y="796149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If the Path represents a directory (line 32), lines 36–37 use Files static method </a:t>
            </a:r>
            <a:r>
              <a:rPr lang="en-US" b="1" dirty="0" err="1"/>
              <a:t>newDirectoryStream</a:t>
            </a:r>
            <a:r>
              <a:rPr lang="en-US" dirty="0"/>
              <a:t> to get a </a:t>
            </a:r>
            <a:r>
              <a:rPr lang="en-US" b="1" dirty="0" err="1"/>
              <a:t>DirectoryStream</a:t>
            </a:r>
            <a:r>
              <a:rPr lang="en-US" dirty="0"/>
              <a:t> containing Path objects for the directory’s contents. </a:t>
            </a:r>
          </a:p>
          <a:p>
            <a:pPr>
              <a:spcBef>
                <a:spcPts val="1200"/>
              </a:spcBef>
            </a:pPr>
            <a:r>
              <a:rPr lang="en-US" dirty="0"/>
              <a:t>Lines 39–41 display the String representation of each </a:t>
            </a:r>
            <a:r>
              <a:rPr lang="en-US" b="1" dirty="0"/>
              <a:t>Path</a:t>
            </a:r>
            <a:r>
              <a:rPr lang="en-US" dirty="0"/>
              <a:t> in the </a:t>
            </a:r>
            <a:r>
              <a:rPr lang="en-US" b="1" dirty="0" err="1"/>
              <a:t>DirectoryStream</a:t>
            </a:r>
            <a:r>
              <a:rPr lang="en-US" dirty="0"/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Example explained </a:t>
            </a:r>
            <a:r>
              <a:rPr lang="en-US" dirty="0" err="1">
                <a:effectLst/>
              </a:rPr>
              <a:t>Cont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952015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2">
            <a:extLst>
              <a:ext uri="{FF2B5EF4-FFF2-40B4-BE49-F238E27FC236}">
                <a16:creationId xmlns:a16="http://schemas.microsoft.com/office/drawing/2014/main" id="{0A907203-F947-44AC-97B6-737B8F8202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88"/>
            <a:ext cx="12192000" cy="670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20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3" y="796149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 separator character is used to separate directories and files in a path. </a:t>
            </a:r>
          </a:p>
          <a:p>
            <a:pPr>
              <a:spcBef>
                <a:spcPts val="1200"/>
              </a:spcBef>
            </a:pPr>
            <a:r>
              <a:rPr lang="en-US" dirty="0"/>
              <a:t>On a Windows computer, the separator character is a backslash (\). </a:t>
            </a:r>
          </a:p>
          <a:p>
            <a:pPr>
              <a:spcBef>
                <a:spcPts val="1200"/>
              </a:spcBef>
            </a:pPr>
            <a:r>
              <a:rPr lang="en-US" dirty="0"/>
              <a:t>On a Linux or macOS system, it’s a forward slash (/). </a:t>
            </a:r>
          </a:p>
          <a:p>
            <a:pPr>
              <a:spcBef>
                <a:spcPts val="1200"/>
              </a:spcBef>
            </a:pPr>
            <a:r>
              <a:rPr lang="en-US" dirty="0"/>
              <a:t>Java processes both characters identically in a pathname. </a:t>
            </a:r>
          </a:p>
          <a:p>
            <a:pPr>
              <a:spcBef>
                <a:spcPts val="1200"/>
              </a:spcBef>
            </a:pPr>
            <a:r>
              <a:rPr lang="en-US" dirty="0"/>
              <a:t>For example, if we were to use the path: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c:\Program Files\Java\jdk1.6.0_11\demo/jfc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which employs each separator character, Java would still process the path properly.</a:t>
            </a:r>
            <a:endParaRPr lang="pt-BR" dirty="0"/>
          </a:p>
          <a:p>
            <a:pPr lvl="1">
              <a:spcBef>
                <a:spcPts val="1200"/>
              </a:spcBef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Separator Characters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84606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3">
            <a:extLst>
              <a:ext uri="{FF2B5EF4-FFF2-40B4-BE49-F238E27FC236}">
                <a16:creationId xmlns:a16="http://schemas.microsoft.com/office/drawing/2014/main" id="{E737E979-4247-41BC-969B-E2471339E9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6838"/>
            <a:ext cx="12192000" cy="412273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49F53A-AE84-4D04-BF40-5E587E2E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210017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4">
            <a:extLst>
              <a:ext uri="{FF2B5EF4-FFF2-40B4-BE49-F238E27FC236}">
                <a16:creationId xmlns:a16="http://schemas.microsoft.com/office/drawing/2014/main" id="{C08BDC53-15A2-4386-BAED-AA08E15AD4D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538"/>
            <a:ext cx="12192000" cy="38449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69731C-D645-4D6C-B5A5-5F96ED50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995025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660115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/>
              <a:t>The illustration in this section creates a simple sequential file that might be used in an accounts receivable system to keep track of the amounts owed to a company by its credit clients.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For each client, the program obtains from the user an </a:t>
            </a:r>
            <a:r>
              <a:rPr lang="en-US" sz="2400" b="1" dirty="0"/>
              <a:t>account number </a:t>
            </a:r>
            <a:r>
              <a:rPr lang="en-US" sz="2400" dirty="0"/>
              <a:t>and the </a:t>
            </a:r>
            <a:r>
              <a:rPr lang="en-US" sz="2400" b="1" dirty="0"/>
              <a:t>client’s name </a:t>
            </a:r>
            <a:r>
              <a:rPr lang="en-US" sz="2400" dirty="0"/>
              <a:t>and </a:t>
            </a:r>
            <a:r>
              <a:rPr lang="en-US" sz="2400" b="1" dirty="0"/>
              <a:t>balance</a:t>
            </a:r>
            <a:r>
              <a:rPr lang="en-US" sz="2400" dirty="0"/>
              <a:t> (i.e., the amount the client owes the company for goods and services received).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Each client’s data constitutes a “</a:t>
            </a:r>
            <a:r>
              <a:rPr lang="en-US" sz="2400" b="1" dirty="0"/>
              <a:t>record</a:t>
            </a:r>
            <a:r>
              <a:rPr lang="en-US" sz="2400" dirty="0"/>
              <a:t>” for that client.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This application uses the </a:t>
            </a:r>
            <a:r>
              <a:rPr lang="en-US" sz="2400" b="1" dirty="0"/>
              <a:t>account number </a:t>
            </a:r>
            <a:r>
              <a:rPr lang="en-US" sz="2400" dirty="0"/>
              <a:t>as the </a:t>
            </a:r>
            <a:r>
              <a:rPr lang="en-US" sz="2400" b="1" i="1" dirty="0"/>
              <a:t>record key</a:t>
            </a:r>
            <a:r>
              <a:rPr lang="en-US" sz="2400" dirty="0"/>
              <a:t>—the file’s records will be created and maintained in account-number order.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The program assumes that the user enters the records in account-number order.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In a comprehensive accounts receivable system (based on sequential files), a sorting capability would be provided so that the user could enter the records in any order.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The records would then be sorted and written to the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Creating a Sequential Text File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14690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1094099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Class </a:t>
            </a:r>
            <a:r>
              <a:rPr lang="en-US" b="1" dirty="0" err="1"/>
              <a:t>CreateTextFile</a:t>
            </a:r>
            <a:r>
              <a:rPr lang="en-US" dirty="0"/>
              <a:t> (Fig. 15.3) uses a </a:t>
            </a:r>
            <a:r>
              <a:rPr lang="en-US" b="1" dirty="0"/>
              <a:t>Formatter</a:t>
            </a:r>
            <a:r>
              <a:rPr lang="en-US" dirty="0"/>
              <a:t> to output formatted Strings, using the same formatting capabilities as method </a:t>
            </a:r>
            <a:r>
              <a:rPr lang="en-US" b="1" dirty="0" err="1"/>
              <a:t>System.out.printf</a:t>
            </a:r>
            <a:r>
              <a:rPr lang="en-US" b="1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A </a:t>
            </a:r>
            <a:r>
              <a:rPr lang="en-US" b="1" dirty="0"/>
              <a:t>Formatter</a:t>
            </a:r>
            <a:r>
              <a:rPr lang="en-US" dirty="0"/>
              <a:t> object can output to various locations, such as to a command window or to a file, as we do in this example.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/>
              <a:t>Formatter</a:t>
            </a:r>
            <a:r>
              <a:rPr lang="en-US" dirty="0"/>
              <a:t> object is instantiated in the </a:t>
            </a:r>
            <a:r>
              <a:rPr lang="en-US" b="1" i="1" dirty="0"/>
              <a:t>try</a:t>
            </a:r>
            <a:r>
              <a:rPr lang="en-US" dirty="0"/>
              <a:t>-with-resources statement (line 13)—</a:t>
            </a:r>
          </a:p>
          <a:p>
            <a:pPr>
              <a:spcBef>
                <a:spcPts val="1200"/>
              </a:spcBef>
            </a:pPr>
            <a:r>
              <a:rPr lang="en-US" b="1" i="1" dirty="0"/>
              <a:t>try</a:t>
            </a:r>
            <a:r>
              <a:rPr lang="en-US" dirty="0"/>
              <a:t>-with-resources will close its resource(s) when the try block terminates successfully or due to an exception.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/>
              </a:rPr>
              <a:t>Creating a Sequential Text File: </a:t>
            </a:r>
            <a:r>
              <a:rPr lang="en-US" sz="3200" b="0" dirty="0">
                <a:effectLst/>
                <a:highlight>
                  <a:srgbClr val="00FF00"/>
                </a:highlight>
              </a:rPr>
              <a:t>EXAMPLE:</a:t>
            </a:r>
            <a:r>
              <a:rPr lang="en-US" sz="3200" b="0" dirty="0">
                <a:effectLst/>
              </a:rPr>
              <a:t> Class </a:t>
            </a:r>
            <a:r>
              <a:rPr lang="en-US" sz="3200" i="1" dirty="0" err="1">
                <a:effectLst/>
              </a:rPr>
              <a:t>CreateTextFile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345910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3" y="796149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constructor we use here takes one argument—a String containing the name of the file, including its path. </a:t>
            </a:r>
          </a:p>
          <a:p>
            <a:pPr>
              <a:spcBef>
                <a:spcPts val="1200"/>
              </a:spcBef>
            </a:pPr>
            <a:r>
              <a:rPr lang="en-US" dirty="0"/>
              <a:t>If a path is not specified, as is the case here, the JVM assumes that the file is in the directory from which the program was executed. </a:t>
            </a:r>
          </a:p>
          <a:p>
            <a:pPr>
              <a:spcBef>
                <a:spcPts val="1200"/>
              </a:spcBef>
            </a:pPr>
            <a:r>
              <a:rPr lang="en-US" dirty="0"/>
              <a:t>For text files, we use the .</a:t>
            </a:r>
            <a:r>
              <a:rPr lang="en-US" b="1" dirty="0"/>
              <a:t>txt</a:t>
            </a:r>
            <a:r>
              <a:rPr lang="en-US" dirty="0"/>
              <a:t> file extension. </a:t>
            </a:r>
          </a:p>
          <a:p>
            <a:pPr>
              <a:spcBef>
                <a:spcPts val="1200"/>
              </a:spcBef>
            </a:pPr>
            <a:r>
              <a:rPr lang="en-US" dirty="0"/>
              <a:t>If the file does not exist, it will be created. </a:t>
            </a:r>
          </a:p>
          <a:p>
            <a:pPr>
              <a:spcBef>
                <a:spcPts val="1200"/>
              </a:spcBef>
            </a:pPr>
            <a:r>
              <a:rPr lang="en-US" dirty="0"/>
              <a:t>If an existing file is opened, its contents are truncated—all the data in the file is discarded. </a:t>
            </a:r>
          </a:p>
          <a:p>
            <a:pPr>
              <a:spcBef>
                <a:spcPts val="1200"/>
              </a:spcBef>
            </a:pPr>
            <a:r>
              <a:rPr lang="en-US" dirty="0"/>
              <a:t>If no exception occurs, the file is open for writing and the resulting Formatter object can be used to write data to the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/>
              </a:rPr>
              <a:t>Creating a Sequential Text File: </a:t>
            </a:r>
            <a:r>
              <a:rPr lang="en-US" sz="3200" b="0" dirty="0">
                <a:effectLst/>
                <a:highlight>
                  <a:srgbClr val="00FF00"/>
                </a:highlight>
              </a:rPr>
              <a:t>EXAMPLE:</a:t>
            </a:r>
            <a:r>
              <a:rPr lang="en-US" sz="3200" b="0" dirty="0">
                <a:effectLst/>
              </a:rPr>
              <a:t> Class </a:t>
            </a:r>
            <a:r>
              <a:rPr lang="en-US" sz="3200" i="1" dirty="0" err="1">
                <a:effectLst/>
              </a:rPr>
              <a:t>CreateTextFile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761578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5">
            <a:extLst>
              <a:ext uri="{FF2B5EF4-FFF2-40B4-BE49-F238E27FC236}">
                <a16:creationId xmlns:a16="http://schemas.microsoft.com/office/drawing/2014/main" id="{DE1CD409-354E-4663-9FAF-11C82651BF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7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6">
            <a:extLst>
              <a:ext uri="{FF2B5EF4-FFF2-40B4-BE49-F238E27FC236}">
                <a16:creationId xmlns:a16="http://schemas.microsoft.com/office/drawing/2014/main" id="{B1A75425-A28F-4F0E-9963-3A28001D2A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07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7">
            <a:extLst>
              <a:ext uri="{FF2B5EF4-FFF2-40B4-BE49-F238E27FC236}">
                <a16:creationId xmlns:a16="http://schemas.microsoft.com/office/drawing/2014/main" id="{A9D75394-44AD-4B17-A4FC-27EA58965B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147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53DED4F-BCD8-4D64-B786-707B0D61F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284" y="112605"/>
            <a:ext cx="7613150" cy="677108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Fig. 15.3: CreateTextFile.java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Writing data to a sequential text file with class Formatter.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java.io.FileNotFoundException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java.lang.SecurityException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java.util.Formatter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      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java.util.FormatterClosedException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java.util.NoSuchElementException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java.util.Scanner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        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CreateTextFile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main(String[]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Scanner input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Scanner(System.in)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s%n%s%n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? 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"Enter account number, first name, last name and balance."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"Enter end-of-file indicator to end input."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open clients.txt, output data to the file then close clients.txt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(Formatter output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Formatter(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"clients.txt"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input.hasNext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 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loop until end-of-file indicator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output new record to file; assumes valid input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output.format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"%d %s %s %.2f%n"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input.nextDouble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NoSuchElementException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elementException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System.err.println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"Invalid input. Please try again."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input.nextLine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discard input so user can try again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"? 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  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SecurityException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|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FileNotFoundException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|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FormatterClosedException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e)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e.printStackTrace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System.exit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terminate the program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 }    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2147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3" y="796149"/>
            <a:ext cx="11536166" cy="4525962"/>
          </a:xfrm>
        </p:spPr>
        <p:txBody>
          <a:bodyPr/>
          <a:lstStyle/>
          <a:p>
            <a:pPr marL="109537" indent="0">
              <a:spcBef>
                <a:spcPts val="1200"/>
              </a:spcBef>
              <a:buNone/>
            </a:pPr>
            <a:r>
              <a:rPr lang="en-US" dirty="0"/>
              <a:t>Lines 33–36 are a multi-catch which handles several exceptions: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 err="1"/>
              <a:t>SecurityException</a:t>
            </a:r>
            <a:r>
              <a:rPr lang="en-US" dirty="0"/>
              <a:t> that occurs if the user does not have permission to write data to the file opened in line 13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 err="1"/>
              <a:t>FileNotFoundException</a:t>
            </a:r>
            <a:r>
              <a:rPr lang="en-US" dirty="0"/>
              <a:t> that occurs if the file does not exist and a new file cannot be created, or if there’s an error opening the file in line 13, 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 err="1"/>
              <a:t>FormatterClosedException</a:t>
            </a:r>
            <a:r>
              <a:rPr lang="en-US" dirty="0"/>
              <a:t> that occurs if the Formatter object is closed when you attempt to use it in lines 22–23 to write into a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b="0" dirty="0">
                <a:effectLst/>
              </a:rPr>
              <a:t>Class </a:t>
            </a:r>
            <a:r>
              <a:rPr lang="en-US" sz="3200" i="1" dirty="0" err="1">
                <a:effectLst/>
              </a:rPr>
              <a:t>CreateTextFile</a:t>
            </a:r>
            <a:r>
              <a:rPr lang="en-US" sz="3200" dirty="0">
                <a:effectLst/>
              </a:rPr>
              <a:t>: </a:t>
            </a:r>
            <a:r>
              <a:rPr lang="en-US" sz="3200" b="0" dirty="0">
                <a:effectLst/>
                <a:highlight>
                  <a:srgbClr val="00FF00"/>
                </a:highlight>
              </a:rPr>
              <a:t>EXAMPLE:</a:t>
            </a:r>
            <a:r>
              <a:rPr lang="en-US" sz="3200" b="0" dirty="0">
                <a:effectLst/>
              </a:rPr>
              <a:t> </a:t>
            </a:r>
            <a:r>
              <a:rPr lang="en-US" sz="3200" b="0" dirty="0">
                <a:effectLst/>
                <a:highlight>
                  <a:srgbClr val="FFFF00"/>
                </a:highlight>
              </a:rPr>
              <a:t>Explained</a:t>
            </a:r>
            <a:endParaRPr 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53202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3" y="796149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Lines 15–17 prompt the user to enter the various fields for each record or the end-of-file key sequence when data entry is complete. </a:t>
            </a:r>
          </a:p>
          <a:p>
            <a:pPr>
              <a:spcBef>
                <a:spcPts val="1200"/>
              </a:spcBef>
            </a:pPr>
            <a:r>
              <a:rPr lang="en-US" dirty="0"/>
              <a:t>Figure 15.4 lists the key combinations for entering end-of-file for various computer systems’ command windows—</a:t>
            </a:r>
          </a:p>
          <a:p>
            <a:pPr>
              <a:spcBef>
                <a:spcPts val="1200"/>
              </a:spcBef>
            </a:pPr>
            <a:r>
              <a:rPr lang="en-US" dirty="0"/>
              <a:t>Some IDEs do not support these for console-based input (so you might have to execute the programs from command windows). </a:t>
            </a:r>
          </a:p>
          <a:p>
            <a:pPr>
              <a:spcBef>
                <a:spcPts val="1200"/>
              </a:spcBef>
            </a:pPr>
            <a:r>
              <a:rPr lang="en-US" dirty="0"/>
              <a:t>Line 19 uses </a:t>
            </a:r>
            <a:r>
              <a:rPr lang="en-US" b="1" dirty="0"/>
              <a:t>Scanner</a:t>
            </a:r>
            <a:r>
              <a:rPr lang="en-US" dirty="0"/>
              <a:t> method </a:t>
            </a:r>
            <a:r>
              <a:rPr lang="en-US" b="1" i="1" dirty="0" err="1"/>
              <a:t>hasNext</a:t>
            </a:r>
            <a:r>
              <a:rPr lang="en-US" dirty="0"/>
              <a:t> to determine whether the end-of-file key combination has been entered. </a:t>
            </a:r>
          </a:p>
          <a:p>
            <a:pPr>
              <a:spcBef>
                <a:spcPts val="1200"/>
              </a:spcBef>
            </a:pPr>
            <a:r>
              <a:rPr lang="en-US" dirty="0"/>
              <a:t>The loop executes until </a:t>
            </a:r>
            <a:r>
              <a:rPr lang="en-US" b="1" i="1" dirty="0" err="1"/>
              <a:t>hasNext</a:t>
            </a:r>
            <a:r>
              <a:rPr lang="en-US" b="1" i="1" dirty="0"/>
              <a:t> </a:t>
            </a:r>
            <a:r>
              <a:rPr lang="en-US" dirty="0"/>
              <a:t>encounters end-of-file.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b="0" dirty="0">
                <a:effectLst/>
                <a:highlight>
                  <a:srgbClr val="00FF00"/>
                </a:highlight>
              </a:rPr>
              <a:t>EXAMPLE:</a:t>
            </a:r>
            <a:r>
              <a:rPr lang="en-US" sz="3200" b="0" dirty="0">
                <a:effectLst/>
              </a:rPr>
              <a:t> Explained- </a:t>
            </a:r>
            <a:r>
              <a:rPr lang="en-US" b="0" dirty="0">
                <a:effectLst/>
              </a:rPr>
              <a:t>Writing Data to the File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506221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8">
            <a:extLst>
              <a:ext uri="{FF2B5EF4-FFF2-40B4-BE49-F238E27FC236}">
                <a16:creationId xmlns:a16="http://schemas.microsoft.com/office/drawing/2014/main" id="{27DBEC6F-5DA2-489A-AACE-A39FA4276D9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9438"/>
            <a:ext cx="12192000" cy="569753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BE04F8-D556-4735-B079-79C156F5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47094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575894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Lines 22–23 use a </a:t>
            </a:r>
            <a:r>
              <a:rPr lang="en-US" sz="2600" b="1" i="1" dirty="0"/>
              <a:t>Scanner</a:t>
            </a:r>
            <a:r>
              <a:rPr lang="en-US" sz="2600" dirty="0"/>
              <a:t> to read data from the user, then output the data as a record using the </a:t>
            </a:r>
            <a:r>
              <a:rPr lang="en-US" sz="2600" b="1" i="1" dirty="0"/>
              <a:t>Formatter.</a:t>
            </a:r>
            <a:r>
              <a:rPr lang="en-US" sz="2600" dirty="0"/>
              <a:t>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Each Scanner input method throws a </a:t>
            </a:r>
            <a:r>
              <a:rPr lang="en-US" sz="2600" b="1" dirty="0" err="1"/>
              <a:t>NoSuchElementException</a:t>
            </a:r>
            <a:r>
              <a:rPr lang="en-US" sz="2600" dirty="0"/>
              <a:t> (handled in lines 25–28) if the data is in the wrong format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If no exception occurs, the record’s information is output using method </a:t>
            </a:r>
            <a:r>
              <a:rPr lang="en-US" sz="2600" b="1" dirty="0"/>
              <a:t>format,</a:t>
            </a:r>
            <a:r>
              <a:rPr lang="en-US" sz="2600" dirty="0"/>
              <a:t> which can perform identical formatting to </a:t>
            </a:r>
            <a:r>
              <a:rPr lang="en-US" sz="2600" b="1" dirty="0" err="1"/>
              <a:t>System.out.printf</a:t>
            </a:r>
            <a:r>
              <a:rPr lang="en-US" sz="2600" dirty="0"/>
              <a:t>.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Method </a:t>
            </a:r>
            <a:r>
              <a:rPr lang="en-US" sz="2600" b="1" dirty="0"/>
              <a:t>format</a:t>
            </a:r>
            <a:r>
              <a:rPr lang="en-US" sz="2600" dirty="0"/>
              <a:t> writes a formatted String to the </a:t>
            </a:r>
            <a:r>
              <a:rPr lang="en-US" sz="2600" b="1" dirty="0"/>
              <a:t>Formatter</a:t>
            </a:r>
            <a:r>
              <a:rPr lang="en-US" sz="2600" dirty="0"/>
              <a:t> object’s </a:t>
            </a:r>
            <a:r>
              <a:rPr lang="en-US" sz="2600" b="1" dirty="0"/>
              <a:t>output</a:t>
            </a:r>
            <a:r>
              <a:rPr lang="en-US" sz="2600" dirty="0"/>
              <a:t> destination—the file </a:t>
            </a:r>
            <a:r>
              <a:rPr lang="en-US" sz="2600" b="1" dirty="0"/>
              <a:t>clients.txt</a:t>
            </a:r>
            <a:r>
              <a:rPr lang="en-US" sz="2600" dirty="0"/>
              <a:t>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The format string "%d %s %s %.2f%n“ indicates how the current record will be stored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The data in the text file can be viewed with a text editor or retrieved later by a program designed to read the file.</a:t>
            </a:r>
          </a:p>
          <a:p>
            <a:pPr lvl="1">
              <a:spcBef>
                <a:spcPts val="1200"/>
              </a:spcBef>
            </a:pPr>
            <a:r>
              <a:rPr lang="en-US" sz="2000" dirty="0"/>
              <a:t>More info here: </a:t>
            </a:r>
            <a:r>
              <a:rPr lang="en-US" sz="2000" dirty="0">
                <a:hlinkClick r:id="rId2"/>
              </a:rPr>
              <a:t>https://docs.oracle.com/javase/7/docs/api/java/util/Formatter.html</a:t>
            </a:r>
            <a:r>
              <a:rPr lang="en-US" sz="2000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107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3200" b="0" dirty="0">
                <a:effectLst/>
                <a:highlight>
                  <a:srgbClr val="00FF00"/>
                </a:highlight>
              </a:rPr>
              <a:t>EXAMPLE:</a:t>
            </a:r>
            <a:r>
              <a:rPr lang="en-US" sz="3200" b="0" dirty="0">
                <a:effectLst/>
              </a:rPr>
              <a:t> Explained- </a:t>
            </a:r>
            <a:r>
              <a:rPr lang="en-US" b="0" dirty="0">
                <a:effectLst/>
              </a:rPr>
              <a:t>Writing Data to the File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76697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19">
            <a:extLst>
              <a:ext uri="{FF2B5EF4-FFF2-40B4-BE49-F238E27FC236}">
                <a16:creationId xmlns:a16="http://schemas.microsoft.com/office/drawing/2014/main" id="{3F3C750C-59C5-430E-95F0-1D891F7510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0"/>
            <a:ext cx="11693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696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Data is stored in files so that it may be retrieved for processing when needed. </a:t>
            </a:r>
          </a:p>
          <a:p>
            <a:pPr>
              <a:spcBef>
                <a:spcPts val="1200"/>
              </a:spcBef>
            </a:pPr>
            <a:r>
              <a:rPr lang="en-US" dirty="0"/>
              <a:t>We had demonstrated how to create a file for sequential access. </a:t>
            </a:r>
          </a:p>
          <a:p>
            <a:pPr>
              <a:spcBef>
                <a:spcPts val="1200"/>
              </a:spcBef>
            </a:pPr>
            <a:r>
              <a:rPr lang="en-US" dirty="0"/>
              <a:t>This section shows how to read data sequentially from a text file. </a:t>
            </a:r>
          </a:p>
          <a:p>
            <a:pPr>
              <a:spcBef>
                <a:spcPts val="1200"/>
              </a:spcBef>
            </a:pPr>
            <a:r>
              <a:rPr lang="en-US" dirty="0"/>
              <a:t>We demonstrate how class </a:t>
            </a:r>
            <a:r>
              <a:rPr lang="en-US" b="1" dirty="0"/>
              <a:t>Scanner</a:t>
            </a:r>
            <a:r>
              <a:rPr lang="en-US" dirty="0"/>
              <a:t> can be used to input data from a file rather than the keyboard. </a:t>
            </a:r>
          </a:p>
          <a:p>
            <a:pPr>
              <a:spcBef>
                <a:spcPts val="1200"/>
              </a:spcBef>
            </a:pPr>
            <a:r>
              <a:rPr lang="en-US" dirty="0"/>
              <a:t>The application (Fig. 15.6) reads records from the file "clients.txt" created by the application of Fig. 15.3 and displays the record’s contents. </a:t>
            </a:r>
          </a:p>
          <a:p>
            <a:pPr>
              <a:spcBef>
                <a:spcPts val="1200"/>
              </a:spcBef>
            </a:pPr>
            <a:r>
              <a:rPr lang="en-US" dirty="0"/>
              <a:t>Line 14 creates the Scanner that will be used to retrieve input from the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effectLst/>
              </a:rPr>
              <a:t>Reading Data from a Sequential Text File</a:t>
            </a:r>
          </a:p>
        </p:txBody>
      </p:sp>
    </p:spTree>
    <p:extLst>
      <p:ext uri="{BB962C8B-B14F-4D97-AF65-F5344CB8AC3E}">
        <p14:creationId xmlns:p14="http://schemas.microsoft.com/office/powerpoint/2010/main" val="14009178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20">
            <a:extLst>
              <a:ext uri="{FF2B5EF4-FFF2-40B4-BE49-F238E27FC236}">
                <a16:creationId xmlns:a16="http://schemas.microsoft.com/office/drawing/2014/main" id="{18FFFA5C-14E5-4945-A89C-562F585121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785D82-7C5A-4410-9021-66D3E4F6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0601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21">
            <a:extLst>
              <a:ext uri="{FF2B5EF4-FFF2-40B4-BE49-F238E27FC236}">
                <a16:creationId xmlns:a16="http://schemas.microsoft.com/office/drawing/2014/main" id="{165151B7-CAF6-4AF0-B7CA-B8D0C68EEF9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8" y="0"/>
            <a:ext cx="10677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043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E5F9B2-EE53-40DD-BC5B-23A2659E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544E0D-B7F4-4CC4-B7B8-6103748E8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946" y="343437"/>
            <a:ext cx="8445358" cy="6247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Fig. 15.6: ReadTextFile.java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This program reads a text file and displays each record.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java.io.IOException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java.lang.IllegalStateException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java.nio.file.Files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java.nio.file.Path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java.nio.file.Paths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java.util.NoSuchElementException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java.util.Scanner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ReadTextFile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main(String[]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open clients.txt, read its contents and close the file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(Scanner input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Scanner(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Paths.get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"clients.txt"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"%-10s%-12s%-12s%10s%n"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"Account"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"First Name"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"Last Name"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"Balance"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read record from file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input.hasNext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 {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while there is more to read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   // display record contents                   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"%-10d%-12s%-12s%10.2f%n"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input.nextDouble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       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       }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IOException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|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NoSuchElementException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|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IllegalStateException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e)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e.printStackTrace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}  }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856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01" y="906890"/>
            <a:ext cx="1176219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Java provides a mechanism, called </a:t>
            </a:r>
            <a:r>
              <a:rPr lang="en-US" b="1" dirty="0"/>
              <a:t>object serialization </a:t>
            </a:r>
          </a:p>
          <a:p>
            <a:pPr>
              <a:spcBef>
                <a:spcPts val="1200"/>
              </a:spcBef>
            </a:pPr>
            <a:r>
              <a:rPr lang="en-US" dirty="0"/>
              <a:t>It enables an </a:t>
            </a:r>
            <a:r>
              <a:rPr lang="en-US" b="1" dirty="0"/>
              <a:t>object</a:t>
            </a:r>
            <a:r>
              <a:rPr lang="en-US" dirty="0"/>
              <a:t> to be represented as a sequence of bytes that includes the object's data as well as information about the object's type and the types of data stored in the object. </a:t>
            </a:r>
          </a:p>
          <a:p>
            <a:pPr>
              <a:spcBef>
                <a:spcPts val="1200"/>
              </a:spcBef>
            </a:pPr>
            <a:r>
              <a:rPr lang="en-US" dirty="0"/>
              <a:t>After a </a:t>
            </a:r>
            <a:r>
              <a:rPr lang="en-US" b="1" dirty="0"/>
              <a:t>serialized object </a:t>
            </a:r>
            <a:r>
              <a:rPr lang="en-US" dirty="0"/>
              <a:t>has been written into a file, it can be read from the file and deserialized </a:t>
            </a:r>
          </a:p>
          <a:p>
            <a:pPr>
              <a:spcBef>
                <a:spcPts val="1200"/>
              </a:spcBef>
            </a:pPr>
            <a:r>
              <a:rPr lang="en-US" dirty="0"/>
              <a:t>That is, the type information and bytes that represent the object and its data can be used to recreate the object in memory.</a:t>
            </a:r>
          </a:p>
          <a:p>
            <a:pPr>
              <a:spcBef>
                <a:spcPts val="1200"/>
              </a:spcBef>
            </a:pPr>
            <a:endParaRPr lang="en-US" sz="2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821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Java - Serialization</a:t>
            </a:r>
          </a:p>
        </p:txBody>
      </p:sp>
    </p:spTree>
    <p:extLst>
      <p:ext uri="{BB962C8B-B14F-4D97-AF65-F5344CB8AC3E}">
        <p14:creationId xmlns:p14="http://schemas.microsoft.com/office/powerpoint/2010/main" val="35591310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01" y="884588"/>
            <a:ext cx="1176219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/>
              <a:t>To </a:t>
            </a:r>
            <a:r>
              <a:rPr lang="en-US" sz="2800" b="1" dirty="0"/>
              <a:t>serialize</a:t>
            </a:r>
            <a:r>
              <a:rPr lang="en-US" sz="2800" dirty="0"/>
              <a:t> an object means to convert its state to a byte stream so that the byte stream can be reverted back into a copy of the object.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A Java object is serializable if its class or any of its </a:t>
            </a:r>
            <a:r>
              <a:rPr lang="en-US" sz="2800" dirty="0" err="1"/>
              <a:t>superclasses</a:t>
            </a:r>
            <a:r>
              <a:rPr lang="en-US" sz="2800" dirty="0"/>
              <a:t> implements either the </a:t>
            </a:r>
            <a:r>
              <a:rPr lang="en-US" sz="2800" b="1" dirty="0" err="1"/>
              <a:t>java.io.Serializable</a:t>
            </a:r>
            <a:r>
              <a:rPr lang="en-US" sz="2800" b="1" dirty="0"/>
              <a:t> </a:t>
            </a:r>
            <a:r>
              <a:rPr lang="en-US" sz="2800" dirty="0"/>
              <a:t>interface or its </a:t>
            </a:r>
            <a:r>
              <a:rPr lang="en-US" sz="2800" dirty="0" err="1"/>
              <a:t>subinterface</a:t>
            </a:r>
            <a:r>
              <a:rPr lang="en-US" sz="2800" dirty="0"/>
              <a:t>, </a:t>
            </a:r>
            <a:r>
              <a:rPr lang="en-US" sz="2800" b="1" dirty="0" err="1"/>
              <a:t>java.io.Externalizable</a:t>
            </a:r>
            <a:r>
              <a:rPr lang="en-US" sz="2800" dirty="0"/>
              <a:t>. </a:t>
            </a:r>
          </a:p>
          <a:p>
            <a:pPr>
              <a:spcBef>
                <a:spcPts val="1200"/>
              </a:spcBef>
            </a:pPr>
            <a:r>
              <a:rPr lang="en-US" sz="2800" b="1" dirty="0"/>
              <a:t>Deserialization</a:t>
            </a:r>
            <a:r>
              <a:rPr lang="en-US" sz="2800" dirty="0"/>
              <a:t> is the process of converting the serialized form of an object back into a copy of the object.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The Java platform specifies a default way by which serializable objects are serialized.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821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Java – Serialization Cont.</a:t>
            </a:r>
          </a:p>
        </p:txBody>
      </p:sp>
    </p:spTree>
    <p:extLst>
      <p:ext uri="{BB962C8B-B14F-4D97-AF65-F5344CB8AC3E}">
        <p14:creationId xmlns:p14="http://schemas.microsoft.com/office/powerpoint/2010/main" val="35608660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61" y="873436"/>
            <a:ext cx="11337763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/>
              <a:t>When an object is serialized, information that identifies its </a:t>
            </a:r>
            <a:r>
              <a:rPr lang="en-US" sz="2800" b="1" dirty="0"/>
              <a:t>class</a:t>
            </a:r>
            <a:r>
              <a:rPr lang="en-US" sz="2800" dirty="0"/>
              <a:t> is recorded in the serialized stream.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However, the class's definition ("class file") itself is not recorded.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It is the responsibility of the system that is deserializing the object to determine how to locate and load the necessary class files.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For example, a Java application might include in its </a:t>
            </a:r>
            <a:r>
              <a:rPr lang="en-US" sz="2800" dirty="0" err="1"/>
              <a:t>classpath</a:t>
            </a:r>
            <a:r>
              <a:rPr lang="en-US" sz="2800" dirty="0"/>
              <a:t> a JAR file that contains the class files of the serialized object(s) or load the class definitions by using information stored in the directory.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821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Java - Serialization</a:t>
            </a:r>
          </a:p>
        </p:txBody>
      </p:sp>
    </p:spTree>
    <p:extLst>
      <p:ext uri="{BB962C8B-B14F-4D97-AF65-F5344CB8AC3E}">
        <p14:creationId xmlns:p14="http://schemas.microsoft.com/office/powerpoint/2010/main" val="30544022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7294"/>
            <a:ext cx="1167486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Most impressive is that the entire process is </a:t>
            </a:r>
            <a:r>
              <a:rPr lang="en-US" b="1" dirty="0"/>
              <a:t>JVM independent</a:t>
            </a:r>
            <a:r>
              <a:rPr lang="en-US" dirty="0"/>
              <a:t>, </a:t>
            </a:r>
          </a:p>
          <a:p>
            <a:pPr>
              <a:spcBef>
                <a:spcPts val="1200"/>
              </a:spcBef>
            </a:pPr>
            <a:r>
              <a:rPr lang="en-US" dirty="0"/>
              <a:t>Meaning an object can be serialized on one platform and deserialized on an entirely different platform.</a:t>
            </a:r>
          </a:p>
          <a:p>
            <a:pPr>
              <a:spcBef>
                <a:spcPts val="1200"/>
              </a:spcBef>
            </a:pPr>
            <a:r>
              <a:rPr lang="en-US" dirty="0"/>
              <a:t>Classes </a:t>
            </a:r>
            <a:r>
              <a:rPr lang="en-US" b="1" dirty="0" err="1"/>
              <a:t>ObjectInputStream</a:t>
            </a:r>
            <a:r>
              <a:rPr lang="en-US" dirty="0"/>
              <a:t> and </a:t>
            </a:r>
            <a:r>
              <a:rPr lang="en-US" b="1" dirty="0" err="1"/>
              <a:t>ObjectOutputStream</a:t>
            </a:r>
            <a:r>
              <a:rPr lang="en-US" dirty="0"/>
              <a:t> are high-level streams that contain the methods for serializing and deserializing an object.</a:t>
            </a:r>
          </a:p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 err="1"/>
              <a:t>ObjectOutputStream</a:t>
            </a:r>
            <a:r>
              <a:rPr lang="en-US" dirty="0"/>
              <a:t> class contains many write methods for writing various data types, but one method in particular stands out −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The above method serializes an </a:t>
            </a:r>
            <a:r>
              <a:rPr lang="en-US" b="1" dirty="0"/>
              <a:t>Object</a:t>
            </a:r>
            <a:r>
              <a:rPr lang="en-US" dirty="0"/>
              <a:t> and sends it to the output stream. </a:t>
            </a:r>
          </a:p>
          <a:p>
            <a:pPr>
              <a:spcBef>
                <a:spcPts val="1200"/>
              </a:spcBef>
            </a:pPr>
            <a:r>
              <a:rPr lang="en-US" dirty="0"/>
              <a:t>The </a:t>
            </a:r>
            <a:r>
              <a:rPr lang="en-US" b="1" dirty="0" err="1"/>
              <a:t>writeObject</a:t>
            </a:r>
            <a:r>
              <a:rPr lang="en-US" dirty="0"/>
              <a:t> method is responsible for writing the state of the object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so that the corresponding </a:t>
            </a:r>
            <a:r>
              <a:rPr lang="en-US" b="1" dirty="0" err="1"/>
              <a:t>readObject</a:t>
            </a:r>
            <a:r>
              <a:rPr lang="en-US" dirty="0"/>
              <a:t> method can restore it.</a:t>
            </a:r>
            <a:endParaRPr lang="en-US" sz="17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821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Java - Serialization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E04C278-7E46-440B-9F22-B03A49E1F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71" y="4013390"/>
            <a:ext cx="11936857" cy="49244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 final void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writeObject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(Object x) throws </a:t>
            </a: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80375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" y="793874"/>
            <a:ext cx="11896618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Similarly, the </a:t>
            </a:r>
            <a:r>
              <a:rPr lang="en-US" b="1" dirty="0" err="1"/>
              <a:t>ObjectInputStream</a:t>
            </a:r>
            <a:r>
              <a:rPr lang="en-US" dirty="0"/>
              <a:t> class contains the following method for deserializing an object −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This method retrieves the next Object out of the stream and deserializes it.</a:t>
            </a:r>
          </a:p>
          <a:p>
            <a:pPr>
              <a:spcBef>
                <a:spcPts val="1200"/>
              </a:spcBef>
            </a:pPr>
            <a:r>
              <a:rPr lang="en-US" dirty="0"/>
              <a:t>Return value is </a:t>
            </a:r>
            <a:r>
              <a:rPr lang="en-US" b="1" dirty="0"/>
              <a:t>Object, </a:t>
            </a:r>
            <a:r>
              <a:rPr lang="en-US" dirty="0"/>
              <a:t>so you will need to cast it to its appropriate data type.</a:t>
            </a:r>
          </a:p>
          <a:p>
            <a:pPr>
              <a:spcBef>
                <a:spcPts val="1200"/>
              </a:spcBef>
            </a:pPr>
            <a:r>
              <a:rPr lang="en-US" dirty="0"/>
              <a:t>To demonstrate how serialization works in Java, let us use Employee class that we discussed early. </a:t>
            </a:r>
          </a:p>
          <a:p>
            <a:pPr>
              <a:spcBef>
                <a:spcPts val="1200"/>
              </a:spcBef>
            </a:pPr>
            <a:r>
              <a:rPr lang="en-US" dirty="0"/>
              <a:t>Suppose that we have the following </a:t>
            </a:r>
            <a:r>
              <a:rPr lang="en-US" b="1" dirty="0"/>
              <a:t>Employee clas</a:t>
            </a:r>
            <a:r>
              <a:rPr lang="en-US" dirty="0"/>
              <a:t>s, which implements the Serializable interface −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sz="2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821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Java - Serialization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EC0D96-9C0C-4CCA-AAD0-E87275AB8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04" y="1826928"/>
            <a:ext cx="11762196" cy="954107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final Object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readObject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throws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ClassNotFoundException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0121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C7ACBA6-09D5-4BA7-B637-016B90A7F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17" y="710004"/>
            <a:ext cx="11648766" cy="501675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Employee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implements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java.io.Serializable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String 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String address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public transient int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SSN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public int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public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mailCheck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"Mailing a check to "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name +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 "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address)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348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01" y="906890"/>
            <a:ext cx="1176219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 err="1"/>
              <a:t>ObjectOutputStream</a:t>
            </a:r>
            <a:r>
              <a:rPr lang="en-US" dirty="0"/>
              <a:t> class is used to serialize an Object. </a:t>
            </a:r>
          </a:p>
          <a:p>
            <a:pPr>
              <a:spcBef>
                <a:spcPts val="1200"/>
              </a:spcBef>
            </a:pPr>
            <a:r>
              <a:rPr lang="en-US" dirty="0"/>
              <a:t>The following </a:t>
            </a:r>
            <a:r>
              <a:rPr lang="en-US" b="1" dirty="0" err="1"/>
              <a:t>SerializeDemo</a:t>
            </a:r>
            <a:r>
              <a:rPr lang="en-US" dirty="0"/>
              <a:t> program instantiates an Employee object and serializes it to a file.</a:t>
            </a:r>
          </a:p>
          <a:p>
            <a:pPr>
              <a:spcBef>
                <a:spcPts val="1200"/>
              </a:spcBef>
            </a:pPr>
            <a:r>
              <a:rPr lang="en-US" dirty="0"/>
              <a:t>When the program is done executing, a file named </a:t>
            </a:r>
            <a:r>
              <a:rPr lang="en-US" b="1" dirty="0" err="1"/>
              <a:t>employee.ser</a:t>
            </a:r>
            <a:r>
              <a:rPr lang="en-US" b="1" dirty="0"/>
              <a:t> </a:t>
            </a:r>
            <a:r>
              <a:rPr lang="en-US" dirty="0"/>
              <a:t>is created.</a:t>
            </a:r>
          </a:p>
          <a:p>
            <a:pPr>
              <a:spcBef>
                <a:spcPts val="1200"/>
              </a:spcBef>
            </a:pPr>
            <a:r>
              <a:rPr lang="en-US" dirty="0">
                <a:highlight>
                  <a:srgbClr val="00FF00"/>
                </a:highlight>
              </a:rPr>
              <a:t>The program does not generate any output, but study the code and try to determine what the program is doing.</a:t>
            </a:r>
          </a:p>
          <a:p>
            <a:pPr>
              <a:spcBef>
                <a:spcPts val="1200"/>
              </a:spcBef>
            </a:pPr>
            <a:r>
              <a:rPr lang="en-US" b="1" dirty="0"/>
              <a:t>Note</a:t>
            </a:r>
            <a:r>
              <a:rPr lang="en-US" dirty="0"/>
              <a:t> − When serializing an object to a file, the standard convention in Java is to give the file a </a:t>
            </a:r>
            <a:r>
              <a:rPr lang="en-US" b="1" dirty="0"/>
              <a:t>.ser</a:t>
            </a:r>
            <a:r>
              <a:rPr lang="en-US" dirty="0"/>
              <a:t> extension.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632" y="0"/>
            <a:ext cx="11856378" cy="783600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Serializing an Object</a:t>
            </a:r>
          </a:p>
        </p:txBody>
      </p:sp>
    </p:spTree>
    <p:extLst>
      <p:ext uri="{BB962C8B-B14F-4D97-AF65-F5344CB8AC3E}">
        <p14:creationId xmlns:p14="http://schemas.microsoft.com/office/powerpoint/2010/main" val="29789333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180096-4D51-46E1-9C6F-240DE99A5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44" y="249000"/>
            <a:ext cx="7848046" cy="59400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SerializeDemo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main(String []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Employee e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Employee()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e.name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Reyan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Ali"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e.address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Phokka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Kuan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Ambehta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Peer"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e.SSN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11122333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try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FileOutputStream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FileOutputStream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tmp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employee.ser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ObjectOutputStream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out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ObjectOutputStream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out.writeObject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out.close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fileOut.close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"Serialized data is saved in 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tmp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employee.ser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IOException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i.printStackTrace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     }  }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4705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01" y="906890"/>
            <a:ext cx="1176219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following </a:t>
            </a:r>
            <a:r>
              <a:rPr lang="en-US" dirty="0" err="1"/>
              <a:t>DeserializeDemo</a:t>
            </a:r>
            <a:r>
              <a:rPr lang="en-US" dirty="0"/>
              <a:t> program deserializes the Employee object created in the </a:t>
            </a:r>
            <a:r>
              <a:rPr lang="en-US" dirty="0" err="1"/>
              <a:t>SerializeDemo</a:t>
            </a:r>
            <a:r>
              <a:rPr lang="en-US" dirty="0"/>
              <a:t> program. </a:t>
            </a:r>
          </a:p>
          <a:p>
            <a:pPr>
              <a:spcBef>
                <a:spcPts val="1200"/>
              </a:spcBef>
            </a:pPr>
            <a:r>
              <a:rPr lang="en-US" dirty="0"/>
              <a:t>Study the program and try to determine its output −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632" y="0"/>
            <a:ext cx="11856378" cy="783600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Deserializing an Object</a:t>
            </a:r>
          </a:p>
        </p:txBody>
      </p:sp>
    </p:spTree>
    <p:extLst>
      <p:ext uri="{BB962C8B-B14F-4D97-AF65-F5344CB8AC3E}">
        <p14:creationId xmlns:p14="http://schemas.microsoft.com/office/powerpoint/2010/main" val="40030387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F22A665-0C4B-45ED-8569-ABF57D043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093" y="428177"/>
            <a:ext cx="6429068" cy="600164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java.io.*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DeserializeDemo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main(String 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Employee e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null;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try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FileInputStream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FileInputStream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tmp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employee.ser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ObjectInputStream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in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ObjectInputStream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 = (Employee)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in.readObject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in.close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fileIn.close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IOException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i.printStackTrace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return;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ClassNotFoundException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c)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"Employee class not found"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c.printStackTrace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return;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"Deserialized Employee..."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"Name: "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e.name)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"Address: "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e.address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"SSN: "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e.SSN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"Number: "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e.number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  }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8813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DBAAF4-B79C-427A-B211-1F079AC1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ffectLst/>
              </a:rPr>
              <a:t>This will produce the following result −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7AADC-D0E5-4035-8917-C02E7BD9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98D949-9BAB-47C4-9035-DDD2258CB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307" y="2395034"/>
            <a:ext cx="8229600" cy="286232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Deserialized Employee...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Name: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Reyan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Ali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Address:Phokka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Kuan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Ambehta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Peer SSN: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Number:101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129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61" y="691133"/>
            <a:ext cx="11762197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500" dirty="0"/>
              <a:t>In the last lecture, we demonstrated how to write the individual fields of a record into a file as text, and how to read those fields from a file.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Sometimes we want to write an entire object to or read an entire object from a file. </a:t>
            </a:r>
          </a:p>
          <a:p>
            <a:pPr>
              <a:spcBef>
                <a:spcPts val="1200"/>
              </a:spcBef>
            </a:pPr>
            <a:r>
              <a:rPr lang="en-US" sz="2500" dirty="0">
                <a:highlight>
                  <a:srgbClr val="00FF00"/>
                </a:highlight>
              </a:rPr>
              <a:t>XML is another format commonly used to represent objects.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We could manipulate objects using </a:t>
            </a:r>
            <a:r>
              <a:rPr lang="en-US" sz="2500" b="1" dirty="0"/>
              <a:t>JAXB</a:t>
            </a:r>
            <a:r>
              <a:rPr lang="en-US" sz="2500" dirty="0"/>
              <a:t> (Java Architecture for XML Binding).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JAXB enables you to perform XML serialization—which JAXB refers to as marshaling.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A serialized object is represented by XML that includes the object’s data.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After a serialized object has been written into a file, it can be read from the file and deserialized—</a:t>
            </a:r>
          </a:p>
          <a:p>
            <a:pPr lvl="1">
              <a:spcBef>
                <a:spcPts val="1200"/>
              </a:spcBef>
            </a:pPr>
            <a:r>
              <a:rPr lang="en-US" sz="2100" dirty="0"/>
              <a:t>That is, the XML that represents the object and its data can be used to recreate the object in memory.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82193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XML Serialization</a:t>
            </a:r>
          </a:p>
        </p:txBody>
      </p:sp>
    </p:spTree>
    <p:extLst>
      <p:ext uri="{BB962C8B-B14F-4D97-AF65-F5344CB8AC3E}">
        <p14:creationId xmlns:p14="http://schemas.microsoft.com/office/powerpoint/2010/main" val="19639959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serialization we show in this section is performed with character-based streams, so the result will be a text file that you can view in standard text editors. </a:t>
            </a:r>
          </a:p>
          <a:p>
            <a:pPr>
              <a:spcBef>
                <a:spcPts val="1200"/>
              </a:spcBef>
            </a:pPr>
            <a:r>
              <a:rPr lang="en-US" dirty="0"/>
              <a:t>We begin by creating and writing serialized objects to a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effectLst/>
              </a:rPr>
              <a:t>Creating a Sequential File Using XML Serialization</a:t>
            </a:r>
          </a:p>
        </p:txBody>
      </p:sp>
    </p:spTree>
    <p:extLst>
      <p:ext uri="{BB962C8B-B14F-4D97-AF65-F5344CB8AC3E}">
        <p14:creationId xmlns:p14="http://schemas.microsoft.com/office/powerpoint/2010/main" val="7486149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We begin by defining class Account (Fig. 15.9), which encapsulates the client record information used by the serialization examples.</a:t>
            </a:r>
          </a:p>
          <a:p>
            <a:pPr>
              <a:spcBef>
                <a:spcPts val="1200"/>
              </a:spcBef>
            </a:pPr>
            <a:r>
              <a:rPr lang="en-US" dirty="0"/>
              <a:t>Class Account contains private instance variables account, 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lastName</a:t>
            </a:r>
            <a:r>
              <a:rPr lang="en-US" dirty="0"/>
              <a:t> and balance (lines 4–7) and set and get methods for accessing these instance variables.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Declaring Class Account</a:t>
            </a:r>
            <a:endParaRPr lang="en-US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22669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0">
            <a:extLst>
              <a:ext uri="{FF2B5EF4-FFF2-40B4-BE49-F238E27FC236}">
                <a16:creationId xmlns:a16="http://schemas.microsoft.com/office/drawing/2014/main" id="{D2C2709C-BD3C-4393-848F-950E6C2083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70A4ED-42F9-4C13-B669-D5D2ACB7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058017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1">
            <a:extLst>
              <a:ext uri="{FF2B5EF4-FFF2-40B4-BE49-F238E27FC236}">
                <a16:creationId xmlns:a16="http://schemas.microsoft.com/office/drawing/2014/main" id="{795C9EFE-2435-47B3-BA62-C48F081E46B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F018D0-1D0B-418A-8234-D7D2F4DC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57615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2">
            <a:extLst>
              <a:ext uri="{FF2B5EF4-FFF2-40B4-BE49-F238E27FC236}">
                <a16:creationId xmlns:a16="http://schemas.microsoft.com/office/drawing/2014/main" id="{B274D1DE-544D-43D2-80AC-A30A5786D8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0353C2-9A17-41EB-BEE7-F892ECBE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87929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As you’ll see in Fig. 15.11, this example stores </a:t>
            </a:r>
            <a:r>
              <a:rPr lang="en-US" b="1" dirty="0"/>
              <a:t>Account</a:t>
            </a:r>
            <a:r>
              <a:rPr lang="en-US" dirty="0"/>
              <a:t> objects in a List, then serializes the entire List into a </a:t>
            </a:r>
            <a:r>
              <a:rPr lang="en-US" b="1" dirty="0"/>
              <a:t>file</a:t>
            </a:r>
            <a:r>
              <a:rPr lang="en-US" dirty="0"/>
              <a:t> with one operation. </a:t>
            </a:r>
          </a:p>
          <a:p>
            <a:pPr>
              <a:spcBef>
                <a:spcPts val="1200"/>
              </a:spcBef>
            </a:pPr>
            <a:r>
              <a:rPr lang="en-US" dirty="0"/>
              <a:t>To serialize a List, it must be defined as an instance variable of a class. </a:t>
            </a:r>
          </a:p>
          <a:p>
            <a:pPr>
              <a:spcBef>
                <a:spcPts val="1200"/>
              </a:spcBef>
            </a:pPr>
            <a:r>
              <a:rPr lang="en-US" dirty="0"/>
              <a:t>For that reason, we encapsulate the List in class Account</a:t>
            </a:r>
            <a:r>
              <a:rPr lang="en-US" b="1" dirty="0">
                <a:highlight>
                  <a:srgbClr val="00FF00"/>
                </a:highlight>
              </a:rPr>
              <a:t>s</a:t>
            </a:r>
            <a:r>
              <a:rPr lang="en-US" dirty="0"/>
              <a:t> (Fig. 15.10).</a:t>
            </a:r>
          </a:p>
          <a:p>
            <a:pPr>
              <a:spcBef>
                <a:spcPts val="1200"/>
              </a:spcBef>
            </a:pPr>
            <a:r>
              <a:rPr lang="en-US" dirty="0"/>
              <a:t>Fig. 15.9 = Account.java</a:t>
            </a:r>
          </a:p>
          <a:p>
            <a:pPr>
              <a:spcBef>
                <a:spcPts val="1200"/>
              </a:spcBef>
            </a:pPr>
            <a:r>
              <a:rPr lang="en-US" dirty="0"/>
              <a:t>Fig. 15.10 = Account</a:t>
            </a:r>
            <a:r>
              <a:rPr lang="en-US" b="1" u="sng" dirty="0">
                <a:solidFill>
                  <a:srgbClr val="FF0000"/>
                </a:solidFill>
                <a:highlight>
                  <a:srgbClr val="00FF00"/>
                </a:highlight>
              </a:rPr>
              <a:t>s</a:t>
            </a:r>
            <a:r>
              <a:rPr lang="en-US" b="1" dirty="0"/>
              <a:t>.</a:t>
            </a:r>
            <a:r>
              <a:rPr lang="en-US" dirty="0"/>
              <a:t>java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effectLst/>
              </a:rPr>
              <a:t>Declaring Class </a:t>
            </a:r>
            <a:r>
              <a:rPr lang="en-US" i="1" dirty="0">
                <a:effectLst/>
              </a:rPr>
              <a:t>Account</a:t>
            </a:r>
            <a:r>
              <a:rPr lang="en-US" i="1" dirty="0">
                <a:effectLst/>
                <a:highlight>
                  <a:srgbClr val="00FF00"/>
                </a:highlight>
              </a:rPr>
              <a:t>s</a:t>
            </a:r>
            <a:endParaRPr lang="en-US" sz="4000" i="1" dirty="0">
              <a:effectLst/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999676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3">
            <a:extLst>
              <a:ext uri="{FF2B5EF4-FFF2-40B4-BE49-F238E27FC236}">
                <a16:creationId xmlns:a16="http://schemas.microsoft.com/office/drawing/2014/main" id="{A64D2489-E03B-4D9F-8834-922F492B29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AC92A5-EB55-4894-B419-FD8D351A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988972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Lines 9–10 declare and initialize the </a:t>
            </a:r>
            <a:r>
              <a:rPr lang="en-US" b="1" dirty="0"/>
              <a:t>List </a:t>
            </a:r>
            <a:r>
              <a:rPr lang="en-US" dirty="0"/>
              <a:t>instance variable </a:t>
            </a:r>
            <a:r>
              <a:rPr lang="en-US" b="1" dirty="0"/>
              <a:t>accounts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JAXB enables you to customize many aspects of XML serialization, such as serializing a private instance variable or a read-only property. </a:t>
            </a:r>
          </a:p>
          <a:p>
            <a:pPr>
              <a:spcBef>
                <a:spcPts val="1200"/>
              </a:spcBef>
            </a:pPr>
            <a:r>
              <a:rPr lang="en-US" dirty="0"/>
              <a:t>The annotation </a:t>
            </a:r>
            <a:r>
              <a:rPr lang="en-US" b="1" dirty="0"/>
              <a:t>@XMLElement </a:t>
            </a:r>
            <a:r>
              <a:rPr lang="en-US" dirty="0"/>
              <a:t>(line 9; package </a:t>
            </a:r>
            <a:r>
              <a:rPr lang="en-US" dirty="0" err="1"/>
              <a:t>javax.xml.bind.annotation</a:t>
            </a:r>
            <a:r>
              <a:rPr lang="en-US" dirty="0"/>
              <a:t>) indicates that the private instance variable should be serialized. </a:t>
            </a:r>
          </a:p>
          <a:p>
            <a:pPr>
              <a:spcBef>
                <a:spcPts val="1200"/>
              </a:spcBef>
            </a:pPr>
            <a:r>
              <a:rPr lang="en-US" dirty="0"/>
              <a:t>The annotation is required because the instance variable is not public and there’s no corresponding public read–write property.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Writing XML Serialized Objects to a File</a:t>
            </a:r>
            <a:r>
              <a:rPr lang="en-US" dirty="0">
                <a:effectLst/>
                <a:highlight>
                  <a:srgbClr val="00FF00"/>
                </a:highlight>
              </a:rPr>
              <a:t>.</a:t>
            </a:r>
            <a:endParaRPr lang="en-US" sz="4000" dirty="0">
              <a:effectLst/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18456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program of Fig. 15.11 serializes an Accounts object to a text file. </a:t>
            </a:r>
          </a:p>
          <a:p>
            <a:pPr>
              <a:spcBef>
                <a:spcPts val="1200"/>
              </a:spcBef>
            </a:pPr>
            <a:r>
              <a:rPr lang="en-US" dirty="0"/>
              <a:t>The program is similar to the one we have discussed earlier, so we focus only on the new features. </a:t>
            </a:r>
          </a:p>
          <a:p>
            <a:pPr>
              <a:spcBef>
                <a:spcPts val="1200"/>
              </a:spcBef>
            </a:pPr>
            <a:r>
              <a:rPr lang="en-US" dirty="0"/>
              <a:t>Line 9 imports the JAXB class from package </a:t>
            </a:r>
            <a:r>
              <a:rPr lang="en-US" dirty="0" err="1"/>
              <a:t>javax.xml.bind</a:t>
            </a:r>
            <a:r>
              <a:rPr lang="en-US" dirty="0"/>
              <a:t>. </a:t>
            </a:r>
          </a:p>
          <a:p>
            <a:pPr>
              <a:spcBef>
                <a:spcPts val="1200"/>
              </a:spcBef>
            </a:pPr>
            <a:r>
              <a:rPr lang="en-US" dirty="0"/>
              <a:t>This package contains many related classes that implement the XML serializations we perform, </a:t>
            </a:r>
          </a:p>
          <a:p>
            <a:pPr>
              <a:spcBef>
                <a:spcPts val="1200"/>
              </a:spcBef>
            </a:pPr>
            <a:r>
              <a:rPr lang="en-US" dirty="0"/>
              <a:t>But the JAXB class contains easy-to-use static methods that perform the most common operations.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Writing XML Serialized Objects to a File</a:t>
            </a:r>
            <a:endParaRPr lang="en-US" sz="4000" dirty="0">
              <a:effectLst/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041315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4">
            <a:extLst>
              <a:ext uri="{FF2B5EF4-FFF2-40B4-BE49-F238E27FC236}">
                <a16:creationId xmlns:a16="http://schemas.microsoft.com/office/drawing/2014/main" id="{95FBB2D4-0CD7-446E-806C-6ECA52B84B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D9F1CB-7B71-45EF-B65F-401723EB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742433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5">
            <a:extLst>
              <a:ext uri="{FF2B5EF4-FFF2-40B4-BE49-F238E27FC236}">
                <a16:creationId xmlns:a16="http://schemas.microsoft.com/office/drawing/2014/main" id="{BF8491D9-DF00-4431-BADD-4EEA63DA03B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42632E-91AA-4C9F-9D3C-F6034FE1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679063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6">
            <a:extLst>
              <a:ext uri="{FF2B5EF4-FFF2-40B4-BE49-F238E27FC236}">
                <a16:creationId xmlns:a16="http://schemas.microsoft.com/office/drawing/2014/main" id="{42AF8143-5A2F-48B1-A87A-88EC4CF097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25" y="0"/>
            <a:ext cx="1158875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8B8277-4451-4BBE-B563-A221EDBC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489042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7">
            <a:extLst>
              <a:ext uri="{FF2B5EF4-FFF2-40B4-BE49-F238E27FC236}">
                <a16:creationId xmlns:a16="http://schemas.microsoft.com/office/drawing/2014/main" id="{8B22A3B5-2602-435C-A8B6-0C5737EF13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ACEAFF-6C58-4090-86DF-DF87A282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0422984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8">
            <a:extLst>
              <a:ext uri="{FF2B5EF4-FFF2-40B4-BE49-F238E27FC236}">
                <a16:creationId xmlns:a16="http://schemas.microsoft.com/office/drawing/2014/main" id="{E55ED43E-10B7-4A44-BDAE-B6EAD1010C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810305-D514-4EB6-97E5-CF4841ED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088764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60" y="1073552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To open the file, lines 14–15 call Files static method </a:t>
            </a:r>
            <a:r>
              <a:rPr lang="en-US" b="1" dirty="0" err="1"/>
              <a:t>newBufferedWriter</a:t>
            </a:r>
            <a:r>
              <a:rPr lang="en-US" dirty="0"/>
              <a:t>,</a:t>
            </a:r>
          </a:p>
          <a:p>
            <a:pPr>
              <a:spcBef>
                <a:spcPts val="1200"/>
              </a:spcBef>
            </a:pPr>
            <a:r>
              <a:rPr lang="en-US" dirty="0"/>
              <a:t>This receives a Path specifying the file to open for writing ("clients.xml") and—if the file exists—returns a </a:t>
            </a:r>
            <a:r>
              <a:rPr lang="en-US" b="1" dirty="0" err="1"/>
              <a:t>BufferedWriter</a:t>
            </a:r>
            <a:r>
              <a:rPr lang="en-US" dirty="0"/>
              <a:t> that class JAXB will use to write text to the file.</a:t>
            </a:r>
          </a:p>
          <a:p>
            <a:pPr>
              <a:spcBef>
                <a:spcPts val="1200"/>
              </a:spcBef>
            </a:pPr>
            <a:r>
              <a:rPr lang="en-US" dirty="0"/>
              <a:t>Line 20 creates the Accounts object that contains the List. </a:t>
            </a:r>
          </a:p>
          <a:p>
            <a:pPr>
              <a:spcBef>
                <a:spcPts val="1200"/>
              </a:spcBef>
            </a:pPr>
            <a:r>
              <a:rPr lang="en-US" dirty="0"/>
              <a:t>Lines 26–41 input each record, create an Account object (lines 29–30) and add to the List (line 33).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Writing XML Serialized Objects . </a:t>
            </a:r>
            <a:r>
              <a:rPr lang="en-US" i="1" dirty="0">
                <a:effectLst/>
                <a:highlight>
                  <a:srgbClr val="00FF00"/>
                </a:highlight>
              </a:rPr>
              <a:t>Cont.</a:t>
            </a:r>
            <a:endParaRPr lang="en-US" sz="4000" i="1" dirty="0">
              <a:effectLst/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3752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47" y="868069"/>
            <a:ext cx="11597811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500" dirty="0"/>
              <a:t>When the user enters the end-of-file indicator to terminate input, line 44 uses class JAXB’s static method marshal to serialize as XML the Accounts object containing the List.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The first argument is the object to serialize.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The second argument to this particular overload of method marshal is a Writer (package java.io) that’s used to output the XML—</a:t>
            </a:r>
            <a:r>
              <a:rPr lang="en-US" sz="2500" dirty="0" err="1"/>
              <a:t>BufferedWriter</a:t>
            </a:r>
            <a:r>
              <a:rPr lang="en-US" sz="2500" dirty="0"/>
              <a:t> is a subclass of Writer.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The </a:t>
            </a:r>
            <a:r>
              <a:rPr lang="en-US" sz="2500" dirty="0" err="1"/>
              <a:t>BufferedWriter</a:t>
            </a:r>
            <a:r>
              <a:rPr lang="en-US" sz="2500" dirty="0"/>
              <a:t> obtained in lines 14–15 outputs the XML to a file.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Note that only one statement is required to write the entire Accounts object and all of the objects in its List.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In the sample execution for the program in Fig. 15.11, we entered information for five accounts—the same information shown in Fig. 15.5.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effectLst/>
              </a:rPr>
              <a:t>Writing XML Serialized Objects . </a:t>
            </a:r>
            <a:r>
              <a:rPr lang="en-US" i="1" dirty="0">
                <a:effectLst/>
                <a:highlight>
                  <a:srgbClr val="FFFF00"/>
                </a:highlight>
              </a:rPr>
              <a:t>Cont</a:t>
            </a:r>
            <a:r>
              <a:rPr lang="en-US" i="1" dirty="0">
                <a:effectLst/>
              </a:rPr>
              <a:t>.</a:t>
            </a:r>
            <a:endParaRPr lang="en-US" sz="4000" i="1" dirty="0">
              <a:effectLst/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387607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5822-5EFD-4A56-932D-004B0722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2" y="898891"/>
            <a:ext cx="11536166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 preceding section showed how to create a file containing XML serialized objects. </a:t>
            </a:r>
          </a:p>
          <a:p>
            <a:pPr>
              <a:spcBef>
                <a:spcPts val="1200"/>
              </a:spcBef>
            </a:pPr>
            <a:r>
              <a:rPr lang="en-US" dirty="0"/>
              <a:t>In this section, we show how to read serialized data from a file. </a:t>
            </a:r>
          </a:p>
          <a:p>
            <a:pPr>
              <a:spcBef>
                <a:spcPts val="1200"/>
              </a:spcBef>
            </a:pPr>
            <a:r>
              <a:rPr lang="en-US" dirty="0"/>
              <a:t>Figure 15.13 reads objects from the file created by the program in Section 15.5.1, then displays the contents. </a:t>
            </a:r>
          </a:p>
          <a:p>
            <a:pPr>
              <a:spcBef>
                <a:spcPts val="1200"/>
              </a:spcBef>
            </a:pPr>
            <a:r>
              <a:rPr lang="en-US" dirty="0"/>
              <a:t>The program opens the file for input by calling Files static method </a:t>
            </a:r>
            <a:r>
              <a:rPr lang="en-US" dirty="0" err="1"/>
              <a:t>newBufferedReader</a:t>
            </a:r>
            <a:r>
              <a:rPr lang="en-US" dirty="0"/>
              <a:t>, which receives a Path specifying the file to open </a:t>
            </a:r>
          </a:p>
          <a:p>
            <a:pPr>
              <a:spcBef>
                <a:spcPts val="1200"/>
              </a:spcBef>
            </a:pPr>
            <a:r>
              <a:rPr lang="en-US" dirty="0"/>
              <a:t>and, if the file exists and no exceptions occur, returns a </a:t>
            </a:r>
            <a:r>
              <a:rPr lang="en-US" dirty="0" err="1"/>
              <a:t>BufferedReader</a:t>
            </a:r>
            <a:r>
              <a:rPr lang="en-US" dirty="0"/>
              <a:t> for reading from the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778BC-3D25-479E-AF54-916DE40E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0" y="195014"/>
            <a:ext cx="11856378" cy="465101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Reading and Deserializing </a:t>
            </a:r>
            <a:r>
              <a:rPr lang="en-US" sz="3600" dirty="0">
                <a:solidFill>
                  <a:schemeClr val="tx1"/>
                </a:solidFill>
                <a:effectLst/>
              </a:rPr>
              <a:t>Data from a Sequential File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389373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39">
            <a:extLst>
              <a:ext uri="{FF2B5EF4-FFF2-40B4-BE49-F238E27FC236}">
                <a16:creationId xmlns:a16="http://schemas.microsoft.com/office/drawing/2014/main" id="{0D024D74-71FC-4741-89FA-D8A33A6CBB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13" y="0"/>
            <a:ext cx="10440987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41EDFF-8EBC-4FA7-8606-A5988EBE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275096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5_Files_Page_40">
            <a:extLst>
              <a:ext uri="{FF2B5EF4-FFF2-40B4-BE49-F238E27FC236}">
                <a16:creationId xmlns:a16="http://schemas.microsoft.com/office/drawing/2014/main" id="{EA6DA5FD-DD3B-437D-B5D1-50A949C3C62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0"/>
            <a:ext cx="9923463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F368C8-2F69-4AF1-A16B-065DF301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633601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5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6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7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8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JHTP11_08</Template>
  <TotalTime>18941</TotalTime>
  <Words>7419</Words>
  <Application>Microsoft Office PowerPoint</Application>
  <PresentationFormat>Widescreen</PresentationFormat>
  <Paragraphs>361</Paragraphs>
  <Slides>98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98</vt:i4>
      </vt:variant>
    </vt:vector>
  </HeadingPairs>
  <TitlesOfParts>
    <vt:vector size="112" baseType="lpstr">
      <vt:lpstr>Arial</vt:lpstr>
      <vt:lpstr>Calibri</vt:lpstr>
      <vt:lpstr>Cambria</vt:lpstr>
      <vt:lpstr>Consolas</vt:lpstr>
      <vt:lpstr>Courier New</vt:lpstr>
      <vt:lpstr>JetBrains Mono</vt:lpstr>
      <vt:lpstr>Lucida Sans Unicode</vt:lpstr>
      <vt:lpstr>Roboto</vt:lpstr>
      <vt:lpstr>Verdana</vt:lpstr>
      <vt:lpstr>Wingdings</vt:lpstr>
      <vt:lpstr>Wingdings 2</vt:lpstr>
      <vt:lpstr>Wingdings 3</vt:lpstr>
      <vt:lpstr>Concourse</vt:lpstr>
      <vt:lpstr>1_Concourse</vt:lpstr>
      <vt:lpstr>Chapter 15 Files, Input/Output Stream, NIO and XML Serialization</vt:lpstr>
      <vt:lpstr>PowerPoint Presentation</vt:lpstr>
      <vt:lpstr>PowerPoint Presentation</vt:lpstr>
      <vt:lpstr>Introduction</vt:lpstr>
      <vt:lpstr>Files and Streams</vt:lpstr>
      <vt:lpstr>PowerPoint Presentation</vt:lpstr>
      <vt:lpstr>Standard Input, Standard Output and Standard Error Streams</vt:lpstr>
      <vt:lpstr>Standard Input, Standard Output and Standard Error Streams</vt:lpstr>
      <vt:lpstr>The java.io and java.nio Packages</vt:lpstr>
      <vt:lpstr>The java.io and java.nio Packages Cont.</vt:lpstr>
      <vt:lpstr>Handling files .</vt:lpstr>
      <vt:lpstr>Handling files Cont.</vt:lpstr>
      <vt:lpstr>Handling files Cont.</vt:lpstr>
      <vt:lpstr>Handling files. EXAMPLE</vt:lpstr>
      <vt:lpstr>Handling files. EXAMPLE- OUTPUT</vt:lpstr>
      <vt:lpstr>PowerPoint Presentation</vt:lpstr>
      <vt:lpstr>5.8  Java API Packages REVISITED</vt:lpstr>
      <vt:lpstr>Midterm Exam</vt:lpstr>
      <vt:lpstr>Handling files: Reading files.</vt:lpstr>
      <vt:lpstr>Handling files: Reading files Cont.</vt:lpstr>
      <vt:lpstr>Reading files: CLASS ACTIVITIES</vt:lpstr>
      <vt:lpstr>Reading files: CLASS ACTIVITIES Cont. </vt:lpstr>
      <vt:lpstr>Reading files: CLASS ACTIVITIES- OUTPUT</vt:lpstr>
      <vt:lpstr>Reading files: CLASS ACTIVITIES- SOLUTION</vt:lpstr>
      <vt:lpstr>Writing files </vt:lpstr>
      <vt:lpstr>Writing files  Cont.</vt:lpstr>
      <vt:lpstr>Writing files: CLASS ACTIVITIES</vt:lpstr>
      <vt:lpstr>Writing files: CLASS ACTIVITIES Cont.</vt:lpstr>
      <vt:lpstr>Writing files: CLASS ACTIVITIES- OUTPUT</vt:lpstr>
      <vt:lpstr>Writing files: CLASS ACTIVITIES- SOLUTION</vt:lpstr>
      <vt:lpstr>Appending text.</vt:lpstr>
      <vt:lpstr>Using NIO Classes and Interfaces to Get File and Directory Information</vt:lpstr>
      <vt:lpstr>Using NIO Classes and Interfaces to Get File and Directory Information Cont.</vt:lpstr>
      <vt:lpstr>Creating Path Objects</vt:lpstr>
      <vt:lpstr>Absolute vs. Relative Paths</vt:lpstr>
      <vt:lpstr>Getting Path Objects from URIs</vt:lpstr>
      <vt:lpstr>Example: Getting File and Directory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explained Cont.</vt:lpstr>
      <vt:lpstr>Example explained Cont.</vt:lpstr>
      <vt:lpstr>Example explained Cont</vt:lpstr>
      <vt:lpstr>Example explained Cont</vt:lpstr>
      <vt:lpstr>PowerPoint Presentation</vt:lpstr>
      <vt:lpstr>Separator Characters</vt:lpstr>
      <vt:lpstr>PowerPoint Presentation</vt:lpstr>
      <vt:lpstr>PowerPoint Presentation</vt:lpstr>
      <vt:lpstr>Creating a Sequential Text File</vt:lpstr>
      <vt:lpstr>Creating a Sequential Text File: EXAMPLE: Class CreateTextFile</vt:lpstr>
      <vt:lpstr>Creating a Sequential Text File: EXAMPLE: Class CreateTextFile</vt:lpstr>
      <vt:lpstr>PowerPoint Presentation</vt:lpstr>
      <vt:lpstr>PowerPoint Presentation</vt:lpstr>
      <vt:lpstr>PowerPoint Presentation</vt:lpstr>
      <vt:lpstr>PowerPoint Presentation</vt:lpstr>
      <vt:lpstr>Class CreateTextFile: EXAMPLE: Explained</vt:lpstr>
      <vt:lpstr>EXAMPLE: Explained- Writing Data to the File</vt:lpstr>
      <vt:lpstr>PowerPoint Presentation</vt:lpstr>
      <vt:lpstr>EXAMPLE: Explained- Writing Data to the File</vt:lpstr>
      <vt:lpstr>PowerPoint Presentation</vt:lpstr>
      <vt:lpstr>Reading Data from a Sequential Text File</vt:lpstr>
      <vt:lpstr>PowerPoint Presentation</vt:lpstr>
      <vt:lpstr>PowerPoint Presentation</vt:lpstr>
      <vt:lpstr>PowerPoint Presentation</vt:lpstr>
      <vt:lpstr>Java - Serialization</vt:lpstr>
      <vt:lpstr>Java – Serialization Cont.</vt:lpstr>
      <vt:lpstr>Java - Serialization</vt:lpstr>
      <vt:lpstr>Java - Serialization</vt:lpstr>
      <vt:lpstr>Java - Serialization</vt:lpstr>
      <vt:lpstr>PowerPoint Presentation</vt:lpstr>
      <vt:lpstr>Serializing an Object</vt:lpstr>
      <vt:lpstr>PowerPoint Presentation</vt:lpstr>
      <vt:lpstr>Deserializing an Object</vt:lpstr>
      <vt:lpstr>PowerPoint Presentation</vt:lpstr>
      <vt:lpstr>This will produce the following result −</vt:lpstr>
      <vt:lpstr>XML Serialization</vt:lpstr>
      <vt:lpstr>Creating a Sequential File Using XML Serialization</vt:lpstr>
      <vt:lpstr>Declaring Class Account</vt:lpstr>
      <vt:lpstr>PowerPoint Presentation</vt:lpstr>
      <vt:lpstr>PowerPoint Presentation</vt:lpstr>
      <vt:lpstr>PowerPoint Presentation</vt:lpstr>
      <vt:lpstr>Declaring Class Accounts</vt:lpstr>
      <vt:lpstr>PowerPoint Presentation</vt:lpstr>
      <vt:lpstr>Writing XML Serialized Objects to a File.</vt:lpstr>
      <vt:lpstr>Writing XML Serialized Objects to a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Writing XML Serialized Objects . Cont.</vt:lpstr>
      <vt:lpstr>Writing XML Serialized Objects . Cont.</vt:lpstr>
      <vt:lpstr>Reading and Deserializing Data from a Sequential File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Files, Input/Output Stream, NIO and XML Serialization</dc:title>
  <dc:creator>Paul Deitel</dc:creator>
  <cp:lastModifiedBy>Oderanti, Festus Oluseyi (Computational Sciences)</cp:lastModifiedBy>
  <cp:revision>93</cp:revision>
  <dcterms:created xsi:type="dcterms:W3CDTF">2017-07-15T16:28:53Z</dcterms:created>
  <dcterms:modified xsi:type="dcterms:W3CDTF">2022-10-05T04:14:11Z</dcterms:modified>
</cp:coreProperties>
</file>